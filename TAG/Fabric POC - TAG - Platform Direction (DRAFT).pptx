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5" r:id="rId14"/>
    <p:sldId id="266" r:id="rId15"/>
    <p:sldId id="267" r:id="rId16"/>
    <p:sldId id="268" r:id="rId17"/>
    <p:sldId id="269" r:id="rId18"/>
    <p:sldId id="262" r:id="rId7"/>
    <p:sldId id="263" r:id="rId8"/>
    <p:sldId id="264" r:id="rId9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105" d="100"/>
          <a:sy n="105" d="100"/>
        </p:scale>
        <p:origin x="798" y="1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000" b="1" i="0">
                <a:solidFill>
                  <a:srgbClr val="28525B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00" b="0" i="0">
                <a:solidFill>
                  <a:srgbClr val="B7B7B8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ct val="100000"/>
              </a:lnSpc>
              <a:spcBef>
                <a:spcPts val="5"/>
              </a:spcBef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000" b="1" i="0">
                <a:solidFill>
                  <a:srgbClr val="28525B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00" b="0" i="0">
                <a:solidFill>
                  <a:srgbClr val="B7B7B8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ct val="100000"/>
              </a:lnSpc>
              <a:spcBef>
                <a:spcPts val="5"/>
              </a:spcBef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000" b="1" i="0">
                <a:solidFill>
                  <a:srgbClr val="28525B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8/4/2026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00" b="0" i="0">
                <a:solidFill>
                  <a:srgbClr val="B7B7B8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ct val="100000"/>
              </a:lnSpc>
              <a:spcBef>
                <a:spcPts val="5"/>
              </a:spcBef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000" b="1" i="0">
                <a:solidFill>
                  <a:srgbClr val="28525B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8/4/2026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00" b="0" i="0">
                <a:solidFill>
                  <a:srgbClr val="B7B7B8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ct val="100000"/>
              </a:lnSpc>
              <a:spcBef>
                <a:spcPts val="5"/>
              </a:spcBef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8/4/2026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00" b="0" i="0">
                <a:solidFill>
                  <a:srgbClr val="B7B7B8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ct val="100000"/>
              </a:lnSpc>
              <a:spcBef>
                <a:spcPts val="5"/>
              </a:spcBef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png"/><Relationship Id="rId8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11247577" y="6316636"/>
            <a:ext cx="633620" cy="304787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8848712" y="0"/>
            <a:ext cx="3324859" cy="2423363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805169" y="380531"/>
            <a:ext cx="7901940" cy="11099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000" b="1" i="0">
                <a:solidFill>
                  <a:srgbClr val="28525B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81978" y="1577022"/>
            <a:ext cx="10888345" cy="46227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1992188" y="6606505"/>
            <a:ext cx="160020" cy="1676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0" i="0">
                <a:solidFill>
                  <a:srgbClr val="B7B7B8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ct val="100000"/>
              </a:lnSpc>
              <a:spcBef>
                <a:spcPts val="5"/>
              </a:spcBef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.png"/><Relationship Id="rId3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" name="object 3"/>
            <p:cNvSpPr/>
            <p:nvPr/>
          </p:nvSpPr>
          <p:spPr>
            <a:xfrm>
              <a:off x="0" y="0"/>
              <a:ext cx="4986655" cy="6858000"/>
            </a:xfrm>
            <a:custGeom>
              <a:avLst/>
              <a:gdLst/>
              <a:ahLst/>
              <a:cxnLst/>
              <a:rect l="l" t="t" r="r" b="b"/>
              <a:pathLst>
                <a:path w="4986655" h="6858000">
                  <a:moveTo>
                    <a:pt x="0" y="6858000"/>
                  </a:moveTo>
                  <a:lnTo>
                    <a:pt x="4986261" y="6858000"/>
                  </a:lnTo>
                  <a:lnTo>
                    <a:pt x="4986261" y="0"/>
                  </a:lnTo>
                  <a:lnTo>
                    <a:pt x="0" y="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rgbClr val="28525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4986261" y="0"/>
              <a:ext cx="7205980" cy="6858000"/>
            </a:xfrm>
            <a:custGeom>
              <a:avLst/>
              <a:gdLst/>
              <a:ahLst/>
              <a:cxnLst/>
              <a:rect l="l" t="t" r="r" b="b"/>
              <a:pathLst>
                <a:path w="7205980" h="6858000">
                  <a:moveTo>
                    <a:pt x="0" y="6858000"/>
                  </a:moveTo>
                  <a:lnTo>
                    <a:pt x="0" y="0"/>
                  </a:lnTo>
                  <a:lnTo>
                    <a:pt x="7205738" y="0"/>
                  </a:lnTo>
                  <a:lnTo>
                    <a:pt x="7205738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882405" y="6208"/>
              <a:ext cx="3309594" cy="2423363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5342826" y="1475015"/>
              <a:ext cx="5310505" cy="4090035"/>
            </a:xfrm>
            <a:custGeom>
              <a:avLst/>
              <a:gdLst/>
              <a:ahLst/>
              <a:cxnLst/>
              <a:rect l="l" t="t" r="r" b="b"/>
              <a:pathLst>
                <a:path w="5310505" h="4090035">
                  <a:moveTo>
                    <a:pt x="5301234" y="4077119"/>
                  </a:moveTo>
                  <a:lnTo>
                    <a:pt x="0" y="4077119"/>
                  </a:lnTo>
                  <a:lnTo>
                    <a:pt x="0" y="4089806"/>
                  </a:lnTo>
                  <a:lnTo>
                    <a:pt x="5301234" y="4089806"/>
                  </a:lnTo>
                  <a:lnTo>
                    <a:pt x="5301234" y="4077119"/>
                  </a:lnTo>
                  <a:close/>
                </a:path>
                <a:path w="5310505" h="4090035">
                  <a:moveTo>
                    <a:pt x="5301234" y="3065183"/>
                  </a:moveTo>
                  <a:lnTo>
                    <a:pt x="0" y="3065183"/>
                  </a:lnTo>
                  <a:lnTo>
                    <a:pt x="0" y="3077870"/>
                  </a:lnTo>
                  <a:lnTo>
                    <a:pt x="5301234" y="3077870"/>
                  </a:lnTo>
                  <a:lnTo>
                    <a:pt x="5301234" y="3065183"/>
                  </a:lnTo>
                  <a:close/>
                </a:path>
                <a:path w="5310505" h="4090035">
                  <a:moveTo>
                    <a:pt x="5301234" y="2072957"/>
                  </a:moveTo>
                  <a:lnTo>
                    <a:pt x="0" y="2072957"/>
                  </a:lnTo>
                  <a:lnTo>
                    <a:pt x="0" y="2085644"/>
                  </a:lnTo>
                  <a:lnTo>
                    <a:pt x="5301234" y="2085644"/>
                  </a:lnTo>
                  <a:lnTo>
                    <a:pt x="5301234" y="2072957"/>
                  </a:lnTo>
                  <a:close/>
                </a:path>
                <a:path w="5310505" h="4090035">
                  <a:moveTo>
                    <a:pt x="5310378" y="992225"/>
                  </a:moveTo>
                  <a:lnTo>
                    <a:pt x="9144" y="992225"/>
                  </a:lnTo>
                  <a:lnTo>
                    <a:pt x="9144" y="1004912"/>
                  </a:lnTo>
                  <a:lnTo>
                    <a:pt x="5310378" y="1004912"/>
                  </a:lnTo>
                  <a:lnTo>
                    <a:pt x="5310378" y="992225"/>
                  </a:lnTo>
                  <a:close/>
                </a:path>
                <a:path w="5310505" h="4090035">
                  <a:moveTo>
                    <a:pt x="5310378" y="0"/>
                  </a:moveTo>
                  <a:lnTo>
                    <a:pt x="9144" y="0"/>
                  </a:lnTo>
                  <a:lnTo>
                    <a:pt x="9144" y="12687"/>
                  </a:lnTo>
                  <a:lnTo>
                    <a:pt x="5310378" y="12687"/>
                  </a:lnTo>
                  <a:lnTo>
                    <a:pt x="5310378" y="0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09625" y="5816422"/>
              <a:ext cx="2619527" cy="372579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5342826" y="1475015"/>
              <a:ext cx="5310505" cy="4090035"/>
            </a:xfrm>
            <a:custGeom>
              <a:avLst/>
              <a:gdLst/>
              <a:ahLst/>
              <a:cxnLst/>
              <a:rect l="l" t="t" r="r" b="b"/>
              <a:pathLst>
                <a:path w="5310505" h="4090035">
                  <a:moveTo>
                    <a:pt x="5301234" y="4077119"/>
                  </a:moveTo>
                  <a:lnTo>
                    <a:pt x="0" y="4077119"/>
                  </a:lnTo>
                  <a:lnTo>
                    <a:pt x="0" y="4089806"/>
                  </a:lnTo>
                  <a:lnTo>
                    <a:pt x="5301234" y="4089806"/>
                  </a:lnTo>
                  <a:lnTo>
                    <a:pt x="5301234" y="4077119"/>
                  </a:lnTo>
                  <a:close/>
                </a:path>
                <a:path w="5310505" h="4090035">
                  <a:moveTo>
                    <a:pt x="5301234" y="3065183"/>
                  </a:moveTo>
                  <a:lnTo>
                    <a:pt x="0" y="3065183"/>
                  </a:lnTo>
                  <a:lnTo>
                    <a:pt x="0" y="3077870"/>
                  </a:lnTo>
                  <a:lnTo>
                    <a:pt x="5301234" y="3077870"/>
                  </a:lnTo>
                  <a:lnTo>
                    <a:pt x="5301234" y="3065183"/>
                  </a:lnTo>
                  <a:close/>
                </a:path>
                <a:path w="5310505" h="4090035">
                  <a:moveTo>
                    <a:pt x="5301234" y="2072957"/>
                  </a:moveTo>
                  <a:lnTo>
                    <a:pt x="0" y="2072957"/>
                  </a:lnTo>
                  <a:lnTo>
                    <a:pt x="0" y="2085644"/>
                  </a:lnTo>
                  <a:lnTo>
                    <a:pt x="5301234" y="2085644"/>
                  </a:lnTo>
                  <a:lnTo>
                    <a:pt x="5301234" y="2072957"/>
                  </a:lnTo>
                  <a:close/>
                </a:path>
                <a:path w="5310505" h="4090035">
                  <a:moveTo>
                    <a:pt x="5310378" y="992225"/>
                  </a:moveTo>
                  <a:lnTo>
                    <a:pt x="9144" y="992225"/>
                  </a:lnTo>
                  <a:lnTo>
                    <a:pt x="9144" y="1004912"/>
                  </a:lnTo>
                  <a:lnTo>
                    <a:pt x="5310378" y="1004912"/>
                  </a:lnTo>
                  <a:lnTo>
                    <a:pt x="5310378" y="992225"/>
                  </a:lnTo>
                  <a:close/>
                </a:path>
                <a:path w="5310505" h="4090035">
                  <a:moveTo>
                    <a:pt x="5310378" y="0"/>
                  </a:moveTo>
                  <a:lnTo>
                    <a:pt x="9144" y="0"/>
                  </a:lnTo>
                  <a:lnTo>
                    <a:pt x="9144" y="12687"/>
                  </a:lnTo>
                  <a:lnTo>
                    <a:pt x="5310378" y="12687"/>
                  </a:lnTo>
                  <a:lnTo>
                    <a:pt x="5310378" y="0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 descr="$PPTXTitle"/>
          <p:cNvSpPr txBox="1">
            <a:spLocks noGrp="1"/>
          </p:cNvSpPr>
          <p:nvPr>
            <p:ph type="title"/>
          </p:nvPr>
        </p:nvSpPr>
        <p:spPr>
          <a:xfrm>
            <a:off x="5420194" y="423396"/>
            <a:ext cx="647065" cy="695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400" spc="-25" dirty="0"/>
              <a:t>01</a:t>
            </a:r>
            <a:endParaRPr sz="4400"/>
          </a:p>
        </p:txBody>
      </p:sp>
      <p:sp>
        <p:nvSpPr>
          <p:cNvPr id="9" name="object 9"/>
          <p:cNvSpPr txBox="1"/>
          <p:nvPr/>
        </p:nvSpPr>
        <p:spPr>
          <a:xfrm>
            <a:off x="6293815" y="563892"/>
            <a:ext cx="2240915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00778A"/>
                </a:solidFill>
                <a:latin typeface="Arial"/>
                <a:cs typeface="Arial"/>
              </a:rPr>
              <a:t>Business Problem</a:t>
            </a:r>
            <a:endParaRPr sz="200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888366" y="1170887"/>
            <a:ext cx="194310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FFFFFF"/>
                </a:solidFill>
                <a:latin typeface="Arial"/>
                <a:cs typeface="Arial"/>
              </a:rPr>
              <a:t>Content</a:t>
            </a:r>
            <a:endParaRPr sz="4000">
              <a:latin typeface="Arial"/>
              <a:cs typeface="Arial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5420194" y="1383525"/>
            <a:ext cx="647065" cy="695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400" b="1" spc="-25" dirty="0">
                <a:solidFill>
                  <a:srgbClr val="28525B"/>
                </a:solidFill>
                <a:latin typeface="Arial"/>
                <a:cs typeface="Arial"/>
              </a:rPr>
              <a:t>02</a:t>
            </a:r>
            <a:endParaRPr sz="440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6293815" y="1574837"/>
            <a:ext cx="1931035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00778A"/>
                </a:solidFill>
                <a:latin typeface="Arial"/>
                <a:cs typeface="Arial"/>
              </a:rPr>
              <a:t>Business Goals</a:t>
            </a:r>
            <a:endParaRPr sz="2000">
              <a:latin typeface="Arial"/>
              <a:cs typeface="Arial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1300594" y="2202256"/>
            <a:ext cx="2474595" cy="2463800"/>
          </a:xfrm>
          <a:custGeom>
            <a:avLst/>
            <a:gdLst/>
            <a:ahLst/>
            <a:cxnLst/>
            <a:rect l="l" t="t" r="r" b="b"/>
            <a:pathLst>
              <a:path w="2474595" h="2463800">
                <a:moveTo>
                  <a:pt x="1296266" y="2451100"/>
                </a:moveTo>
                <a:lnTo>
                  <a:pt x="919001" y="2451100"/>
                </a:lnTo>
                <a:lnTo>
                  <a:pt x="965304" y="2463800"/>
                </a:lnTo>
                <a:lnTo>
                  <a:pt x="1249966" y="2463800"/>
                </a:lnTo>
                <a:lnTo>
                  <a:pt x="1296266" y="2451100"/>
                </a:lnTo>
                <a:close/>
              </a:path>
              <a:path w="2474595" h="2463800">
                <a:moveTo>
                  <a:pt x="1211119" y="254000"/>
                </a:moveTo>
                <a:lnTo>
                  <a:pt x="1012206" y="254000"/>
                </a:lnTo>
                <a:lnTo>
                  <a:pt x="965304" y="266700"/>
                </a:lnTo>
                <a:lnTo>
                  <a:pt x="919001" y="266700"/>
                </a:lnTo>
                <a:lnTo>
                  <a:pt x="873338" y="279400"/>
                </a:lnTo>
                <a:lnTo>
                  <a:pt x="697932" y="330200"/>
                </a:lnTo>
                <a:lnTo>
                  <a:pt x="656101" y="355600"/>
                </a:lnTo>
                <a:lnTo>
                  <a:pt x="615162" y="368300"/>
                </a:lnTo>
                <a:lnTo>
                  <a:pt x="575157" y="393700"/>
                </a:lnTo>
                <a:lnTo>
                  <a:pt x="536127" y="419100"/>
                </a:lnTo>
                <a:lnTo>
                  <a:pt x="498115" y="431800"/>
                </a:lnTo>
                <a:lnTo>
                  <a:pt x="461163" y="469900"/>
                </a:lnTo>
                <a:lnTo>
                  <a:pt x="425312" y="495300"/>
                </a:lnTo>
                <a:lnTo>
                  <a:pt x="390604" y="520700"/>
                </a:lnTo>
                <a:lnTo>
                  <a:pt x="357081" y="546100"/>
                </a:lnTo>
                <a:lnTo>
                  <a:pt x="324786" y="584200"/>
                </a:lnTo>
                <a:lnTo>
                  <a:pt x="293759" y="609600"/>
                </a:lnTo>
                <a:lnTo>
                  <a:pt x="264043" y="647700"/>
                </a:lnTo>
                <a:lnTo>
                  <a:pt x="235680" y="685800"/>
                </a:lnTo>
                <a:lnTo>
                  <a:pt x="208711" y="711200"/>
                </a:lnTo>
                <a:lnTo>
                  <a:pt x="183178" y="749300"/>
                </a:lnTo>
                <a:lnTo>
                  <a:pt x="159124" y="787400"/>
                </a:lnTo>
                <a:lnTo>
                  <a:pt x="136590" y="825500"/>
                </a:lnTo>
                <a:lnTo>
                  <a:pt x="115618" y="876300"/>
                </a:lnTo>
                <a:lnTo>
                  <a:pt x="96250" y="914400"/>
                </a:lnTo>
                <a:lnTo>
                  <a:pt x="78528" y="952500"/>
                </a:lnTo>
                <a:lnTo>
                  <a:pt x="62493" y="990600"/>
                </a:lnTo>
                <a:lnTo>
                  <a:pt x="48188" y="1041400"/>
                </a:lnTo>
                <a:lnTo>
                  <a:pt x="35655" y="1079500"/>
                </a:lnTo>
                <a:lnTo>
                  <a:pt x="24935" y="1130300"/>
                </a:lnTo>
                <a:lnTo>
                  <a:pt x="16070" y="1168400"/>
                </a:lnTo>
                <a:lnTo>
                  <a:pt x="9102" y="1219200"/>
                </a:lnTo>
                <a:lnTo>
                  <a:pt x="4073" y="1270000"/>
                </a:lnTo>
                <a:lnTo>
                  <a:pt x="1025" y="1320800"/>
                </a:lnTo>
                <a:lnTo>
                  <a:pt x="0" y="1358900"/>
                </a:lnTo>
                <a:lnTo>
                  <a:pt x="1025" y="1409700"/>
                </a:lnTo>
                <a:lnTo>
                  <a:pt x="4073" y="1460500"/>
                </a:lnTo>
                <a:lnTo>
                  <a:pt x="9102" y="1498600"/>
                </a:lnTo>
                <a:lnTo>
                  <a:pt x="16070" y="1549400"/>
                </a:lnTo>
                <a:lnTo>
                  <a:pt x="24935" y="1600200"/>
                </a:lnTo>
                <a:lnTo>
                  <a:pt x="35655" y="1638300"/>
                </a:lnTo>
                <a:lnTo>
                  <a:pt x="48188" y="1689100"/>
                </a:lnTo>
                <a:lnTo>
                  <a:pt x="62493" y="1727200"/>
                </a:lnTo>
                <a:lnTo>
                  <a:pt x="78528" y="1778000"/>
                </a:lnTo>
                <a:lnTo>
                  <a:pt x="96250" y="1816100"/>
                </a:lnTo>
                <a:lnTo>
                  <a:pt x="115618" y="1854200"/>
                </a:lnTo>
                <a:lnTo>
                  <a:pt x="136590" y="1892300"/>
                </a:lnTo>
                <a:lnTo>
                  <a:pt x="159124" y="1930400"/>
                </a:lnTo>
                <a:lnTo>
                  <a:pt x="183178" y="1968500"/>
                </a:lnTo>
                <a:lnTo>
                  <a:pt x="208711" y="2006600"/>
                </a:lnTo>
                <a:lnTo>
                  <a:pt x="235680" y="2044700"/>
                </a:lnTo>
                <a:lnTo>
                  <a:pt x="264043" y="2082800"/>
                </a:lnTo>
                <a:lnTo>
                  <a:pt x="293759" y="2108200"/>
                </a:lnTo>
                <a:lnTo>
                  <a:pt x="324786" y="2146300"/>
                </a:lnTo>
                <a:lnTo>
                  <a:pt x="357081" y="2171700"/>
                </a:lnTo>
                <a:lnTo>
                  <a:pt x="390604" y="2209800"/>
                </a:lnTo>
                <a:lnTo>
                  <a:pt x="425312" y="2235200"/>
                </a:lnTo>
                <a:lnTo>
                  <a:pt x="461163" y="2260600"/>
                </a:lnTo>
                <a:lnTo>
                  <a:pt x="498115" y="2286000"/>
                </a:lnTo>
                <a:lnTo>
                  <a:pt x="536127" y="2311400"/>
                </a:lnTo>
                <a:lnTo>
                  <a:pt x="575157" y="2336800"/>
                </a:lnTo>
                <a:lnTo>
                  <a:pt x="615162" y="2349500"/>
                </a:lnTo>
                <a:lnTo>
                  <a:pt x="656101" y="2374900"/>
                </a:lnTo>
                <a:lnTo>
                  <a:pt x="697932" y="2387600"/>
                </a:lnTo>
                <a:lnTo>
                  <a:pt x="740613" y="2413000"/>
                </a:lnTo>
                <a:lnTo>
                  <a:pt x="873338" y="2451100"/>
                </a:lnTo>
                <a:lnTo>
                  <a:pt x="1341926" y="2451100"/>
                </a:lnTo>
                <a:lnTo>
                  <a:pt x="1474643" y="2413000"/>
                </a:lnTo>
                <a:lnTo>
                  <a:pt x="1517322" y="2387600"/>
                </a:lnTo>
                <a:lnTo>
                  <a:pt x="1559150" y="2374900"/>
                </a:lnTo>
                <a:lnTo>
                  <a:pt x="1600087" y="2349500"/>
                </a:lnTo>
                <a:lnTo>
                  <a:pt x="965627" y="2349500"/>
                </a:lnTo>
                <a:lnTo>
                  <a:pt x="829785" y="2311400"/>
                </a:lnTo>
                <a:lnTo>
                  <a:pt x="743350" y="2286000"/>
                </a:lnTo>
                <a:lnTo>
                  <a:pt x="701526" y="2260600"/>
                </a:lnTo>
                <a:lnTo>
                  <a:pt x="660703" y="2247900"/>
                </a:lnTo>
                <a:lnTo>
                  <a:pt x="620931" y="2222500"/>
                </a:lnTo>
                <a:lnTo>
                  <a:pt x="582263" y="2197100"/>
                </a:lnTo>
                <a:lnTo>
                  <a:pt x="544751" y="2171700"/>
                </a:lnTo>
                <a:lnTo>
                  <a:pt x="508448" y="2146300"/>
                </a:lnTo>
                <a:lnTo>
                  <a:pt x="473406" y="2120900"/>
                </a:lnTo>
                <a:lnTo>
                  <a:pt x="439677" y="2095500"/>
                </a:lnTo>
                <a:lnTo>
                  <a:pt x="407314" y="2057400"/>
                </a:lnTo>
                <a:lnTo>
                  <a:pt x="376369" y="2032000"/>
                </a:lnTo>
                <a:lnTo>
                  <a:pt x="346894" y="1993900"/>
                </a:lnTo>
                <a:lnTo>
                  <a:pt x="318942" y="1955800"/>
                </a:lnTo>
                <a:lnTo>
                  <a:pt x="292564" y="1930400"/>
                </a:lnTo>
                <a:lnTo>
                  <a:pt x="267814" y="1892300"/>
                </a:lnTo>
                <a:lnTo>
                  <a:pt x="244743" y="1854200"/>
                </a:lnTo>
                <a:lnTo>
                  <a:pt x="223404" y="1803400"/>
                </a:lnTo>
                <a:lnTo>
                  <a:pt x="203848" y="1765300"/>
                </a:lnTo>
                <a:lnTo>
                  <a:pt x="186129" y="1727200"/>
                </a:lnTo>
                <a:lnTo>
                  <a:pt x="170299" y="1689100"/>
                </a:lnTo>
                <a:lnTo>
                  <a:pt x="156410" y="1638300"/>
                </a:lnTo>
                <a:lnTo>
                  <a:pt x="144514" y="1600200"/>
                </a:lnTo>
                <a:lnTo>
                  <a:pt x="134664" y="1549400"/>
                </a:lnTo>
                <a:lnTo>
                  <a:pt x="126912" y="1498600"/>
                </a:lnTo>
                <a:lnTo>
                  <a:pt x="121309" y="1460500"/>
                </a:lnTo>
                <a:lnTo>
                  <a:pt x="117910" y="1409700"/>
                </a:lnTo>
                <a:lnTo>
                  <a:pt x="116765" y="1358900"/>
                </a:lnTo>
                <a:lnTo>
                  <a:pt x="117910" y="1320800"/>
                </a:lnTo>
                <a:lnTo>
                  <a:pt x="121309" y="1270000"/>
                </a:lnTo>
                <a:lnTo>
                  <a:pt x="126911" y="1219200"/>
                </a:lnTo>
                <a:lnTo>
                  <a:pt x="134664" y="1168400"/>
                </a:lnTo>
                <a:lnTo>
                  <a:pt x="144514" y="1130300"/>
                </a:lnTo>
                <a:lnTo>
                  <a:pt x="156410" y="1079500"/>
                </a:lnTo>
                <a:lnTo>
                  <a:pt x="170299" y="1041400"/>
                </a:lnTo>
                <a:lnTo>
                  <a:pt x="186129" y="1003300"/>
                </a:lnTo>
                <a:lnTo>
                  <a:pt x="203848" y="952500"/>
                </a:lnTo>
                <a:lnTo>
                  <a:pt x="223403" y="914400"/>
                </a:lnTo>
                <a:lnTo>
                  <a:pt x="244742" y="876300"/>
                </a:lnTo>
                <a:lnTo>
                  <a:pt x="267813" y="838200"/>
                </a:lnTo>
                <a:lnTo>
                  <a:pt x="292563" y="800100"/>
                </a:lnTo>
                <a:lnTo>
                  <a:pt x="318940" y="762000"/>
                </a:lnTo>
                <a:lnTo>
                  <a:pt x="346893" y="723900"/>
                </a:lnTo>
                <a:lnTo>
                  <a:pt x="376367" y="698500"/>
                </a:lnTo>
                <a:lnTo>
                  <a:pt x="407312" y="660400"/>
                </a:lnTo>
                <a:lnTo>
                  <a:pt x="439675" y="635000"/>
                </a:lnTo>
                <a:lnTo>
                  <a:pt x="473404" y="596900"/>
                </a:lnTo>
                <a:lnTo>
                  <a:pt x="508446" y="571500"/>
                </a:lnTo>
                <a:lnTo>
                  <a:pt x="544749" y="546100"/>
                </a:lnTo>
                <a:lnTo>
                  <a:pt x="582260" y="520700"/>
                </a:lnTo>
                <a:lnTo>
                  <a:pt x="620928" y="495300"/>
                </a:lnTo>
                <a:lnTo>
                  <a:pt x="660700" y="482600"/>
                </a:lnTo>
                <a:lnTo>
                  <a:pt x="701524" y="457200"/>
                </a:lnTo>
                <a:lnTo>
                  <a:pt x="743348" y="444500"/>
                </a:lnTo>
                <a:lnTo>
                  <a:pt x="786118" y="419100"/>
                </a:lnTo>
                <a:lnTo>
                  <a:pt x="874291" y="393700"/>
                </a:lnTo>
                <a:lnTo>
                  <a:pt x="919590" y="393700"/>
                </a:lnTo>
                <a:lnTo>
                  <a:pt x="965626" y="381000"/>
                </a:lnTo>
                <a:lnTo>
                  <a:pt x="1012348" y="381000"/>
                </a:lnTo>
                <a:lnTo>
                  <a:pt x="1059703" y="368300"/>
                </a:lnTo>
                <a:lnTo>
                  <a:pt x="1453515" y="368300"/>
                </a:lnTo>
                <a:lnTo>
                  <a:pt x="1455372" y="342900"/>
                </a:lnTo>
                <a:lnTo>
                  <a:pt x="1448466" y="330200"/>
                </a:lnTo>
                <a:lnTo>
                  <a:pt x="1434084" y="304800"/>
                </a:lnTo>
                <a:lnTo>
                  <a:pt x="1413510" y="292100"/>
                </a:lnTo>
                <a:lnTo>
                  <a:pt x="1363682" y="279400"/>
                </a:lnTo>
                <a:lnTo>
                  <a:pt x="1313289" y="279400"/>
                </a:lnTo>
                <a:lnTo>
                  <a:pt x="1211119" y="254000"/>
                </a:lnTo>
                <a:close/>
              </a:path>
              <a:path w="2474595" h="2463800">
                <a:moveTo>
                  <a:pt x="2144776" y="1016000"/>
                </a:moveTo>
                <a:lnTo>
                  <a:pt x="2100376" y="1016000"/>
                </a:lnTo>
                <a:lnTo>
                  <a:pt x="2079791" y="1028700"/>
                </a:lnTo>
                <a:lnTo>
                  <a:pt x="2065393" y="1041400"/>
                </a:lnTo>
                <a:lnTo>
                  <a:pt x="2058469" y="1066800"/>
                </a:lnTo>
                <a:lnTo>
                  <a:pt x="2060308" y="1092200"/>
                </a:lnTo>
                <a:lnTo>
                  <a:pt x="2073994" y="1143000"/>
                </a:lnTo>
                <a:lnTo>
                  <a:pt x="2084667" y="1193800"/>
                </a:lnTo>
                <a:lnTo>
                  <a:pt x="2092311" y="1257300"/>
                </a:lnTo>
                <a:lnTo>
                  <a:pt x="2096909" y="1308100"/>
                </a:lnTo>
                <a:lnTo>
                  <a:pt x="2098446" y="1358900"/>
                </a:lnTo>
                <a:lnTo>
                  <a:pt x="2097301" y="1409700"/>
                </a:lnTo>
                <a:lnTo>
                  <a:pt x="2093902" y="1460500"/>
                </a:lnTo>
                <a:lnTo>
                  <a:pt x="2088300" y="1498600"/>
                </a:lnTo>
                <a:lnTo>
                  <a:pt x="2080548" y="1549400"/>
                </a:lnTo>
                <a:lnTo>
                  <a:pt x="2070699" y="1600200"/>
                </a:lnTo>
                <a:lnTo>
                  <a:pt x="2058803" y="1638300"/>
                </a:lnTo>
                <a:lnTo>
                  <a:pt x="2044915" y="1689100"/>
                </a:lnTo>
                <a:lnTo>
                  <a:pt x="2029086" y="1727200"/>
                </a:lnTo>
                <a:lnTo>
                  <a:pt x="2011369" y="1765300"/>
                </a:lnTo>
                <a:lnTo>
                  <a:pt x="1991815" y="1803400"/>
                </a:lnTo>
                <a:lnTo>
                  <a:pt x="1970477" y="1854200"/>
                </a:lnTo>
                <a:lnTo>
                  <a:pt x="1947408" y="1892300"/>
                </a:lnTo>
                <a:lnTo>
                  <a:pt x="1922659" y="1930400"/>
                </a:lnTo>
                <a:lnTo>
                  <a:pt x="1896283" y="1955800"/>
                </a:lnTo>
                <a:lnTo>
                  <a:pt x="1868333" y="1993900"/>
                </a:lnTo>
                <a:lnTo>
                  <a:pt x="1838860" y="2032000"/>
                </a:lnTo>
                <a:lnTo>
                  <a:pt x="1807917" y="2057400"/>
                </a:lnTo>
                <a:lnTo>
                  <a:pt x="1775556" y="2095500"/>
                </a:lnTo>
                <a:lnTo>
                  <a:pt x="1741830" y="2120900"/>
                </a:lnTo>
                <a:lnTo>
                  <a:pt x="1706790" y="2146300"/>
                </a:lnTo>
                <a:lnTo>
                  <a:pt x="1670490" y="2171700"/>
                </a:lnTo>
                <a:lnTo>
                  <a:pt x="1632981" y="2197100"/>
                </a:lnTo>
                <a:lnTo>
                  <a:pt x="1594315" y="2222500"/>
                </a:lnTo>
                <a:lnTo>
                  <a:pt x="1554546" y="2247900"/>
                </a:lnTo>
                <a:lnTo>
                  <a:pt x="1513725" y="2260600"/>
                </a:lnTo>
                <a:lnTo>
                  <a:pt x="1471905" y="2286000"/>
                </a:lnTo>
                <a:lnTo>
                  <a:pt x="1385475" y="2311400"/>
                </a:lnTo>
                <a:lnTo>
                  <a:pt x="1249642" y="2349500"/>
                </a:lnTo>
                <a:lnTo>
                  <a:pt x="1600087" y="2349500"/>
                </a:lnTo>
                <a:lnTo>
                  <a:pt x="1640090" y="2336800"/>
                </a:lnTo>
                <a:lnTo>
                  <a:pt x="1679117" y="2311400"/>
                </a:lnTo>
                <a:lnTo>
                  <a:pt x="1717126" y="2286000"/>
                </a:lnTo>
                <a:lnTo>
                  <a:pt x="1754076" y="2260600"/>
                </a:lnTo>
                <a:lnTo>
                  <a:pt x="1789925" y="2235200"/>
                </a:lnTo>
                <a:lnTo>
                  <a:pt x="1824631" y="2209800"/>
                </a:lnTo>
                <a:lnTo>
                  <a:pt x="1858151" y="2171700"/>
                </a:lnTo>
                <a:lnTo>
                  <a:pt x="1890445" y="2146300"/>
                </a:lnTo>
                <a:lnTo>
                  <a:pt x="1921470" y="2108200"/>
                </a:lnTo>
                <a:lnTo>
                  <a:pt x="1951184" y="2082800"/>
                </a:lnTo>
                <a:lnTo>
                  <a:pt x="1979545" y="2044700"/>
                </a:lnTo>
                <a:lnTo>
                  <a:pt x="2006512" y="2006600"/>
                </a:lnTo>
                <a:lnTo>
                  <a:pt x="2032043" y="1968500"/>
                </a:lnTo>
                <a:lnTo>
                  <a:pt x="2056096" y="1930400"/>
                </a:lnTo>
                <a:lnTo>
                  <a:pt x="2078628" y="1892300"/>
                </a:lnTo>
                <a:lnTo>
                  <a:pt x="2099599" y="1854200"/>
                </a:lnTo>
                <a:lnTo>
                  <a:pt x="2118966" y="1816100"/>
                </a:lnTo>
                <a:lnTo>
                  <a:pt x="2136687" y="1778000"/>
                </a:lnTo>
                <a:lnTo>
                  <a:pt x="2152720" y="1727200"/>
                </a:lnTo>
                <a:lnTo>
                  <a:pt x="2167024" y="1689100"/>
                </a:lnTo>
                <a:lnTo>
                  <a:pt x="2179557" y="1638300"/>
                </a:lnTo>
                <a:lnTo>
                  <a:pt x="2190276" y="1600200"/>
                </a:lnTo>
                <a:lnTo>
                  <a:pt x="2199141" y="1549400"/>
                </a:lnTo>
                <a:lnTo>
                  <a:pt x="2206108" y="1498600"/>
                </a:lnTo>
                <a:lnTo>
                  <a:pt x="2211137" y="1460500"/>
                </a:lnTo>
                <a:lnTo>
                  <a:pt x="2214184" y="1409700"/>
                </a:lnTo>
                <a:lnTo>
                  <a:pt x="2215210" y="1358900"/>
                </a:lnTo>
                <a:lnTo>
                  <a:pt x="2214016" y="1308100"/>
                </a:lnTo>
                <a:lnTo>
                  <a:pt x="2210441" y="1257300"/>
                </a:lnTo>
                <a:lnTo>
                  <a:pt x="2204497" y="1206500"/>
                </a:lnTo>
                <a:lnTo>
                  <a:pt x="2196195" y="1155700"/>
                </a:lnTo>
                <a:lnTo>
                  <a:pt x="2185547" y="1104900"/>
                </a:lnTo>
                <a:lnTo>
                  <a:pt x="2172563" y="1054100"/>
                </a:lnTo>
                <a:lnTo>
                  <a:pt x="2161905" y="1041400"/>
                </a:lnTo>
                <a:lnTo>
                  <a:pt x="2144776" y="1016000"/>
                </a:lnTo>
                <a:close/>
              </a:path>
              <a:path w="2474595" h="2463800">
                <a:moveTo>
                  <a:pt x="1202576" y="2108200"/>
                </a:moveTo>
                <a:lnTo>
                  <a:pt x="1012701" y="2108200"/>
                </a:lnTo>
                <a:lnTo>
                  <a:pt x="1059782" y="2120900"/>
                </a:lnTo>
                <a:lnTo>
                  <a:pt x="1155500" y="2120900"/>
                </a:lnTo>
                <a:lnTo>
                  <a:pt x="1202576" y="2108200"/>
                </a:lnTo>
                <a:close/>
              </a:path>
              <a:path w="2474595" h="2463800">
                <a:moveTo>
                  <a:pt x="1296497" y="622300"/>
                </a:moveTo>
                <a:lnTo>
                  <a:pt x="921250" y="622300"/>
                </a:lnTo>
                <a:lnTo>
                  <a:pt x="877049" y="635000"/>
                </a:lnTo>
                <a:lnTo>
                  <a:pt x="833988" y="660400"/>
                </a:lnTo>
                <a:lnTo>
                  <a:pt x="792155" y="673100"/>
                </a:lnTo>
                <a:lnTo>
                  <a:pt x="751640" y="698500"/>
                </a:lnTo>
                <a:lnTo>
                  <a:pt x="712532" y="711200"/>
                </a:lnTo>
                <a:lnTo>
                  <a:pt x="674921" y="736600"/>
                </a:lnTo>
                <a:lnTo>
                  <a:pt x="638896" y="762000"/>
                </a:lnTo>
                <a:lnTo>
                  <a:pt x="604547" y="800100"/>
                </a:lnTo>
                <a:lnTo>
                  <a:pt x="571963" y="825500"/>
                </a:lnTo>
                <a:lnTo>
                  <a:pt x="541234" y="863600"/>
                </a:lnTo>
                <a:lnTo>
                  <a:pt x="512449" y="889000"/>
                </a:lnTo>
                <a:lnTo>
                  <a:pt x="485698" y="927100"/>
                </a:lnTo>
                <a:lnTo>
                  <a:pt x="461069" y="965200"/>
                </a:lnTo>
                <a:lnTo>
                  <a:pt x="438653" y="1003300"/>
                </a:lnTo>
                <a:lnTo>
                  <a:pt x="418540" y="1041400"/>
                </a:lnTo>
                <a:lnTo>
                  <a:pt x="400817" y="1092200"/>
                </a:lnTo>
                <a:lnTo>
                  <a:pt x="385576" y="1130300"/>
                </a:lnTo>
                <a:lnTo>
                  <a:pt x="372905" y="1181100"/>
                </a:lnTo>
                <a:lnTo>
                  <a:pt x="362895" y="1219200"/>
                </a:lnTo>
                <a:lnTo>
                  <a:pt x="355633" y="1270000"/>
                </a:lnTo>
                <a:lnTo>
                  <a:pt x="351211" y="1320800"/>
                </a:lnTo>
                <a:lnTo>
                  <a:pt x="349717" y="1358900"/>
                </a:lnTo>
                <a:lnTo>
                  <a:pt x="351211" y="1409700"/>
                </a:lnTo>
                <a:lnTo>
                  <a:pt x="355633" y="1460500"/>
                </a:lnTo>
                <a:lnTo>
                  <a:pt x="362894" y="1498600"/>
                </a:lnTo>
                <a:lnTo>
                  <a:pt x="372904" y="1549400"/>
                </a:lnTo>
                <a:lnTo>
                  <a:pt x="385575" y="1587500"/>
                </a:lnTo>
                <a:lnTo>
                  <a:pt x="400815" y="1638300"/>
                </a:lnTo>
                <a:lnTo>
                  <a:pt x="418537" y="1676400"/>
                </a:lnTo>
                <a:lnTo>
                  <a:pt x="438650" y="1714500"/>
                </a:lnTo>
                <a:lnTo>
                  <a:pt x="461065" y="1752600"/>
                </a:lnTo>
                <a:lnTo>
                  <a:pt x="485693" y="1790700"/>
                </a:lnTo>
                <a:lnTo>
                  <a:pt x="512444" y="1828800"/>
                </a:lnTo>
                <a:lnTo>
                  <a:pt x="541228" y="1866900"/>
                </a:lnTo>
                <a:lnTo>
                  <a:pt x="571957" y="1892300"/>
                </a:lnTo>
                <a:lnTo>
                  <a:pt x="604540" y="1930400"/>
                </a:lnTo>
                <a:lnTo>
                  <a:pt x="638889" y="1955800"/>
                </a:lnTo>
                <a:lnTo>
                  <a:pt x="674913" y="1981200"/>
                </a:lnTo>
                <a:lnTo>
                  <a:pt x="712524" y="2006600"/>
                </a:lnTo>
                <a:lnTo>
                  <a:pt x="751632" y="2032000"/>
                </a:lnTo>
                <a:lnTo>
                  <a:pt x="792147" y="2057400"/>
                </a:lnTo>
                <a:lnTo>
                  <a:pt x="877041" y="2082800"/>
                </a:lnTo>
                <a:lnTo>
                  <a:pt x="966491" y="2108200"/>
                </a:lnTo>
                <a:lnTo>
                  <a:pt x="1248781" y="2108200"/>
                </a:lnTo>
                <a:lnTo>
                  <a:pt x="1338222" y="2082800"/>
                </a:lnTo>
                <a:lnTo>
                  <a:pt x="1423108" y="2057400"/>
                </a:lnTo>
                <a:lnTo>
                  <a:pt x="1463619" y="2032000"/>
                </a:lnTo>
                <a:lnTo>
                  <a:pt x="1502723" y="2006600"/>
                </a:lnTo>
                <a:lnTo>
                  <a:pt x="1059864" y="2006600"/>
                </a:lnTo>
                <a:lnTo>
                  <a:pt x="1013026" y="1993900"/>
                </a:lnTo>
                <a:lnTo>
                  <a:pt x="967254" y="1993900"/>
                </a:lnTo>
                <a:lnTo>
                  <a:pt x="922675" y="1981200"/>
                </a:lnTo>
                <a:lnTo>
                  <a:pt x="879412" y="1955800"/>
                </a:lnTo>
                <a:lnTo>
                  <a:pt x="837591" y="1943100"/>
                </a:lnTo>
                <a:lnTo>
                  <a:pt x="797337" y="1917700"/>
                </a:lnTo>
                <a:lnTo>
                  <a:pt x="758774" y="1905000"/>
                </a:lnTo>
                <a:lnTo>
                  <a:pt x="722028" y="1879600"/>
                </a:lnTo>
                <a:lnTo>
                  <a:pt x="687223" y="1841500"/>
                </a:lnTo>
                <a:lnTo>
                  <a:pt x="654485" y="1816100"/>
                </a:lnTo>
                <a:lnTo>
                  <a:pt x="623938" y="1778000"/>
                </a:lnTo>
                <a:lnTo>
                  <a:pt x="569918" y="1714500"/>
                </a:lnTo>
                <a:lnTo>
                  <a:pt x="546694" y="1676400"/>
                </a:lnTo>
                <a:lnTo>
                  <a:pt x="526162" y="1638300"/>
                </a:lnTo>
                <a:lnTo>
                  <a:pt x="508446" y="1587500"/>
                </a:lnTo>
                <a:lnTo>
                  <a:pt x="493671" y="1549400"/>
                </a:lnTo>
                <a:lnTo>
                  <a:pt x="481961" y="1498600"/>
                </a:lnTo>
                <a:lnTo>
                  <a:pt x="473443" y="1460500"/>
                </a:lnTo>
                <a:lnTo>
                  <a:pt x="468240" y="1409700"/>
                </a:lnTo>
                <a:lnTo>
                  <a:pt x="466478" y="1358900"/>
                </a:lnTo>
                <a:lnTo>
                  <a:pt x="468240" y="1320800"/>
                </a:lnTo>
                <a:lnTo>
                  <a:pt x="473443" y="1270000"/>
                </a:lnTo>
                <a:lnTo>
                  <a:pt x="481961" y="1219200"/>
                </a:lnTo>
                <a:lnTo>
                  <a:pt x="493671" y="1181100"/>
                </a:lnTo>
                <a:lnTo>
                  <a:pt x="508446" y="1130300"/>
                </a:lnTo>
                <a:lnTo>
                  <a:pt x="526162" y="1092200"/>
                </a:lnTo>
                <a:lnTo>
                  <a:pt x="546694" y="1054100"/>
                </a:lnTo>
                <a:lnTo>
                  <a:pt x="569918" y="1016000"/>
                </a:lnTo>
                <a:lnTo>
                  <a:pt x="595707" y="977900"/>
                </a:lnTo>
                <a:lnTo>
                  <a:pt x="623938" y="939800"/>
                </a:lnTo>
                <a:lnTo>
                  <a:pt x="654485" y="914400"/>
                </a:lnTo>
                <a:lnTo>
                  <a:pt x="687223" y="876300"/>
                </a:lnTo>
                <a:lnTo>
                  <a:pt x="722028" y="850900"/>
                </a:lnTo>
                <a:lnTo>
                  <a:pt x="758774" y="825500"/>
                </a:lnTo>
                <a:lnTo>
                  <a:pt x="797337" y="800100"/>
                </a:lnTo>
                <a:lnTo>
                  <a:pt x="837591" y="787400"/>
                </a:lnTo>
                <a:lnTo>
                  <a:pt x="879412" y="762000"/>
                </a:lnTo>
                <a:lnTo>
                  <a:pt x="967254" y="736600"/>
                </a:lnTo>
                <a:lnTo>
                  <a:pt x="1013026" y="723900"/>
                </a:lnTo>
                <a:lnTo>
                  <a:pt x="1421651" y="723900"/>
                </a:lnTo>
                <a:lnTo>
                  <a:pt x="1423722" y="711200"/>
                </a:lnTo>
                <a:lnTo>
                  <a:pt x="1418961" y="685800"/>
                </a:lnTo>
                <a:lnTo>
                  <a:pt x="1406346" y="673100"/>
                </a:lnTo>
                <a:lnTo>
                  <a:pt x="1386928" y="660400"/>
                </a:lnTo>
                <a:lnTo>
                  <a:pt x="1342106" y="647700"/>
                </a:lnTo>
                <a:lnTo>
                  <a:pt x="1296497" y="622300"/>
                </a:lnTo>
                <a:close/>
              </a:path>
              <a:path w="2474595" h="2463800">
                <a:moveTo>
                  <a:pt x="1759692" y="1041400"/>
                </a:moveTo>
                <a:lnTo>
                  <a:pt x="1736864" y="1054100"/>
                </a:lnTo>
                <a:lnTo>
                  <a:pt x="1717419" y="1066800"/>
                </a:lnTo>
                <a:lnTo>
                  <a:pt x="1704762" y="1079500"/>
                </a:lnTo>
                <a:lnTo>
                  <a:pt x="1699949" y="1104900"/>
                </a:lnTo>
                <a:lnTo>
                  <a:pt x="1704035" y="1130300"/>
                </a:lnTo>
                <a:lnTo>
                  <a:pt x="1720082" y="1168400"/>
                </a:lnTo>
                <a:lnTo>
                  <a:pt x="1732597" y="1219200"/>
                </a:lnTo>
                <a:lnTo>
                  <a:pt x="1741559" y="1270000"/>
                </a:lnTo>
                <a:lnTo>
                  <a:pt x="1746950" y="1308100"/>
                </a:lnTo>
                <a:lnTo>
                  <a:pt x="1748751" y="1358900"/>
                </a:lnTo>
                <a:lnTo>
                  <a:pt x="1746990" y="1409700"/>
                </a:lnTo>
                <a:lnTo>
                  <a:pt x="1741788" y="1460500"/>
                </a:lnTo>
                <a:lnTo>
                  <a:pt x="1733270" y="1498600"/>
                </a:lnTo>
                <a:lnTo>
                  <a:pt x="1721562" y="1549400"/>
                </a:lnTo>
                <a:lnTo>
                  <a:pt x="1706789" y="1587500"/>
                </a:lnTo>
                <a:lnTo>
                  <a:pt x="1689075" y="1638300"/>
                </a:lnTo>
                <a:lnTo>
                  <a:pt x="1668545" y="1676400"/>
                </a:lnTo>
                <a:lnTo>
                  <a:pt x="1645324" y="1714500"/>
                </a:lnTo>
                <a:lnTo>
                  <a:pt x="1619538" y="1752600"/>
                </a:lnTo>
                <a:lnTo>
                  <a:pt x="1591310" y="1778000"/>
                </a:lnTo>
                <a:lnTo>
                  <a:pt x="1560766" y="1816100"/>
                </a:lnTo>
                <a:lnTo>
                  <a:pt x="1528031" y="1841500"/>
                </a:lnTo>
                <a:lnTo>
                  <a:pt x="1493230" y="1879600"/>
                </a:lnTo>
                <a:lnTo>
                  <a:pt x="1456487" y="1905000"/>
                </a:lnTo>
                <a:lnTo>
                  <a:pt x="1417928" y="1917700"/>
                </a:lnTo>
                <a:lnTo>
                  <a:pt x="1377677" y="1943100"/>
                </a:lnTo>
                <a:lnTo>
                  <a:pt x="1335860" y="1955800"/>
                </a:lnTo>
                <a:lnTo>
                  <a:pt x="1292601" y="1981200"/>
                </a:lnTo>
                <a:lnTo>
                  <a:pt x="1248024" y="1993900"/>
                </a:lnTo>
                <a:lnTo>
                  <a:pt x="1202256" y="1993900"/>
                </a:lnTo>
                <a:lnTo>
                  <a:pt x="1155421" y="2006600"/>
                </a:lnTo>
                <a:lnTo>
                  <a:pt x="1502723" y="2006600"/>
                </a:lnTo>
                <a:lnTo>
                  <a:pt x="1540330" y="1981200"/>
                </a:lnTo>
                <a:lnTo>
                  <a:pt x="1576352" y="1955800"/>
                </a:lnTo>
                <a:lnTo>
                  <a:pt x="1610697" y="1930400"/>
                </a:lnTo>
                <a:lnTo>
                  <a:pt x="1643278" y="1892300"/>
                </a:lnTo>
                <a:lnTo>
                  <a:pt x="1674004" y="1866900"/>
                </a:lnTo>
                <a:lnTo>
                  <a:pt x="1702787" y="1828800"/>
                </a:lnTo>
                <a:lnTo>
                  <a:pt x="1729535" y="1790700"/>
                </a:lnTo>
                <a:lnTo>
                  <a:pt x="1754161" y="1752600"/>
                </a:lnTo>
                <a:lnTo>
                  <a:pt x="1776575" y="1714500"/>
                </a:lnTo>
                <a:lnTo>
                  <a:pt x="1796687" y="1676400"/>
                </a:lnTo>
                <a:lnTo>
                  <a:pt x="1814407" y="1638300"/>
                </a:lnTo>
                <a:lnTo>
                  <a:pt x="1829647" y="1587500"/>
                </a:lnTo>
                <a:lnTo>
                  <a:pt x="1842316" y="1549400"/>
                </a:lnTo>
                <a:lnTo>
                  <a:pt x="1852326" y="1498600"/>
                </a:lnTo>
                <a:lnTo>
                  <a:pt x="1859587" y="1460500"/>
                </a:lnTo>
                <a:lnTo>
                  <a:pt x="1864009" y="1409700"/>
                </a:lnTo>
                <a:lnTo>
                  <a:pt x="1865502" y="1358900"/>
                </a:lnTo>
                <a:lnTo>
                  <a:pt x="1864022" y="1320800"/>
                </a:lnTo>
                <a:lnTo>
                  <a:pt x="1859590" y="1270000"/>
                </a:lnTo>
                <a:lnTo>
                  <a:pt x="1852221" y="1219200"/>
                </a:lnTo>
                <a:lnTo>
                  <a:pt x="1841929" y="1168400"/>
                </a:lnTo>
                <a:lnTo>
                  <a:pt x="1828728" y="1130300"/>
                </a:lnTo>
                <a:lnTo>
                  <a:pt x="1812632" y="1079500"/>
                </a:lnTo>
                <a:lnTo>
                  <a:pt x="1800013" y="1066800"/>
                </a:lnTo>
                <a:lnTo>
                  <a:pt x="1781554" y="1054100"/>
                </a:lnTo>
                <a:lnTo>
                  <a:pt x="1759692" y="1041400"/>
                </a:lnTo>
                <a:close/>
              </a:path>
              <a:path w="2474595" h="2463800">
                <a:moveTo>
                  <a:pt x="1144488" y="952500"/>
                </a:moveTo>
                <a:lnTo>
                  <a:pt x="1060111" y="952500"/>
                </a:lnTo>
                <a:lnTo>
                  <a:pt x="1014170" y="965200"/>
                </a:lnTo>
                <a:lnTo>
                  <a:pt x="970132" y="977900"/>
                </a:lnTo>
                <a:lnTo>
                  <a:pt x="928303" y="990600"/>
                </a:lnTo>
                <a:lnTo>
                  <a:pt x="888994" y="1016000"/>
                </a:lnTo>
                <a:lnTo>
                  <a:pt x="852512" y="1041400"/>
                </a:lnTo>
                <a:lnTo>
                  <a:pt x="819166" y="1079500"/>
                </a:lnTo>
                <a:lnTo>
                  <a:pt x="789265" y="1104900"/>
                </a:lnTo>
                <a:lnTo>
                  <a:pt x="763117" y="1143000"/>
                </a:lnTo>
                <a:lnTo>
                  <a:pt x="741032" y="1181100"/>
                </a:lnTo>
                <a:lnTo>
                  <a:pt x="723317" y="1219200"/>
                </a:lnTo>
                <a:lnTo>
                  <a:pt x="710281" y="1270000"/>
                </a:lnTo>
                <a:lnTo>
                  <a:pt x="702234" y="1320800"/>
                </a:lnTo>
                <a:lnTo>
                  <a:pt x="699482" y="1358900"/>
                </a:lnTo>
                <a:lnTo>
                  <a:pt x="702234" y="1409700"/>
                </a:lnTo>
                <a:lnTo>
                  <a:pt x="710281" y="1460500"/>
                </a:lnTo>
                <a:lnTo>
                  <a:pt x="723317" y="1498600"/>
                </a:lnTo>
                <a:lnTo>
                  <a:pt x="741032" y="1536700"/>
                </a:lnTo>
                <a:lnTo>
                  <a:pt x="763117" y="1574800"/>
                </a:lnTo>
                <a:lnTo>
                  <a:pt x="789265" y="1612900"/>
                </a:lnTo>
                <a:lnTo>
                  <a:pt x="819166" y="1651000"/>
                </a:lnTo>
                <a:lnTo>
                  <a:pt x="852512" y="1676400"/>
                </a:lnTo>
                <a:lnTo>
                  <a:pt x="888994" y="1701800"/>
                </a:lnTo>
                <a:lnTo>
                  <a:pt x="928303" y="1727200"/>
                </a:lnTo>
                <a:lnTo>
                  <a:pt x="970132" y="1752600"/>
                </a:lnTo>
                <a:lnTo>
                  <a:pt x="1014170" y="1765300"/>
                </a:lnTo>
                <a:lnTo>
                  <a:pt x="1201100" y="1765300"/>
                </a:lnTo>
                <a:lnTo>
                  <a:pt x="1245131" y="1752600"/>
                </a:lnTo>
                <a:lnTo>
                  <a:pt x="1286952" y="1727200"/>
                </a:lnTo>
                <a:lnTo>
                  <a:pt x="1326254" y="1701800"/>
                </a:lnTo>
                <a:lnTo>
                  <a:pt x="1362730" y="1676400"/>
                </a:lnTo>
                <a:lnTo>
                  <a:pt x="1396069" y="1651000"/>
                </a:lnTo>
                <a:lnTo>
                  <a:pt x="1060432" y="1651000"/>
                </a:lnTo>
                <a:lnTo>
                  <a:pt x="1015630" y="1638300"/>
                </a:lnTo>
                <a:lnTo>
                  <a:pt x="973835" y="1625600"/>
                </a:lnTo>
                <a:lnTo>
                  <a:pt x="935651" y="1600200"/>
                </a:lnTo>
                <a:lnTo>
                  <a:pt x="901683" y="1562100"/>
                </a:lnTo>
                <a:lnTo>
                  <a:pt x="872535" y="1536700"/>
                </a:lnTo>
                <a:lnTo>
                  <a:pt x="848812" y="1498600"/>
                </a:lnTo>
                <a:lnTo>
                  <a:pt x="831119" y="1460500"/>
                </a:lnTo>
                <a:lnTo>
                  <a:pt x="820059" y="1409700"/>
                </a:lnTo>
                <a:lnTo>
                  <a:pt x="816239" y="1358900"/>
                </a:lnTo>
                <a:lnTo>
                  <a:pt x="820062" y="1320800"/>
                </a:lnTo>
                <a:lnTo>
                  <a:pt x="831123" y="1270000"/>
                </a:lnTo>
                <a:lnTo>
                  <a:pt x="848818" y="1231900"/>
                </a:lnTo>
                <a:lnTo>
                  <a:pt x="872541" y="1193800"/>
                </a:lnTo>
                <a:lnTo>
                  <a:pt x="901689" y="1155700"/>
                </a:lnTo>
                <a:lnTo>
                  <a:pt x="935657" y="1130300"/>
                </a:lnTo>
                <a:lnTo>
                  <a:pt x="973841" y="1104900"/>
                </a:lnTo>
                <a:lnTo>
                  <a:pt x="1015635" y="1092200"/>
                </a:lnTo>
                <a:lnTo>
                  <a:pt x="1060436" y="1079500"/>
                </a:lnTo>
                <a:lnTo>
                  <a:pt x="1107639" y="1066800"/>
                </a:lnTo>
                <a:lnTo>
                  <a:pt x="1156830" y="1066800"/>
                </a:lnTo>
                <a:lnTo>
                  <a:pt x="1176457" y="1054100"/>
                </a:lnTo>
                <a:lnTo>
                  <a:pt x="1190614" y="1041400"/>
                </a:lnTo>
                <a:lnTo>
                  <a:pt x="1197267" y="1016000"/>
                </a:lnTo>
                <a:lnTo>
                  <a:pt x="1194783" y="990600"/>
                </a:lnTo>
                <a:lnTo>
                  <a:pt x="1184027" y="977900"/>
                </a:lnTo>
                <a:lnTo>
                  <a:pt x="1166696" y="965200"/>
                </a:lnTo>
                <a:lnTo>
                  <a:pt x="1144488" y="952500"/>
                </a:lnTo>
                <a:close/>
              </a:path>
              <a:path w="2474595" h="2463800">
                <a:moveTo>
                  <a:pt x="1450809" y="1270000"/>
                </a:moveTo>
                <a:lnTo>
                  <a:pt x="1428579" y="1282700"/>
                </a:lnTo>
                <a:lnTo>
                  <a:pt x="1411203" y="1295400"/>
                </a:lnTo>
                <a:lnTo>
                  <a:pt x="1400387" y="1308100"/>
                </a:lnTo>
                <a:lnTo>
                  <a:pt x="1397838" y="1333500"/>
                </a:lnTo>
                <a:lnTo>
                  <a:pt x="1398574" y="1346200"/>
                </a:lnTo>
                <a:lnTo>
                  <a:pt x="1398955" y="1358900"/>
                </a:lnTo>
                <a:lnTo>
                  <a:pt x="1395135" y="1409700"/>
                </a:lnTo>
                <a:lnTo>
                  <a:pt x="1384079" y="1460500"/>
                </a:lnTo>
                <a:lnTo>
                  <a:pt x="1366390" y="1498600"/>
                </a:lnTo>
                <a:lnTo>
                  <a:pt x="1342673" y="1536700"/>
                </a:lnTo>
                <a:lnTo>
                  <a:pt x="1313532" y="1562100"/>
                </a:lnTo>
                <a:lnTo>
                  <a:pt x="1279573" y="1600200"/>
                </a:lnTo>
                <a:lnTo>
                  <a:pt x="1241399" y="1625600"/>
                </a:lnTo>
                <a:lnTo>
                  <a:pt x="1199615" y="1638300"/>
                </a:lnTo>
                <a:lnTo>
                  <a:pt x="1154826" y="1651000"/>
                </a:lnTo>
                <a:lnTo>
                  <a:pt x="1396069" y="1651000"/>
                </a:lnTo>
                <a:lnTo>
                  <a:pt x="1425965" y="1612900"/>
                </a:lnTo>
                <a:lnTo>
                  <a:pt x="1452108" y="1574800"/>
                </a:lnTo>
                <a:lnTo>
                  <a:pt x="1474190" y="1536700"/>
                </a:lnTo>
                <a:lnTo>
                  <a:pt x="1491902" y="1498600"/>
                </a:lnTo>
                <a:lnTo>
                  <a:pt x="1504935" y="1460500"/>
                </a:lnTo>
                <a:lnTo>
                  <a:pt x="1512981" y="1409700"/>
                </a:lnTo>
                <a:lnTo>
                  <a:pt x="1515732" y="1358900"/>
                </a:lnTo>
                <a:lnTo>
                  <a:pt x="1515333" y="1346200"/>
                </a:lnTo>
                <a:lnTo>
                  <a:pt x="1514837" y="1333500"/>
                </a:lnTo>
                <a:lnTo>
                  <a:pt x="1514144" y="1320800"/>
                </a:lnTo>
                <a:lnTo>
                  <a:pt x="1507556" y="1308100"/>
                </a:lnTo>
                <a:lnTo>
                  <a:pt x="1493440" y="1282700"/>
                </a:lnTo>
                <a:lnTo>
                  <a:pt x="1473843" y="1282700"/>
                </a:lnTo>
                <a:lnTo>
                  <a:pt x="1450809" y="1270000"/>
                </a:lnTo>
                <a:close/>
              </a:path>
              <a:path w="2474595" h="2463800">
                <a:moveTo>
                  <a:pt x="1162357" y="1384300"/>
                </a:moveTo>
                <a:lnTo>
                  <a:pt x="1098111" y="1384300"/>
                </a:lnTo>
                <a:lnTo>
                  <a:pt x="1108265" y="1397000"/>
                </a:lnTo>
                <a:lnTo>
                  <a:pt x="1152203" y="1397000"/>
                </a:lnTo>
                <a:lnTo>
                  <a:pt x="1162357" y="1384300"/>
                </a:lnTo>
                <a:close/>
              </a:path>
              <a:path w="2474595" h="2463800">
                <a:moveTo>
                  <a:pt x="2082088" y="0"/>
                </a:moveTo>
                <a:lnTo>
                  <a:pt x="1998289" y="0"/>
                </a:lnTo>
                <a:lnTo>
                  <a:pt x="1975281" y="12700"/>
                </a:lnTo>
                <a:lnTo>
                  <a:pt x="1614703" y="368300"/>
                </a:lnTo>
                <a:lnTo>
                  <a:pt x="1576671" y="431800"/>
                </a:lnTo>
                <a:lnTo>
                  <a:pt x="1563433" y="495300"/>
                </a:lnTo>
                <a:lnTo>
                  <a:pt x="1563433" y="825500"/>
                </a:lnTo>
                <a:lnTo>
                  <a:pt x="1088955" y="1295400"/>
                </a:lnTo>
                <a:lnTo>
                  <a:pt x="1076130" y="1320800"/>
                </a:lnTo>
                <a:lnTo>
                  <a:pt x="1071855" y="1346200"/>
                </a:lnTo>
                <a:lnTo>
                  <a:pt x="1076130" y="1358900"/>
                </a:lnTo>
                <a:lnTo>
                  <a:pt x="1088955" y="1384300"/>
                </a:lnTo>
                <a:lnTo>
                  <a:pt x="1171515" y="1384300"/>
                </a:lnTo>
                <a:lnTo>
                  <a:pt x="1645996" y="901700"/>
                </a:lnTo>
                <a:lnTo>
                  <a:pt x="2010803" y="901700"/>
                </a:lnTo>
                <a:lnTo>
                  <a:pt x="2043423" y="889000"/>
                </a:lnTo>
                <a:lnTo>
                  <a:pt x="2073471" y="876300"/>
                </a:lnTo>
                <a:lnTo>
                  <a:pt x="2100186" y="850900"/>
                </a:lnTo>
                <a:lnTo>
                  <a:pt x="2165601" y="787400"/>
                </a:lnTo>
                <a:lnTo>
                  <a:pt x="1762772" y="787400"/>
                </a:lnTo>
                <a:lnTo>
                  <a:pt x="1839318" y="711200"/>
                </a:lnTo>
                <a:lnTo>
                  <a:pt x="1680197" y="711200"/>
                </a:lnTo>
                <a:lnTo>
                  <a:pt x="1680197" y="495300"/>
                </a:lnTo>
                <a:lnTo>
                  <a:pt x="1681317" y="482600"/>
                </a:lnTo>
                <a:lnTo>
                  <a:pt x="1684608" y="469900"/>
                </a:lnTo>
                <a:lnTo>
                  <a:pt x="1689964" y="457200"/>
                </a:lnTo>
                <a:lnTo>
                  <a:pt x="1697278" y="457200"/>
                </a:lnTo>
                <a:lnTo>
                  <a:pt x="2037422" y="114300"/>
                </a:lnTo>
                <a:lnTo>
                  <a:pt x="2154186" y="114300"/>
                </a:lnTo>
                <a:lnTo>
                  <a:pt x="2149079" y="76200"/>
                </a:lnTo>
                <a:lnTo>
                  <a:pt x="2134558" y="50800"/>
                </a:lnTo>
                <a:lnTo>
                  <a:pt x="2111827" y="25400"/>
                </a:lnTo>
                <a:lnTo>
                  <a:pt x="2082088" y="0"/>
                </a:lnTo>
                <a:close/>
              </a:path>
              <a:path w="2474595" h="2463800">
                <a:moveTo>
                  <a:pt x="2473507" y="431800"/>
                </a:moveTo>
                <a:lnTo>
                  <a:pt x="2357742" y="431800"/>
                </a:lnTo>
                <a:lnTo>
                  <a:pt x="2017623" y="774700"/>
                </a:lnTo>
                <a:lnTo>
                  <a:pt x="2008763" y="774700"/>
                </a:lnTo>
                <a:lnTo>
                  <a:pt x="1998694" y="787400"/>
                </a:lnTo>
                <a:lnTo>
                  <a:pt x="2165601" y="787400"/>
                </a:lnTo>
                <a:lnTo>
                  <a:pt x="2440343" y="520700"/>
                </a:lnTo>
                <a:lnTo>
                  <a:pt x="2460989" y="482600"/>
                </a:lnTo>
                <a:lnTo>
                  <a:pt x="2472374" y="457200"/>
                </a:lnTo>
                <a:lnTo>
                  <a:pt x="2473507" y="431800"/>
                </a:lnTo>
                <a:close/>
              </a:path>
              <a:path w="2474595" h="2463800">
                <a:moveTo>
                  <a:pt x="1421651" y="723900"/>
                </a:moveTo>
                <a:lnTo>
                  <a:pt x="1204431" y="723900"/>
                </a:lnTo>
                <a:lnTo>
                  <a:pt x="1343761" y="762000"/>
                </a:lnTo>
                <a:lnTo>
                  <a:pt x="1366566" y="774700"/>
                </a:lnTo>
                <a:lnTo>
                  <a:pt x="1388433" y="762000"/>
                </a:lnTo>
                <a:lnTo>
                  <a:pt x="1406919" y="749300"/>
                </a:lnTo>
                <a:lnTo>
                  <a:pt x="1419580" y="736600"/>
                </a:lnTo>
                <a:lnTo>
                  <a:pt x="1421651" y="723900"/>
                </a:lnTo>
                <a:close/>
              </a:path>
              <a:path w="2474595" h="2463800">
                <a:moveTo>
                  <a:pt x="2154186" y="114300"/>
                </a:moveTo>
                <a:lnTo>
                  <a:pt x="2037422" y="114300"/>
                </a:lnTo>
                <a:lnTo>
                  <a:pt x="2037422" y="355600"/>
                </a:lnTo>
                <a:lnTo>
                  <a:pt x="1680197" y="711200"/>
                </a:lnTo>
                <a:lnTo>
                  <a:pt x="1839318" y="711200"/>
                </a:lnTo>
                <a:lnTo>
                  <a:pt x="2119985" y="431800"/>
                </a:lnTo>
                <a:lnTo>
                  <a:pt x="2473507" y="431800"/>
                </a:lnTo>
                <a:lnTo>
                  <a:pt x="2465666" y="393700"/>
                </a:lnTo>
                <a:lnTo>
                  <a:pt x="2447821" y="355600"/>
                </a:lnTo>
                <a:lnTo>
                  <a:pt x="2392066" y="317500"/>
                </a:lnTo>
                <a:lnTo>
                  <a:pt x="2154186" y="317500"/>
                </a:lnTo>
                <a:lnTo>
                  <a:pt x="2154186" y="114300"/>
                </a:lnTo>
                <a:close/>
              </a:path>
              <a:path w="2474595" h="2463800">
                <a:moveTo>
                  <a:pt x="1203210" y="609600"/>
                </a:moveTo>
                <a:lnTo>
                  <a:pt x="1012708" y="609600"/>
                </a:lnTo>
                <a:lnTo>
                  <a:pt x="966499" y="622300"/>
                </a:lnTo>
                <a:lnTo>
                  <a:pt x="1250174" y="622300"/>
                </a:lnTo>
                <a:lnTo>
                  <a:pt x="1203210" y="609600"/>
                </a:lnTo>
                <a:close/>
              </a:path>
              <a:path w="2474595" h="2463800">
                <a:moveTo>
                  <a:pt x="1453515" y="368300"/>
                </a:moveTo>
                <a:lnTo>
                  <a:pt x="1163317" y="368300"/>
                </a:lnTo>
                <a:lnTo>
                  <a:pt x="1218644" y="381000"/>
                </a:lnTo>
                <a:lnTo>
                  <a:pt x="1273498" y="381000"/>
                </a:lnTo>
                <a:lnTo>
                  <a:pt x="1381290" y="406400"/>
                </a:lnTo>
                <a:lnTo>
                  <a:pt x="1425684" y="406400"/>
                </a:lnTo>
                <a:lnTo>
                  <a:pt x="1442831" y="393700"/>
                </a:lnTo>
                <a:lnTo>
                  <a:pt x="1453515" y="368300"/>
                </a:lnTo>
                <a:close/>
              </a:path>
            </a:pathLst>
          </a:custGeom>
          <a:solidFill>
            <a:srgbClr val="00778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 txBox="1"/>
          <p:nvPr/>
        </p:nvSpPr>
        <p:spPr>
          <a:xfrm>
            <a:off x="5420194" y="2396147"/>
            <a:ext cx="647065" cy="176466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400" b="1" spc="-25" dirty="0">
                <a:solidFill>
                  <a:srgbClr val="28525B"/>
                </a:solidFill>
                <a:latin typeface="Arial"/>
                <a:cs typeface="Arial"/>
              </a:rPr>
              <a:t>03</a:t>
            </a:r>
            <a:endParaRPr sz="44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3130"/>
              </a:spcBef>
            </a:pPr>
            <a:r>
              <a:rPr sz="4400" b="1" spc="-25" dirty="0">
                <a:solidFill>
                  <a:srgbClr val="28525B"/>
                </a:solidFill>
                <a:latin typeface="Arial"/>
                <a:cs typeface="Arial"/>
              </a:rPr>
              <a:t>04</a:t>
            </a:r>
            <a:endParaRPr sz="440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6293815" y="2579382"/>
            <a:ext cx="235331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00778A"/>
                </a:solidFill>
                <a:latin typeface="Arial"/>
                <a:cs typeface="Arial"/>
              </a:rPr>
              <a:t>Platform Components</a:t>
            </a:r>
            <a:endParaRPr sz="200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6293815" y="3673360"/>
            <a:ext cx="3961129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00778A"/>
                </a:solidFill>
                <a:latin typeface="Arial"/>
                <a:cs typeface="Arial"/>
              </a:rPr>
              <a:t>Reference Architecture</a:t>
            </a:r>
            <a:endParaRPr sz="2000">
              <a:latin typeface="Arial"/>
              <a:cs typeface="Arial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5420194" y="4493729"/>
            <a:ext cx="647065" cy="695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400" b="1" spc="-25" dirty="0">
                <a:solidFill>
                  <a:srgbClr val="28525B"/>
                </a:solidFill>
                <a:latin typeface="Arial"/>
                <a:cs typeface="Arial"/>
              </a:rPr>
              <a:t>05</a:t>
            </a:r>
            <a:endParaRPr sz="4400">
              <a:latin typeface="Arial"/>
              <a:cs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6293815" y="4667250"/>
            <a:ext cx="3185160" cy="604520"/>
          </a:xfrm>
          <a:prstGeom prst="rect">
            <a:avLst/>
          </a:prstGeom>
        </p:spPr>
        <p:txBody>
          <a:bodyPr vert="horz" wrap="square" lIns="0" tIns="46990" rIns="0" bIns="0" rtlCol="0">
            <a:spAutoFit/>
          </a:bodyPr>
          <a:lstStyle/>
          <a:p>
            <a:pPr marL="12700" marR="5080">
              <a:lnSpc>
                <a:spcPts val="2160"/>
              </a:lnSpc>
              <a:spcBef>
                <a:spcPts val="370"/>
              </a:spcBef>
            </a:pPr>
            <a:r>
              <a:rPr sz="2000" b="1" dirty="0">
                <a:solidFill>
                  <a:srgbClr val="00778A"/>
                </a:solidFill>
                <a:latin typeface="Arial"/>
                <a:cs typeface="Arial"/>
              </a:rPr>
              <a:t>Options &amp; Considerations</a:t>
            </a:r>
            <a:endParaRPr sz="2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5420194" y="5496153"/>
            <a:ext cx="647065" cy="695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400" b="1" spc="-25" dirty="0">
                <a:solidFill>
                  <a:srgbClr val="28525B"/>
                </a:solidFill>
                <a:latin typeface="Arial"/>
                <a:cs typeface="Arial"/>
              </a:rPr>
              <a:t>06</a:t>
            </a:r>
            <a:endParaRPr sz="4400">
              <a:latin typeface="Arial"/>
              <a:cs typeface="Arial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6293815" y="5651995"/>
            <a:ext cx="1125855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spc="-10" dirty="0">
                <a:solidFill>
                  <a:srgbClr val="00778A"/>
                </a:solidFill>
                <a:latin typeface="Arial"/>
                <a:cs typeface="Arial"/>
              </a:rPr>
              <a:t>Outcome</a:t>
            </a:r>
            <a:endParaRPr sz="2000">
              <a:latin typeface="Arial"/>
              <a:cs typeface="Arial"/>
            </a:endParaRPr>
          </a:p>
        </p:txBody>
      </p:sp>
      <p:sp>
        <p:nvSpPr>
          <p:cNvPr id="22" name="object 22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5"/>
              </a:spcBef>
            </a:pPr>
            <a:fld id="{81D60167-4931-47E6-BA6A-407CBD079E47}" type="slidenum">
              <a:rPr spc="-50" dirty="0"/>
              <a:t>1</a:t>
            </a:fld>
            <a:endParaRPr spc="-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23708" rIns="0" bIns="0" rtlCol="0">
            <a:spAutoFit/>
          </a:bodyPr>
          <a:lstStyle/>
          <a:p>
            <a:pPr marL="123825">
              <a:lnSpc>
                <a:spcPct val="100000"/>
              </a:lnSpc>
              <a:spcBef>
                <a:spcPts val="100"/>
              </a:spcBef>
            </a:pPr>
            <a:r>
              <a:rPr dirty="0"/>
              <a:t>Business</a:t>
            </a:r>
            <a:r>
              <a:rPr spc="-125" dirty="0"/>
              <a:t> </a:t>
            </a:r>
            <a:r>
              <a:rPr spc="-10" dirty="0"/>
              <a:t>Problem</a:t>
            </a: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867140" y="0"/>
            <a:ext cx="3324859" cy="2416058"/>
          </a:xfrm>
          <a:prstGeom prst="rect">
            <a:avLst/>
          </a:prstGeom>
        </p:spPr>
      </p:pic>
      <p:sp>
        <p:nvSpPr>
          <p:cNvPr id="3" name="object 3"/>
          <p:cNvSpPr/>
          <p:nvPr/>
        </p:nvSpPr>
        <p:spPr>
          <a:xfrm>
            <a:off x="946673" y="1863750"/>
            <a:ext cx="731520" cy="0"/>
          </a:xfrm>
          <a:custGeom>
            <a:avLst/>
            <a:gdLst/>
            <a:ahLst/>
            <a:cxnLst/>
            <a:rect l="l" t="t" r="r" b="b"/>
            <a:pathLst>
              <a:path w="731519">
                <a:moveTo>
                  <a:pt x="0" y="0"/>
                </a:moveTo>
                <a:lnTo>
                  <a:pt x="731520" y="0"/>
                </a:lnTo>
              </a:path>
            </a:pathLst>
          </a:custGeom>
          <a:ln w="41274">
            <a:solidFill>
              <a:srgbClr val="9B888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916551" y="2363419"/>
            <a:ext cx="7811770" cy="34093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207645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solidFill>
                  <a:srgbClr val="4D4D4F"/>
                </a:solidFill>
                <a:latin typeface="Arial"/>
                <a:cs typeface="Arial"/>
              </a:rPr>
              <a:t>Our</a:t>
            </a:r>
            <a:r>
              <a:rPr sz="1200" b="1" spc="-3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4D4D4F"/>
                </a:solidFill>
                <a:latin typeface="Arial"/>
                <a:cs typeface="Arial"/>
              </a:rPr>
              <a:t>data</a:t>
            </a:r>
            <a:r>
              <a:rPr sz="1200" b="1" spc="-2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4D4D4F"/>
                </a:solidFill>
                <a:latin typeface="Arial"/>
                <a:cs typeface="Arial"/>
              </a:rPr>
              <a:t>tools</a:t>
            </a:r>
            <a:r>
              <a:rPr sz="1200" b="1" spc="-3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4D4D4F"/>
                </a:solidFill>
                <a:latin typeface="Arial"/>
                <a:cs typeface="Arial"/>
              </a:rPr>
              <a:t>and</a:t>
            </a:r>
            <a:r>
              <a:rPr sz="1200" b="1" spc="-2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4D4D4F"/>
                </a:solidFill>
                <a:latin typeface="Arial"/>
                <a:cs typeface="Arial"/>
              </a:rPr>
              <a:t>governance</a:t>
            </a:r>
            <a:r>
              <a:rPr sz="1200" b="1" spc="-2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4D4D4F"/>
                </a:solidFill>
                <a:latin typeface="Arial"/>
                <a:cs typeface="Arial"/>
              </a:rPr>
              <a:t>need</a:t>
            </a:r>
            <a:r>
              <a:rPr sz="1200" b="1" spc="-3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4D4D4F"/>
                </a:solidFill>
                <a:latin typeface="Arial"/>
                <a:cs typeface="Arial"/>
              </a:rPr>
              <a:t>modernizing</a:t>
            </a:r>
            <a:r>
              <a:rPr sz="1200" b="1" spc="-2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4D4D4F"/>
                </a:solidFill>
                <a:latin typeface="Arial"/>
                <a:cs typeface="Arial"/>
              </a:rPr>
              <a:t>to</a:t>
            </a:r>
            <a:r>
              <a:rPr sz="1200" b="1" spc="-3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4D4D4F"/>
                </a:solidFill>
                <a:latin typeface="Arial"/>
                <a:cs typeface="Arial"/>
              </a:rPr>
              <a:t>keep</a:t>
            </a:r>
            <a:r>
              <a:rPr sz="1200" b="1" spc="-2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4D4D4F"/>
                </a:solidFill>
                <a:latin typeface="Arial"/>
                <a:cs typeface="Arial"/>
              </a:rPr>
              <a:t>pace</a:t>
            </a:r>
            <a:r>
              <a:rPr sz="1200" b="1" spc="-2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4D4D4F"/>
                </a:solidFill>
                <a:latin typeface="Arial"/>
                <a:cs typeface="Arial"/>
              </a:rPr>
              <a:t>with</a:t>
            </a:r>
            <a:r>
              <a:rPr sz="1200" b="1" spc="-3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4D4D4F"/>
                </a:solidFill>
                <a:latin typeface="Arial"/>
                <a:cs typeface="Arial"/>
              </a:rPr>
              <a:t>growing</a:t>
            </a:r>
            <a:r>
              <a:rPr sz="1200" b="1" spc="-2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4D4D4F"/>
                </a:solidFill>
                <a:latin typeface="Arial"/>
                <a:cs typeface="Arial"/>
              </a:rPr>
              <a:t>analytics</a:t>
            </a:r>
            <a:r>
              <a:rPr sz="1200" b="1" spc="-3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4D4D4F"/>
                </a:solidFill>
                <a:latin typeface="Arial"/>
                <a:cs typeface="Arial"/>
              </a:rPr>
              <a:t>needs</a:t>
            </a:r>
            <a:r>
              <a:rPr sz="1200" b="1" spc="-2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4D4D4F"/>
                </a:solidFill>
                <a:latin typeface="Arial"/>
                <a:cs typeface="Arial"/>
              </a:rPr>
              <a:t>and</a:t>
            </a:r>
            <a:r>
              <a:rPr sz="1200" b="1" spc="-2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00" b="1" spc="-10" dirty="0">
                <a:solidFill>
                  <a:srgbClr val="4D4D4F"/>
                </a:solidFill>
                <a:latin typeface="Arial"/>
                <a:cs typeface="Arial"/>
              </a:rPr>
              <a:t>control </a:t>
            </a:r>
            <a:r>
              <a:rPr sz="1200" b="1" dirty="0">
                <a:solidFill>
                  <a:srgbClr val="4D4D4F"/>
                </a:solidFill>
                <a:latin typeface="Arial"/>
                <a:cs typeface="Arial"/>
              </a:rPr>
              <a:t>costs.</a:t>
            </a:r>
            <a:r>
              <a:rPr sz="1200" b="1" spc="-2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4D4D4F"/>
                </a:solidFill>
                <a:latin typeface="Arial"/>
                <a:cs typeface="Arial"/>
              </a:rPr>
              <a:t>This</a:t>
            </a:r>
            <a:r>
              <a:rPr sz="1200" b="1" spc="-2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4D4D4F"/>
                </a:solidFill>
                <a:latin typeface="Arial"/>
                <a:cs typeface="Arial"/>
              </a:rPr>
              <a:t>submission</a:t>
            </a:r>
            <a:r>
              <a:rPr sz="1200" b="1" spc="-2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4D4D4F"/>
                </a:solidFill>
                <a:latin typeface="Arial"/>
                <a:cs typeface="Arial"/>
              </a:rPr>
              <a:t>seeks</a:t>
            </a:r>
            <a:r>
              <a:rPr sz="1200" b="1" spc="-2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4D4D4F"/>
                </a:solidFill>
                <a:latin typeface="Arial"/>
                <a:cs typeface="Arial"/>
              </a:rPr>
              <a:t>TAG</a:t>
            </a:r>
            <a:r>
              <a:rPr sz="1200" b="1" spc="-2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4D4D4F"/>
                </a:solidFill>
                <a:latin typeface="Arial"/>
                <a:cs typeface="Arial"/>
              </a:rPr>
              <a:t>approval</a:t>
            </a:r>
            <a:r>
              <a:rPr sz="1200" b="1" spc="-2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4D4D4F"/>
                </a:solidFill>
                <a:latin typeface="Arial"/>
                <a:cs typeface="Arial"/>
              </a:rPr>
              <a:t>to</a:t>
            </a:r>
            <a:r>
              <a:rPr sz="1200" b="1" spc="-2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4D4D4F"/>
                </a:solidFill>
                <a:latin typeface="Arial"/>
                <a:cs typeface="Arial"/>
              </a:rPr>
              <a:t>run</a:t>
            </a:r>
            <a:r>
              <a:rPr sz="1200" b="1" spc="-2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4D4D4F"/>
                </a:solidFill>
                <a:latin typeface="Arial"/>
                <a:cs typeface="Arial"/>
              </a:rPr>
              <a:t>a</a:t>
            </a:r>
            <a:r>
              <a:rPr sz="1200" b="1" spc="-2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4D4D4F"/>
                </a:solidFill>
                <a:latin typeface="Arial"/>
                <a:cs typeface="Arial"/>
              </a:rPr>
              <a:t>proof</a:t>
            </a:r>
            <a:r>
              <a:rPr sz="1200" b="1" spc="-2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4D4D4F"/>
                </a:solidFill>
                <a:latin typeface="Arial"/>
                <a:cs typeface="Arial"/>
              </a:rPr>
              <a:t>of</a:t>
            </a:r>
            <a:r>
              <a:rPr sz="1200" b="1" spc="-2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4D4D4F"/>
                </a:solidFill>
                <a:latin typeface="Arial"/>
                <a:cs typeface="Arial"/>
              </a:rPr>
              <a:t>concept</a:t>
            </a:r>
            <a:r>
              <a:rPr sz="1200" b="1" spc="-2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4D4D4F"/>
                </a:solidFill>
                <a:latin typeface="Arial"/>
                <a:cs typeface="Arial"/>
              </a:rPr>
              <a:t>of</a:t>
            </a:r>
            <a:r>
              <a:rPr sz="1200" b="1" spc="-2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4D4D4F"/>
                </a:solidFill>
                <a:latin typeface="Arial"/>
                <a:cs typeface="Arial"/>
              </a:rPr>
              <a:t>Microsoft</a:t>
            </a:r>
            <a:r>
              <a:rPr sz="1200" b="1" spc="-2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4D4D4F"/>
                </a:solidFill>
                <a:latin typeface="Arial"/>
                <a:cs typeface="Arial"/>
              </a:rPr>
              <a:t>Fabric</a:t>
            </a:r>
            <a:r>
              <a:rPr sz="1200" b="1" spc="-2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4D4D4F"/>
                </a:solidFill>
                <a:latin typeface="Arial"/>
                <a:cs typeface="Arial"/>
              </a:rPr>
              <a:t>under</a:t>
            </a:r>
            <a:r>
              <a:rPr sz="1200" b="1" spc="-2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00" b="1" spc="-10" dirty="0">
                <a:solidFill>
                  <a:srgbClr val="4D4D4F"/>
                </a:solidFill>
                <a:latin typeface="Arial"/>
                <a:cs typeface="Arial"/>
              </a:rPr>
              <a:t>project P0905.</a:t>
            </a:r>
            <a:endParaRPr sz="12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600"/>
              </a:spcBef>
            </a:pPr>
            <a:r>
              <a:rPr sz="1050" spc="365" dirty="0">
                <a:solidFill>
                  <a:srgbClr val="00778A"/>
                </a:solidFill>
                <a:latin typeface="Segoe UI Symbol"/>
                <a:cs typeface="Segoe UI Symbol"/>
              </a:rPr>
              <a:t>❯</a:t>
            </a:r>
            <a:r>
              <a:rPr sz="1050" spc="204" dirty="0">
                <a:solidFill>
                  <a:srgbClr val="00778A"/>
                </a:solidFill>
                <a:latin typeface="Segoe UI Symbol"/>
                <a:cs typeface="Segoe UI Symbol"/>
              </a:rPr>
              <a:t> </a:t>
            </a:r>
            <a:r>
              <a:rPr sz="1200" b="1" dirty="0">
                <a:solidFill>
                  <a:srgbClr val="4D4D4F"/>
                </a:solidFill>
                <a:latin typeface="Arial"/>
                <a:cs typeface="Arial"/>
              </a:rPr>
              <a:t>What’s</a:t>
            </a:r>
            <a:r>
              <a:rPr sz="1200" b="1" spc="-2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4D4D4F"/>
                </a:solidFill>
                <a:latin typeface="Arial"/>
                <a:cs typeface="Arial"/>
              </a:rPr>
              <a:t>not</a:t>
            </a:r>
            <a:r>
              <a:rPr sz="1200" b="1" spc="-2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4D4D4F"/>
                </a:solidFill>
                <a:latin typeface="Arial"/>
                <a:cs typeface="Arial"/>
              </a:rPr>
              <a:t>working</a:t>
            </a:r>
            <a:r>
              <a:rPr sz="1200" b="1" spc="-2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00" b="1" spc="-10" dirty="0">
                <a:solidFill>
                  <a:srgbClr val="4D4D4F"/>
                </a:solidFill>
                <a:latin typeface="Arial"/>
                <a:cs typeface="Arial"/>
              </a:rPr>
              <a:t>today</a:t>
            </a:r>
            <a:endParaRPr sz="1200">
              <a:latin typeface="Arial"/>
              <a:cs typeface="Arial"/>
            </a:endParaRPr>
          </a:p>
          <a:p>
            <a:pPr marL="423545" indent="-182245">
              <a:lnSpc>
                <a:spcPct val="100000"/>
              </a:lnSpc>
              <a:spcBef>
                <a:spcPts val="600"/>
              </a:spcBef>
              <a:buClr>
                <a:srgbClr val="00778A"/>
              </a:buClr>
              <a:buFont typeface="Arial"/>
              <a:buChar char="•"/>
              <a:tabLst>
                <a:tab pos="423545" algn="l"/>
              </a:tabLst>
            </a:pPr>
            <a:r>
              <a:rPr sz="1100" b="1" dirty="0">
                <a:solidFill>
                  <a:srgbClr val="4D4D4F"/>
                </a:solidFill>
                <a:latin typeface="Arial"/>
                <a:cs typeface="Arial"/>
              </a:rPr>
              <a:t>Ageing</a:t>
            </a:r>
            <a:r>
              <a:rPr sz="1100" b="1" spc="-2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4D4D4F"/>
                </a:solidFill>
                <a:latin typeface="Arial"/>
                <a:cs typeface="Arial"/>
              </a:rPr>
              <a:t>platform</a:t>
            </a:r>
            <a:r>
              <a:rPr sz="1100" b="1" spc="-2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4D4D4F"/>
                </a:solidFill>
                <a:latin typeface="Arial"/>
                <a:cs typeface="Arial"/>
              </a:rPr>
              <a:t>–</a:t>
            </a:r>
            <a:r>
              <a:rPr sz="1100" b="1" spc="-2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4D4D4F"/>
                </a:solidFill>
                <a:latin typeface="Arial"/>
                <a:cs typeface="Arial"/>
              </a:rPr>
              <a:t>our</a:t>
            </a:r>
            <a:r>
              <a:rPr sz="1100" spc="-2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4D4D4F"/>
                </a:solidFill>
                <a:latin typeface="Arial"/>
                <a:cs typeface="Arial"/>
              </a:rPr>
              <a:t>data</a:t>
            </a:r>
            <a:r>
              <a:rPr sz="1100" spc="-2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4D4D4F"/>
                </a:solidFill>
                <a:latin typeface="Arial"/>
                <a:cs typeface="Arial"/>
              </a:rPr>
              <a:t>tools</a:t>
            </a:r>
            <a:r>
              <a:rPr sz="1100" spc="-2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4D4D4F"/>
                </a:solidFill>
                <a:latin typeface="Arial"/>
                <a:cs typeface="Arial"/>
              </a:rPr>
              <a:t>and</a:t>
            </a:r>
            <a:r>
              <a:rPr sz="1100" spc="-2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4D4D4F"/>
                </a:solidFill>
                <a:latin typeface="Arial"/>
                <a:cs typeface="Arial"/>
              </a:rPr>
              <a:t>governance</a:t>
            </a:r>
            <a:r>
              <a:rPr sz="1100" spc="-2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4D4D4F"/>
                </a:solidFill>
                <a:latin typeface="Arial"/>
                <a:cs typeface="Arial"/>
              </a:rPr>
              <a:t>aren’t</a:t>
            </a:r>
            <a:r>
              <a:rPr sz="1100" spc="-2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4D4D4F"/>
                </a:solidFill>
                <a:latin typeface="Arial"/>
                <a:cs typeface="Arial"/>
              </a:rPr>
              <a:t>built</a:t>
            </a:r>
            <a:r>
              <a:rPr sz="1100" spc="-2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4D4D4F"/>
                </a:solidFill>
                <a:latin typeface="Arial"/>
                <a:cs typeface="Arial"/>
              </a:rPr>
              <a:t>for</a:t>
            </a:r>
            <a:r>
              <a:rPr sz="1100" spc="-2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4D4D4F"/>
                </a:solidFill>
                <a:latin typeface="Arial"/>
                <a:cs typeface="Arial"/>
              </a:rPr>
              <a:t>modern,</a:t>
            </a:r>
            <a:r>
              <a:rPr sz="1100" spc="-2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4D4D4F"/>
                </a:solidFill>
                <a:latin typeface="Arial"/>
                <a:cs typeface="Arial"/>
              </a:rPr>
              <a:t>cloud-</a:t>
            </a:r>
            <a:r>
              <a:rPr sz="1100" dirty="0">
                <a:solidFill>
                  <a:srgbClr val="4D4D4F"/>
                </a:solidFill>
                <a:latin typeface="Arial"/>
                <a:cs typeface="Arial"/>
              </a:rPr>
              <a:t>based</a:t>
            </a:r>
            <a:r>
              <a:rPr sz="1100" spc="-2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4D4D4F"/>
                </a:solidFill>
                <a:latin typeface="Arial"/>
                <a:cs typeface="Arial"/>
              </a:rPr>
              <a:t>analytics.</a:t>
            </a:r>
            <a:endParaRPr sz="1100">
              <a:latin typeface="Arial"/>
              <a:cs typeface="Arial"/>
            </a:endParaRPr>
          </a:p>
          <a:p>
            <a:pPr marL="423545" indent="-182880">
              <a:lnSpc>
                <a:spcPct val="100000"/>
              </a:lnSpc>
              <a:spcBef>
                <a:spcPts val="600"/>
              </a:spcBef>
              <a:buClr>
                <a:srgbClr val="00778A"/>
              </a:buClr>
              <a:buFont typeface="Arial"/>
              <a:buChar char="•"/>
              <a:tabLst>
                <a:tab pos="423545" algn="l"/>
              </a:tabLst>
            </a:pPr>
            <a:r>
              <a:rPr sz="1100" b="1" dirty="0">
                <a:solidFill>
                  <a:srgbClr val="4D4D4F"/>
                </a:solidFill>
                <a:latin typeface="Arial"/>
                <a:cs typeface="Arial"/>
              </a:rPr>
              <a:t>Higher</a:t>
            </a:r>
            <a:r>
              <a:rPr sz="1100" b="1" spc="-3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4D4D4F"/>
                </a:solidFill>
                <a:latin typeface="Arial"/>
                <a:cs typeface="Arial"/>
              </a:rPr>
              <a:t>costs</a:t>
            </a:r>
            <a:r>
              <a:rPr sz="1100" b="1" spc="-3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4D4D4F"/>
                </a:solidFill>
                <a:latin typeface="Arial"/>
                <a:cs typeface="Arial"/>
              </a:rPr>
              <a:t>than</a:t>
            </a:r>
            <a:r>
              <a:rPr sz="1100" b="1" spc="-3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4D4D4F"/>
                </a:solidFill>
                <a:latin typeface="Arial"/>
                <a:cs typeface="Arial"/>
              </a:rPr>
              <a:t>needed</a:t>
            </a:r>
            <a:r>
              <a:rPr sz="1100" b="1" spc="-3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4D4D4F"/>
                </a:solidFill>
                <a:latin typeface="Arial"/>
                <a:cs typeface="Arial"/>
              </a:rPr>
              <a:t>–</a:t>
            </a:r>
            <a:r>
              <a:rPr sz="1100" b="1" spc="-2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4D4D4F"/>
                </a:solidFill>
                <a:latin typeface="Arial"/>
                <a:cs typeface="Arial"/>
              </a:rPr>
              <a:t>reporting</a:t>
            </a:r>
            <a:r>
              <a:rPr sz="1100" spc="-3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4D4D4F"/>
                </a:solidFill>
                <a:latin typeface="Arial"/>
                <a:cs typeface="Arial"/>
              </a:rPr>
              <a:t>and</a:t>
            </a:r>
            <a:r>
              <a:rPr sz="1100" spc="-3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4D4D4F"/>
                </a:solidFill>
                <a:latin typeface="Arial"/>
                <a:cs typeface="Arial"/>
              </a:rPr>
              <a:t>web</a:t>
            </a:r>
            <a:r>
              <a:rPr sz="1100" spc="-3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4D4D4F"/>
                </a:solidFill>
                <a:latin typeface="Arial"/>
                <a:cs typeface="Arial"/>
              </a:rPr>
              <a:t>analytics</a:t>
            </a:r>
            <a:r>
              <a:rPr sz="1100" spc="-3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4D4D4F"/>
                </a:solidFill>
                <a:latin typeface="Arial"/>
                <a:cs typeface="Arial"/>
              </a:rPr>
              <a:t>run</a:t>
            </a:r>
            <a:r>
              <a:rPr sz="1100" spc="-3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4D4D4F"/>
                </a:solidFill>
                <a:latin typeface="Arial"/>
                <a:cs typeface="Arial"/>
              </a:rPr>
              <a:t>on</a:t>
            </a:r>
            <a:r>
              <a:rPr sz="1100" spc="-3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4D4D4F"/>
                </a:solidFill>
                <a:latin typeface="Arial"/>
                <a:cs typeface="Arial"/>
              </a:rPr>
              <a:t>older,</a:t>
            </a:r>
            <a:r>
              <a:rPr sz="1100" spc="-3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4D4D4F"/>
                </a:solidFill>
                <a:latin typeface="Arial"/>
                <a:cs typeface="Arial"/>
              </a:rPr>
              <a:t>more</a:t>
            </a:r>
            <a:r>
              <a:rPr sz="1100" spc="-3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4D4D4F"/>
                </a:solidFill>
                <a:latin typeface="Arial"/>
                <a:cs typeface="Arial"/>
              </a:rPr>
              <a:t>expensive</a:t>
            </a:r>
            <a:r>
              <a:rPr sz="1100" spc="-3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4D4D4F"/>
                </a:solidFill>
                <a:latin typeface="Arial"/>
                <a:cs typeface="Arial"/>
              </a:rPr>
              <a:t>technology.</a:t>
            </a:r>
            <a:endParaRPr sz="1100">
              <a:latin typeface="Arial"/>
              <a:cs typeface="Arial"/>
            </a:endParaRPr>
          </a:p>
          <a:p>
            <a:pPr marL="423545" indent="-182880">
              <a:lnSpc>
                <a:spcPct val="100000"/>
              </a:lnSpc>
              <a:spcBef>
                <a:spcPts val="600"/>
              </a:spcBef>
              <a:buClr>
                <a:srgbClr val="00778A"/>
              </a:buClr>
              <a:buFont typeface="Arial"/>
              <a:buChar char="•"/>
              <a:tabLst>
                <a:tab pos="423545" algn="l"/>
              </a:tabLst>
            </a:pPr>
            <a:r>
              <a:rPr sz="1100" b="1" spc="-10" dirty="0">
                <a:solidFill>
                  <a:srgbClr val="4D4D4F"/>
                </a:solidFill>
                <a:latin typeface="Arial"/>
                <a:cs typeface="Arial"/>
              </a:rPr>
              <a:t>Readiness</a:t>
            </a:r>
            <a:r>
              <a:rPr sz="1100" b="1" spc="-2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4D4D4F"/>
                </a:solidFill>
                <a:latin typeface="Arial"/>
                <a:cs typeface="Arial"/>
              </a:rPr>
              <a:t>gaps</a:t>
            </a:r>
            <a:r>
              <a:rPr sz="1100" b="1" spc="-2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4D4D4F"/>
                </a:solidFill>
                <a:latin typeface="Arial"/>
                <a:cs typeface="Arial"/>
              </a:rPr>
              <a:t>–</a:t>
            </a:r>
            <a:r>
              <a:rPr sz="1100" b="1" spc="-2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4D4D4F"/>
                </a:solidFill>
                <a:latin typeface="Arial"/>
                <a:cs typeface="Arial"/>
              </a:rPr>
              <a:t>today’s</a:t>
            </a:r>
            <a:r>
              <a:rPr sz="1100" spc="-2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4D4D4F"/>
                </a:solidFill>
                <a:latin typeface="Arial"/>
                <a:cs typeface="Arial"/>
              </a:rPr>
              <a:t>environment</a:t>
            </a:r>
            <a:r>
              <a:rPr sz="1100" spc="-2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4D4D4F"/>
                </a:solidFill>
                <a:latin typeface="Arial"/>
                <a:cs typeface="Arial"/>
              </a:rPr>
              <a:t>and</a:t>
            </a:r>
            <a:r>
              <a:rPr sz="1100" spc="-2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4D4D4F"/>
                </a:solidFill>
                <a:latin typeface="Arial"/>
                <a:cs typeface="Arial"/>
              </a:rPr>
              <a:t>access</a:t>
            </a:r>
            <a:r>
              <a:rPr sz="1100" spc="-2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4D4D4F"/>
                </a:solidFill>
                <a:latin typeface="Arial"/>
                <a:cs typeface="Arial"/>
              </a:rPr>
              <a:t>controls</a:t>
            </a:r>
            <a:r>
              <a:rPr sz="1100" spc="-2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4D4D4F"/>
                </a:solidFill>
                <a:latin typeface="Arial"/>
                <a:cs typeface="Arial"/>
              </a:rPr>
              <a:t>aren’t</a:t>
            </a:r>
            <a:r>
              <a:rPr sz="1100" spc="-2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4D4D4F"/>
                </a:solidFill>
                <a:latin typeface="Arial"/>
                <a:cs typeface="Arial"/>
              </a:rPr>
              <a:t>yet</a:t>
            </a:r>
            <a:r>
              <a:rPr sz="1100" spc="-2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4D4D4F"/>
                </a:solidFill>
                <a:latin typeface="Arial"/>
                <a:cs typeface="Arial"/>
              </a:rPr>
              <a:t>set</a:t>
            </a:r>
            <a:r>
              <a:rPr sz="1100" spc="-2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4D4D4F"/>
                </a:solidFill>
                <a:latin typeface="Arial"/>
                <a:cs typeface="Arial"/>
              </a:rPr>
              <a:t>up</a:t>
            </a:r>
            <a:r>
              <a:rPr sz="1100" spc="-2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4D4D4F"/>
                </a:solidFill>
                <a:latin typeface="Arial"/>
                <a:cs typeface="Arial"/>
              </a:rPr>
              <a:t>to</a:t>
            </a:r>
            <a:r>
              <a:rPr sz="1100" spc="-2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4D4D4F"/>
                </a:solidFill>
                <a:latin typeface="Arial"/>
                <a:cs typeface="Arial"/>
              </a:rPr>
              <a:t>support</a:t>
            </a:r>
            <a:r>
              <a:rPr sz="1100" spc="-2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4D4D4F"/>
                </a:solidFill>
                <a:latin typeface="Arial"/>
                <a:cs typeface="Arial"/>
              </a:rPr>
              <a:t>the</a:t>
            </a:r>
            <a:r>
              <a:rPr sz="1100" spc="-2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4D4D4F"/>
                </a:solidFill>
                <a:latin typeface="Arial"/>
                <a:cs typeface="Arial"/>
              </a:rPr>
              <a:t>new</a:t>
            </a:r>
            <a:r>
              <a:rPr sz="1100" spc="-2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4D4D4F"/>
                </a:solidFill>
                <a:latin typeface="Arial"/>
                <a:cs typeface="Arial"/>
              </a:rPr>
              <a:t>platform.</a:t>
            </a:r>
            <a:endParaRPr sz="11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600"/>
              </a:spcBef>
            </a:pPr>
            <a:r>
              <a:rPr sz="1050" spc="365" dirty="0">
                <a:solidFill>
                  <a:srgbClr val="00778A"/>
                </a:solidFill>
                <a:latin typeface="Segoe UI Symbol"/>
                <a:cs typeface="Segoe UI Symbol"/>
              </a:rPr>
              <a:t>❯</a:t>
            </a:r>
            <a:r>
              <a:rPr sz="1050" spc="220" dirty="0">
                <a:solidFill>
                  <a:srgbClr val="00778A"/>
                </a:solidFill>
                <a:latin typeface="Segoe UI Symbol"/>
                <a:cs typeface="Segoe UI Symbol"/>
              </a:rPr>
              <a:t> </a:t>
            </a:r>
            <a:r>
              <a:rPr sz="1200" b="1" dirty="0">
                <a:solidFill>
                  <a:srgbClr val="4D4D4F"/>
                </a:solidFill>
                <a:latin typeface="Arial"/>
                <a:cs typeface="Arial"/>
              </a:rPr>
              <a:t>Risk</a:t>
            </a:r>
            <a:r>
              <a:rPr sz="1200" b="1" spc="-1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4D4D4F"/>
                </a:solidFill>
                <a:latin typeface="Arial"/>
                <a:cs typeface="Arial"/>
              </a:rPr>
              <a:t>to</a:t>
            </a:r>
            <a:r>
              <a:rPr sz="1200" b="1" spc="-1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4D4D4F"/>
                </a:solidFill>
                <a:latin typeface="Arial"/>
                <a:cs typeface="Arial"/>
              </a:rPr>
              <a:t>the</a:t>
            </a:r>
            <a:r>
              <a:rPr sz="1200" b="1" spc="-10" dirty="0">
                <a:solidFill>
                  <a:srgbClr val="4D4D4F"/>
                </a:solidFill>
                <a:latin typeface="Arial"/>
                <a:cs typeface="Arial"/>
              </a:rPr>
              <a:t> corporation</a:t>
            </a:r>
            <a:endParaRPr sz="1200">
              <a:latin typeface="Arial"/>
              <a:cs typeface="Arial"/>
            </a:endParaRPr>
          </a:p>
          <a:p>
            <a:pPr marL="424180" marR="192405" indent="-182880">
              <a:lnSpc>
                <a:spcPct val="100000"/>
              </a:lnSpc>
              <a:spcBef>
                <a:spcPts val="600"/>
              </a:spcBef>
              <a:buClr>
                <a:srgbClr val="00778A"/>
              </a:buClr>
              <a:buChar char="•"/>
              <a:tabLst>
                <a:tab pos="424180" algn="l"/>
              </a:tabLst>
            </a:pPr>
            <a:r>
              <a:rPr sz="1100" dirty="0">
                <a:solidFill>
                  <a:srgbClr val="4D4D4F"/>
                </a:solidFill>
                <a:latin typeface="Arial"/>
                <a:cs typeface="Arial"/>
              </a:rPr>
              <a:t>The</a:t>
            </a:r>
            <a:r>
              <a:rPr sz="1100" spc="-2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4D4D4F"/>
                </a:solidFill>
                <a:latin typeface="Arial"/>
                <a:cs typeface="Arial"/>
              </a:rPr>
              <a:t>new</a:t>
            </a:r>
            <a:r>
              <a:rPr sz="1100" spc="-2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4D4D4F"/>
                </a:solidFill>
                <a:latin typeface="Arial"/>
                <a:cs typeface="Arial"/>
              </a:rPr>
              <a:t>platform</a:t>
            </a:r>
            <a:r>
              <a:rPr sz="1100" spc="-2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4D4D4F"/>
                </a:solidFill>
                <a:latin typeface="Arial"/>
                <a:cs typeface="Arial"/>
              </a:rPr>
              <a:t>would</a:t>
            </a:r>
            <a:r>
              <a:rPr sz="1100" spc="-2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4D4D4F"/>
                </a:solidFill>
                <a:latin typeface="Arial"/>
                <a:cs typeface="Arial"/>
              </a:rPr>
              <a:t>handle</a:t>
            </a:r>
            <a:r>
              <a:rPr sz="1100" spc="-2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4D4D4F"/>
                </a:solidFill>
                <a:latin typeface="Arial"/>
                <a:cs typeface="Arial"/>
              </a:rPr>
              <a:t>sensitive</a:t>
            </a:r>
            <a:r>
              <a:rPr sz="1100" spc="-2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4D4D4F"/>
                </a:solidFill>
                <a:latin typeface="Arial"/>
                <a:cs typeface="Arial"/>
              </a:rPr>
              <a:t>member</a:t>
            </a:r>
            <a:r>
              <a:rPr sz="1100" spc="-2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4D4D4F"/>
                </a:solidFill>
                <a:latin typeface="Arial"/>
                <a:cs typeface="Arial"/>
              </a:rPr>
              <a:t>data,</a:t>
            </a:r>
            <a:r>
              <a:rPr sz="1100" spc="-2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4D4D4F"/>
                </a:solidFill>
                <a:latin typeface="Arial"/>
                <a:cs typeface="Arial"/>
              </a:rPr>
              <a:t>so</a:t>
            </a:r>
            <a:r>
              <a:rPr sz="1100" spc="-2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4D4D4F"/>
                </a:solidFill>
                <a:latin typeface="Arial"/>
                <a:cs typeface="Arial"/>
              </a:rPr>
              <a:t>the</a:t>
            </a:r>
            <a:r>
              <a:rPr sz="1100" spc="-2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4D4D4F"/>
                </a:solidFill>
                <a:latin typeface="Arial"/>
                <a:cs typeface="Arial"/>
              </a:rPr>
              <a:t>right</a:t>
            </a:r>
            <a:r>
              <a:rPr sz="1100" spc="-2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4D4D4F"/>
                </a:solidFill>
                <a:latin typeface="Arial"/>
                <a:cs typeface="Arial"/>
              </a:rPr>
              <a:t>security,</a:t>
            </a:r>
            <a:r>
              <a:rPr sz="1100" spc="-2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4D4D4F"/>
                </a:solidFill>
                <a:latin typeface="Arial"/>
                <a:cs typeface="Arial"/>
              </a:rPr>
              <a:t>privacy,</a:t>
            </a:r>
            <a:r>
              <a:rPr sz="1100" spc="-2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4D4D4F"/>
                </a:solidFill>
                <a:latin typeface="Arial"/>
                <a:cs typeface="Arial"/>
              </a:rPr>
              <a:t>and</a:t>
            </a:r>
            <a:r>
              <a:rPr sz="1100" spc="-2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4D4D4F"/>
                </a:solidFill>
                <a:latin typeface="Arial"/>
                <a:cs typeface="Arial"/>
              </a:rPr>
              <a:t>access</a:t>
            </a:r>
            <a:r>
              <a:rPr sz="1100" spc="-2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4D4D4F"/>
                </a:solidFill>
                <a:latin typeface="Arial"/>
                <a:cs typeface="Arial"/>
              </a:rPr>
              <a:t>controls</a:t>
            </a:r>
            <a:r>
              <a:rPr sz="1100" spc="-2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4D4D4F"/>
                </a:solidFill>
                <a:latin typeface="Arial"/>
                <a:cs typeface="Arial"/>
              </a:rPr>
              <a:t>must</a:t>
            </a:r>
            <a:r>
              <a:rPr sz="1100" spc="-2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4D4D4F"/>
                </a:solidFill>
                <a:latin typeface="Arial"/>
                <a:cs typeface="Arial"/>
              </a:rPr>
              <a:t>be</a:t>
            </a:r>
            <a:r>
              <a:rPr sz="1100" spc="-25" dirty="0">
                <a:solidFill>
                  <a:srgbClr val="4D4D4F"/>
                </a:solidFill>
                <a:latin typeface="Arial"/>
                <a:cs typeface="Arial"/>
              </a:rPr>
              <a:t> in </a:t>
            </a:r>
            <a:r>
              <a:rPr sz="1100" dirty="0">
                <a:solidFill>
                  <a:srgbClr val="4D4D4F"/>
                </a:solidFill>
                <a:latin typeface="Arial"/>
                <a:cs typeface="Arial"/>
              </a:rPr>
              <a:t>place</a:t>
            </a:r>
            <a:r>
              <a:rPr sz="1100" spc="-3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4D4D4F"/>
                </a:solidFill>
                <a:latin typeface="Arial"/>
                <a:cs typeface="Arial"/>
              </a:rPr>
              <a:t>before</a:t>
            </a:r>
            <a:r>
              <a:rPr sz="1100" spc="-3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4D4D4F"/>
                </a:solidFill>
                <a:latin typeface="Arial"/>
                <a:cs typeface="Arial"/>
              </a:rPr>
              <a:t>we</a:t>
            </a:r>
            <a:r>
              <a:rPr sz="1100" spc="-3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4D4D4F"/>
                </a:solidFill>
                <a:latin typeface="Arial"/>
                <a:cs typeface="Arial"/>
              </a:rPr>
              <a:t>move</a:t>
            </a:r>
            <a:r>
              <a:rPr sz="1100" spc="-3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4D4D4F"/>
                </a:solidFill>
                <a:latin typeface="Arial"/>
                <a:cs typeface="Arial"/>
              </a:rPr>
              <a:t>beyond</a:t>
            </a:r>
            <a:r>
              <a:rPr sz="1100" spc="-3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4D4D4F"/>
                </a:solidFill>
                <a:latin typeface="Arial"/>
                <a:cs typeface="Arial"/>
              </a:rPr>
              <a:t>a</a:t>
            </a:r>
            <a:r>
              <a:rPr sz="1100" spc="-3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4D4D4F"/>
                </a:solidFill>
                <a:latin typeface="Arial"/>
                <a:cs typeface="Arial"/>
              </a:rPr>
              <a:t>pilot</a:t>
            </a:r>
            <a:r>
              <a:rPr sz="1100" spc="-3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4D4D4F"/>
                </a:solidFill>
                <a:latin typeface="Arial"/>
                <a:cs typeface="Arial"/>
              </a:rPr>
              <a:t>(risk</a:t>
            </a:r>
            <a:r>
              <a:rPr sz="1100" spc="-3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4D4D4F"/>
                </a:solidFill>
                <a:latin typeface="Arial"/>
                <a:cs typeface="Arial"/>
              </a:rPr>
              <a:t>owner:</a:t>
            </a:r>
            <a:r>
              <a:rPr sz="1100" spc="-3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4D4D4F"/>
                </a:solidFill>
                <a:latin typeface="Arial"/>
                <a:cs typeface="Arial"/>
              </a:rPr>
              <a:t>Cristina</a:t>
            </a:r>
            <a:r>
              <a:rPr sz="1100" spc="-3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4D4D4F"/>
                </a:solidFill>
                <a:latin typeface="Arial"/>
                <a:cs typeface="Arial"/>
              </a:rPr>
              <a:t>Stepanov).</a:t>
            </a:r>
            <a:endParaRPr sz="11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600"/>
              </a:spcBef>
            </a:pPr>
            <a:r>
              <a:rPr sz="1050" spc="365" dirty="0">
                <a:solidFill>
                  <a:srgbClr val="00778A"/>
                </a:solidFill>
                <a:latin typeface="Segoe UI Symbol"/>
                <a:cs typeface="Segoe UI Symbol"/>
              </a:rPr>
              <a:t>❯</a:t>
            </a:r>
            <a:r>
              <a:rPr sz="1050" spc="204" dirty="0">
                <a:solidFill>
                  <a:srgbClr val="00778A"/>
                </a:solidFill>
                <a:latin typeface="Segoe UI Symbol"/>
                <a:cs typeface="Segoe UI Symbol"/>
              </a:rPr>
              <a:t> </a:t>
            </a:r>
            <a:r>
              <a:rPr sz="1200" b="1" dirty="0">
                <a:solidFill>
                  <a:srgbClr val="4D4D4F"/>
                </a:solidFill>
                <a:latin typeface="Arial"/>
                <a:cs typeface="Arial"/>
              </a:rPr>
              <a:t>How</a:t>
            </a:r>
            <a:r>
              <a:rPr sz="1200" b="1" spc="-1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4D4D4F"/>
                </a:solidFill>
                <a:latin typeface="Arial"/>
                <a:cs typeface="Arial"/>
              </a:rPr>
              <a:t>we’re</a:t>
            </a:r>
            <a:r>
              <a:rPr sz="1200" b="1" spc="-2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4D4D4F"/>
                </a:solidFill>
                <a:latin typeface="Arial"/>
                <a:cs typeface="Arial"/>
              </a:rPr>
              <a:t>managing</a:t>
            </a:r>
            <a:r>
              <a:rPr sz="1200" b="1" spc="-2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00" b="1" spc="-25" dirty="0">
                <a:solidFill>
                  <a:srgbClr val="4D4D4F"/>
                </a:solidFill>
                <a:latin typeface="Arial"/>
                <a:cs typeface="Arial"/>
              </a:rPr>
              <a:t>it</a:t>
            </a:r>
            <a:endParaRPr sz="1200">
              <a:latin typeface="Arial"/>
              <a:cs typeface="Arial"/>
            </a:endParaRPr>
          </a:p>
          <a:p>
            <a:pPr marL="424180" marR="5080" indent="-182880">
              <a:lnSpc>
                <a:spcPct val="100000"/>
              </a:lnSpc>
              <a:spcBef>
                <a:spcPts val="600"/>
              </a:spcBef>
              <a:buClr>
                <a:srgbClr val="00778A"/>
              </a:buClr>
              <a:buChar char="•"/>
              <a:tabLst>
                <a:tab pos="424180" algn="l"/>
              </a:tabLst>
            </a:pPr>
            <a:r>
              <a:rPr sz="1100" dirty="0">
                <a:solidFill>
                  <a:srgbClr val="4D4D4F"/>
                </a:solidFill>
                <a:latin typeface="Arial"/>
                <a:cs typeface="Arial"/>
              </a:rPr>
              <a:t>Testing</a:t>
            </a:r>
            <a:r>
              <a:rPr sz="1100" spc="-2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4D4D4F"/>
                </a:solidFill>
                <a:latin typeface="Arial"/>
                <a:cs typeface="Arial"/>
              </a:rPr>
              <a:t>safely</a:t>
            </a:r>
            <a:r>
              <a:rPr sz="1100" spc="-2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4D4D4F"/>
                </a:solidFill>
                <a:latin typeface="Arial"/>
                <a:cs typeface="Arial"/>
              </a:rPr>
              <a:t>in</a:t>
            </a:r>
            <a:r>
              <a:rPr sz="1100" spc="-2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4D4D4F"/>
                </a:solidFill>
                <a:latin typeface="Arial"/>
                <a:cs typeface="Arial"/>
              </a:rPr>
              <a:t>an</a:t>
            </a:r>
            <a:r>
              <a:rPr sz="1100" spc="-2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4D4D4F"/>
                </a:solidFill>
                <a:latin typeface="Arial"/>
                <a:cs typeface="Arial"/>
              </a:rPr>
              <a:t>isolated</a:t>
            </a:r>
            <a:r>
              <a:rPr sz="1100" spc="-2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4D4D4F"/>
                </a:solidFill>
                <a:latin typeface="Arial"/>
                <a:cs typeface="Arial"/>
              </a:rPr>
              <a:t>environment</a:t>
            </a:r>
            <a:r>
              <a:rPr sz="1100" spc="-2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4D4D4F"/>
                </a:solidFill>
                <a:latin typeface="Arial"/>
                <a:cs typeface="Arial"/>
              </a:rPr>
              <a:t>using</a:t>
            </a:r>
            <a:r>
              <a:rPr sz="1100" spc="-20" dirty="0">
                <a:solidFill>
                  <a:srgbClr val="4D4D4F"/>
                </a:solidFill>
                <a:latin typeface="Arial"/>
                <a:cs typeface="Arial"/>
              </a:rPr>
              <a:t> non-</a:t>
            </a:r>
            <a:r>
              <a:rPr sz="1100" spc="-10" dirty="0">
                <a:solidFill>
                  <a:srgbClr val="4D4D4F"/>
                </a:solidFill>
                <a:latin typeface="Arial"/>
                <a:cs typeface="Arial"/>
              </a:rPr>
              <a:t>identifiable</a:t>
            </a:r>
            <a:r>
              <a:rPr sz="1100" spc="-2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4D4D4F"/>
                </a:solidFill>
                <a:latin typeface="Arial"/>
                <a:cs typeface="Arial"/>
              </a:rPr>
              <a:t>data,</a:t>
            </a:r>
            <a:r>
              <a:rPr sz="1100" spc="-2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4D4D4F"/>
                </a:solidFill>
                <a:latin typeface="Arial"/>
                <a:cs typeface="Arial"/>
              </a:rPr>
              <a:t>with</a:t>
            </a:r>
            <a:r>
              <a:rPr sz="1100" spc="-2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4D4D4F"/>
                </a:solidFill>
                <a:latin typeface="Arial"/>
                <a:cs typeface="Arial"/>
              </a:rPr>
              <a:t>security</a:t>
            </a:r>
            <a:r>
              <a:rPr sz="1100" spc="-2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4D4D4F"/>
                </a:solidFill>
                <a:latin typeface="Arial"/>
                <a:cs typeface="Arial"/>
              </a:rPr>
              <a:t>and</a:t>
            </a:r>
            <a:r>
              <a:rPr sz="1100" spc="-2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4D4D4F"/>
                </a:solidFill>
                <a:latin typeface="Arial"/>
                <a:cs typeface="Arial"/>
              </a:rPr>
              <a:t>governance</a:t>
            </a:r>
            <a:r>
              <a:rPr sz="1100" spc="-2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4D4D4F"/>
                </a:solidFill>
                <a:latin typeface="Arial"/>
                <a:cs typeface="Arial"/>
              </a:rPr>
              <a:t>teams</a:t>
            </a:r>
            <a:r>
              <a:rPr sz="1100" spc="-2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4D4D4F"/>
                </a:solidFill>
                <a:latin typeface="Arial"/>
                <a:cs typeface="Arial"/>
              </a:rPr>
              <a:t>involved</a:t>
            </a:r>
            <a:r>
              <a:rPr sz="1100" spc="-2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spc="-20" dirty="0">
                <a:solidFill>
                  <a:srgbClr val="4D4D4F"/>
                </a:solidFill>
                <a:latin typeface="Arial"/>
                <a:cs typeface="Arial"/>
              </a:rPr>
              <a:t>from </a:t>
            </a:r>
            <a:r>
              <a:rPr sz="1100" dirty="0">
                <a:solidFill>
                  <a:srgbClr val="4D4D4F"/>
                </a:solidFill>
                <a:latin typeface="Arial"/>
                <a:cs typeface="Arial"/>
              </a:rPr>
              <a:t>the</a:t>
            </a:r>
            <a:r>
              <a:rPr sz="1100" spc="-10" dirty="0">
                <a:solidFill>
                  <a:srgbClr val="4D4D4F"/>
                </a:solidFill>
                <a:latin typeface="Arial"/>
                <a:cs typeface="Arial"/>
              </a:rPr>
              <a:t> start.</a:t>
            </a:r>
            <a:endParaRPr sz="11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600"/>
              </a:spcBef>
            </a:pPr>
            <a:r>
              <a:rPr sz="1050" spc="365" dirty="0">
                <a:solidFill>
                  <a:srgbClr val="00778A"/>
                </a:solidFill>
                <a:latin typeface="Segoe UI Symbol"/>
                <a:cs typeface="Segoe UI Symbol"/>
              </a:rPr>
              <a:t>❯</a:t>
            </a:r>
            <a:r>
              <a:rPr sz="1050" spc="220" dirty="0">
                <a:solidFill>
                  <a:srgbClr val="00778A"/>
                </a:solidFill>
                <a:latin typeface="Segoe UI Symbol"/>
                <a:cs typeface="Segoe UI Symbol"/>
              </a:rPr>
              <a:t> </a:t>
            </a:r>
            <a:r>
              <a:rPr sz="1200" b="1" dirty="0">
                <a:solidFill>
                  <a:srgbClr val="4D4D4F"/>
                </a:solidFill>
                <a:latin typeface="Arial"/>
                <a:cs typeface="Arial"/>
              </a:rPr>
              <a:t>Who’s</a:t>
            </a:r>
            <a:r>
              <a:rPr sz="1200" b="1" spc="-1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00" b="1" spc="-10" dirty="0">
                <a:solidFill>
                  <a:srgbClr val="4D4D4F"/>
                </a:solidFill>
                <a:latin typeface="Arial"/>
                <a:cs typeface="Arial"/>
              </a:rPr>
              <a:t>impacted</a:t>
            </a:r>
            <a:endParaRPr sz="1200">
              <a:latin typeface="Arial"/>
              <a:cs typeface="Arial"/>
            </a:endParaRPr>
          </a:p>
          <a:p>
            <a:pPr marL="423545" indent="-182245">
              <a:lnSpc>
                <a:spcPct val="100000"/>
              </a:lnSpc>
              <a:spcBef>
                <a:spcPts val="600"/>
              </a:spcBef>
              <a:buClr>
                <a:srgbClr val="00778A"/>
              </a:buClr>
              <a:buChar char="•"/>
              <a:tabLst>
                <a:tab pos="423545" algn="l"/>
              </a:tabLst>
            </a:pPr>
            <a:r>
              <a:rPr sz="1100" dirty="0">
                <a:solidFill>
                  <a:srgbClr val="4D4D4F"/>
                </a:solidFill>
                <a:latin typeface="Arial"/>
                <a:cs typeface="Arial"/>
              </a:rPr>
              <a:t>IT</a:t>
            </a:r>
            <a:r>
              <a:rPr sz="1100" spc="-2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4D4D4F"/>
                </a:solidFill>
                <a:latin typeface="Arial"/>
                <a:cs typeface="Arial"/>
              </a:rPr>
              <a:t>Engineering,</a:t>
            </a:r>
            <a:r>
              <a:rPr sz="1100" spc="-1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4D4D4F"/>
                </a:solidFill>
                <a:latin typeface="Arial"/>
                <a:cs typeface="Arial"/>
              </a:rPr>
              <a:t>IT</a:t>
            </a:r>
            <a:r>
              <a:rPr sz="1100" spc="-2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4D4D4F"/>
                </a:solidFill>
                <a:latin typeface="Arial"/>
                <a:cs typeface="Arial"/>
              </a:rPr>
              <a:t>Services,</a:t>
            </a:r>
            <a:r>
              <a:rPr sz="1100" spc="-1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4D4D4F"/>
                </a:solidFill>
                <a:latin typeface="Arial"/>
                <a:cs typeface="Arial"/>
              </a:rPr>
              <a:t>the</a:t>
            </a:r>
            <a:r>
              <a:rPr sz="1100" spc="-2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4D4D4F"/>
                </a:solidFill>
                <a:latin typeface="Arial"/>
                <a:cs typeface="Arial"/>
              </a:rPr>
              <a:t>Power</a:t>
            </a:r>
            <a:r>
              <a:rPr sz="1100" spc="-1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4D4D4F"/>
                </a:solidFill>
                <a:latin typeface="Arial"/>
                <a:cs typeface="Arial"/>
              </a:rPr>
              <a:t>Platform</a:t>
            </a:r>
            <a:r>
              <a:rPr sz="1100" spc="-2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4D4D4F"/>
                </a:solidFill>
                <a:latin typeface="Arial"/>
                <a:cs typeface="Arial"/>
              </a:rPr>
              <a:t>team,</a:t>
            </a:r>
            <a:r>
              <a:rPr sz="1100" spc="-1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4D4D4F"/>
                </a:solidFill>
                <a:latin typeface="Arial"/>
                <a:cs typeface="Arial"/>
              </a:rPr>
              <a:t>Business</a:t>
            </a:r>
            <a:r>
              <a:rPr sz="1100" spc="-2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4D4D4F"/>
                </a:solidFill>
                <a:latin typeface="Arial"/>
                <a:cs typeface="Arial"/>
              </a:rPr>
              <a:t>Analytics,</a:t>
            </a:r>
            <a:r>
              <a:rPr sz="1100" spc="-1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4D4D4F"/>
                </a:solidFill>
                <a:latin typeface="Arial"/>
                <a:cs typeface="Arial"/>
              </a:rPr>
              <a:t>Digital</a:t>
            </a:r>
            <a:r>
              <a:rPr sz="1100" spc="-2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4D4D4F"/>
                </a:solidFill>
                <a:latin typeface="Arial"/>
                <a:cs typeface="Arial"/>
              </a:rPr>
              <a:t>Communications,</a:t>
            </a:r>
            <a:r>
              <a:rPr sz="1100" spc="-1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4D4D4F"/>
                </a:solidFill>
                <a:latin typeface="Arial"/>
                <a:cs typeface="Arial"/>
              </a:rPr>
              <a:t>and</a:t>
            </a:r>
            <a:r>
              <a:rPr sz="1100" spc="-2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4D4D4F"/>
                </a:solidFill>
                <a:latin typeface="Arial"/>
                <a:cs typeface="Arial"/>
              </a:rPr>
              <a:t>IT</a:t>
            </a:r>
            <a:r>
              <a:rPr sz="1100" spc="-1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4D4D4F"/>
                </a:solidFill>
                <a:latin typeface="Arial"/>
                <a:cs typeface="Arial"/>
              </a:rPr>
              <a:t>Security.</a:t>
            </a:r>
            <a:endParaRPr sz="1100">
              <a:latin typeface="Arial"/>
              <a:cs typeface="Arial"/>
            </a:endParaRPr>
          </a:p>
        </p:txBody>
      </p:sp>
      <p:pic>
        <p:nvPicPr>
          <p:cNvPr id="2" name="object 2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1254892" y="6316636"/>
            <a:ext cx="633620" cy="304787"/>
          </a:xfrm>
          <a:prstGeom prst="rect">
            <a:avLst/>
          </a:prstGeom>
        </p:spPr>
      </p:pic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5"/>
              </a:spcBef>
            </a:pPr>
            <a:fld id="{81D60167-4931-47E6-BA6A-407CBD079E47}" type="slidenum">
              <a:rPr spc="-50" dirty="0"/>
              <a:t>2</a:t>
            </a:fld>
            <a:endParaRPr spc="-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23708" rIns="0" bIns="0" rtlCol="0">
            <a:spAutoFit/>
          </a:bodyPr>
          <a:lstStyle/>
          <a:p>
            <a:pPr marL="123825">
              <a:lnSpc>
                <a:spcPct val="100000"/>
              </a:lnSpc>
              <a:spcBef>
                <a:spcPts val="100"/>
              </a:spcBef>
            </a:pPr>
            <a:r>
              <a:rPr dirty="0"/>
              <a:t>Business</a:t>
            </a:r>
            <a:r>
              <a:rPr spc="-125" dirty="0"/>
              <a:t> </a:t>
            </a:r>
            <a:r>
              <a:rPr spc="-10" dirty="0"/>
              <a:t>Goals</a:t>
            </a: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867140" y="0"/>
            <a:ext cx="3324859" cy="2416058"/>
          </a:xfrm>
          <a:prstGeom prst="rect">
            <a:avLst/>
          </a:prstGeom>
        </p:spPr>
      </p:pic>
      <p:sp>
        <p:nvSpPr>
          <p:cNvPr id="3" name="object 3"/>
          <p:cNvSpPr/>
          <p:nvPr/>
        </p:nvSpPr>
        <p:spPr>
          <a:xfrm>
            <a:off x="946673" y="1863750"/>
            <a:ext cx="731520" cy="0"/>
          </a:xfrm>
          <a:custGeom>
            <a:avLst/>
            <a:gdLst/>
            <a:ahLst/>
            <a:cxnLst/>
            <a:rect l="l" t="t" r="r" b="b"/>
            <a:pathLst>
              <a:path w="731519">
                <a:moveTo>
                  <a:pt x="0" y="0"/>
                </a:moveTo>
                <a:lnTo>
                  <a:pt x="731520" y="0"/>
                </a:lnTo>
              </a:path>
            </a:pathLst>
          </a:custGeom>
          <a:ln w="41274">
            <a:solidFill>
              <a:srgbClr val="9B888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916548" y="2362885"/>
            <a:ext cx="10059035" cy="26549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400" b="1" dirty="0">
                <a:solidFill>
                  <a:srgbClr val="4D4D4F"/>
                </a:solidFill>
                <a:latin typeface="Arial"/>
                <a:cs typeface="Arial"/>
              </a:rPr>
              <a:t>Supports</a:t>
            </a:r>
            <a:r>
              <a:rPr sz="1400" b="1" spc="-1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rgbClr val="4D4D4F"/>
                </a:solidFill>
                <a:latin typeface="Arial"/>
                <a:cs typeface="Arial"/>
              </a:rPr>
              <a:t>our</a:t>
            </a:r>
            <a:r>
              <a:rPr sz="1400" b="1" spc="-1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rgbClr val="4D4D4F"/>
                </a:solidFill>
                <a:latin typeface="Arial"/>
                <a:cs typeface="Arial"/>
              </a:rPr>
              <a:t>Plan</a:t>
            </a:r>
            <a:r>
              <a:rPr sz="1400" b="1" spc="-1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rgbClr val="4D4D4F"/>
                </a:solidFill>
                <a:latin typeface="Arial"/>
                <a:cs typeface="Arial"/>
              </a:rPr>
              <a:t>20|30</a:t>
            </a:r>
            <a:r>
              <a:rPr sz="1400" b="1" spc="-1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rgbClr val="4D4D4F"/>
                </a:solidFill>
                <a:latin typeface="Arial"/>
                <a:cs typeface="Arial"/>
              </a:rPr>
              <a:t>Wave</a:t>
            </a:r>
            <a:r>
              <a:rPr sz="1400" b="1" spc="-1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rgbClr val="4D4D4F"/>
                </a:solidFill>
                <a:latin typeface="Arial"/>
                <a:cs typeface="Arial"/>
              </a:rPr>
              <a:t>2</a:t>
            </a:r>
            <a:r>
              <a:rPr sz="1400" b="1" spc="-1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rgbClr val="4D4D4F"/>
                </a:solidFill>
                <a:latin typeface="Arial"/>
                <a:cs typeface="Arial"/>
              </a:rPr>
              <a:t>goals</a:t>
            </a:r>
            <a:r>
              <a:rPr sz="1400" b="1" spc="-1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rgbClr val="4D4D4F"/>
                </a:solidFill>
                <a:latin typeface="Arial"/>
                <a:cs typeface="Arial"/>
              </a:rPr>
              <a:t>to</a:t>
            </a:r>
            <a:r>
              <a:rPr sz="1400" b="1" spc="-1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rgbClr val="4D4D4F"/>
                </a:solidFill>
                <a:latin typeface="Arial"/>
                <a:cs typeface="Arial"/>
              </a:rPr>
              <a:t>strengthen</a:t>
            </a:r>
            <a:r>
              <a:rPr sz="1400" b="1" spc="-1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rgbClr val="4D4D4F"/>
                </a:solidFill>
                <a:latin typeface="Arial"/>
                <a:cs typeface="Arial"/>
              </a:rPr>
              <a:t>efficiency</a:t>
            </a:r>
            <a:r>
              <a:rPr sz="1400" b="1" spc="-1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rgbClr val="4D4D4F"/>
                </a:solidFill>
                <a:latin typeface="Arial"/>
                <a:cs typeface="Arial"/>
              </a:rPr>
              <a:t>and</a:t>
            </a:r>
            <a:r>
              <a:rPr sz="1400" b="1" spc="-1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rgbClr val="4D4D4F"/>
                </a:solidFill>
                <a:latin typeface="Arial"/>
                <a:cs typeface="Arial"/>
              </a:rPr>
              <a:t>quality</a:t>
            </a:r>
            <a:r>
              <a:rPr sz="1400" b="1" spc="-1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rgbClr val="4D4D4F"/>
                </a:solidFill>
                <a:latin typeface="Arial"/>
                <a:cs typeface="Arial"/>
              </a:rPr>
              <a:t>–</a:t>
            </a:r>
            <a:r>
              <a:rPr sz="1400" b="1" spc="-1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rgbClr val="4D4D4F"/>
                </a:solidFill>
                <a:latin typeface="Arial"/>
                <a:cs typeface="Arial"/>
              </a:rPr>
              <a:t>modernizing</a:t>
            </a:r>
            <a:r>
              <a:rPr sz="1400" b="1" spc="-1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rgbClr val="4D4D4F"/>
                </a:solidFill>
                <a:latin typeface="Arial"/>
                <a:cs typeface="Arial"/>
              </a:rPr>
              <a:t>technology,</a:t>
            </a:r>
            <a:r>
              <a:rPr sz="1400" b="1" spc="-1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rgbClr val="4D4D4F"/>
                </a:solidFill>
                <a:latin typeface="Arial"/>
                <a:cs typeface="Arial"/>
              </a:rPr>
              <a:t>reducing</a:t>
            </a:r>
            <a:r>
              <a:rPr sz="1400" b="1" spc="-1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400" b="1" spc="-10" dirty="0">
                <a:solidFill>
                  <a:srgbClr val="4D4D4F"/>
                </a:solidFill>
                <a:latin typeface="Arial"/>
                <a:cs typeface="Arial"/>
              </a:rPr>
              <a:t>outside </a:t>
            </a:r>
            <a:r>
              <a:rPr sz="1400" b="1" dirty="0">
                <a:solidFill>
                  <a:srgbClr val="4D4D4F"/>
                </a:solidFill>
                <a:latin typeface="Arial"/>
                <a:cs typeface="Arial"/>
              </a:rPr>
              <a:t>dependencies,</a:t>
            </a:r>
            <a:r>
              <a:rPr sz="1400" b="1" spc="-2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rgbClr val="4D4D4F"/>
                </a:solidFill>
                <a:latin typeface="Arial"/>
                <a:cs typeface="Arial"/>
              </a:rPr>
              <a:t>lowering</a:t>
            </a:r>
            <a:r>
              <a:rPr sz="1400" b="1" spc="-2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rgbClr val="4D4D4F"/>
                </a:solidFill>
                <a:latin typeface="Arial"/>
                <a:cs typeface="Arial"/>
              </a:rPr>
              <a:t>costs,</a:t>
            </a:r>
            <a:r>
              <a:rPr sz="1400" b="1" spc="-1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rgbClr val="4D4D4F"/>
                </a:solidFill>
                <a:latin typeface="Arial"/>
                <a:cs typeface="Arial"/>
              </a:rPr>
              <a:t>and</a:t>
            </a:r>
            <a:r>
              <a:rPr sz="1400" b="1" spc="-2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rgbClr val="4D4D4F"/>
                </a:solidFill>
                <a:latin typeface="Arial"/>
                <a:cs typeface="Arial"/>
              </a:rPr>
              <a:t>improving</a:t>
            </a:r>
            <a:r>
              <a:rPr sz="1400" b="1" spc="-2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rgbClr val="4D4D4F"/>
                </a:solidFill>
                <a:latin typeface="Arial"/>
                <a:cs typeface="Arial"/>
              </a:rPr>
              <a:t>data</a:t>
            </a:r>
            <a:r>
              <a:rPr sz="1400" b="1" spc="-1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rgbClr val="4D4D4F"/>
                </a:solidFill>
                <a:latin typeface="Arial"/>
                <a:cs typeface="Arial"/>
              </a:rPr>
              <a:t>security</a:t>
            </a:r>
            <a:r>
              <a:rPr sz="1400" b="1" spc="-2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rgbClr val="4D4D4F"/>
                </a:solidFill>
                <a:latin typeface="Arial"/>
                <a:cs typeface="Arial"/>
              </a:rPr>
              <a:t>and</a:t>
            </a:r>
            <a:r>
              <a:rPr sz="1400" b="1" spc="-2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400" b="1" spc="-10" dirty="0">
                <a:solidFill>
                  <a:srgbClr val="4D4D4F"/>
                </a:solidFill>
                <a:latin typeface="Arial"/>
                <a:cs typeface="Arial"/>
              </a:rPr>
              <a:t>analytics.</a:t>
            </a:r>
            <a:endParaRPr sz="14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600"/>
              </a:spcBef>
            </a:pPr>
            <a:r>
              <a:rPr sz="1250" spc="409" dirty="0">
                <a:solidFill>
                  <a:srgbClr val="00778A"/>
                </a:solidFill>
                <a:latin typeface="Segoe UI Symbol"/>
                <a:cs typeface="Segoe UI Symbol"/>
              </a:rPr>
              <a:t>❯</a:t>
            </a:r>
            <a:r>
              <a:rPr sz="1250" spc="35" dirty="0">
                <a:solidFill>
                  <a:srgbClr val="00778A"/>
                </a:solidFill>
                <a:latin typeface="Segoe UI Symbol"/>
                <a:cs typeface="Segoe UI Symbol"/>
              </a:rPr>
              <a:t> </a:t>
            </a:r>
            <a:r>
              <a:rPr sz="1400" b="1" dirty="0">
                <a:solidFill>
                  <a:srgbClr val="4D4D4F"/>
                </a:solidFill>
                <a:latin typeface="Arial"/>
                <a:cs typeface="Arial"/>
              </a:rPr>
              <a:t>What</a:t>
            </a:r>
            <a:r>
              <a:rPr sz="1400" b="1" spc="-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rgbClr val="4D4D4F"/>
                </a:solidFill>
                <a:latin typeface="Arial"/>
                <a:cs typeface="Arial"/>
              </a:rPr>
              <a:t>we</a:t>
            </a:r>
            <a:r>
              <a:rPr sz="1400" b="1" spc="-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rgbClr val="4D4D4F"/>
                </a:solidFill>
                <a:latin typeface="Arial"/>
                <a:cs typeface="Arial"/>
              </a:rPr>
              <a:t>want</a:t>
            </a:r>
            <a:r>
              <a:rPr sz="1400" b="1" spc="-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rgbClr val="4D4D4F"/>
                </a:solidFill>
                <a:latin typeface="Arial"/>
                <a:cs typeface="Arial"/>
              </a:rPr>
              <a:t>to </a:t>
            </a:r>
            <a:r>
              <a:rPr sz="1400" b="1" spc="-10" dirty="0">
                <a:solidFill>
                  <a:srgbClr val="4D4D4F"/>
                </a:solidFill>
                <a:latin typeface="Arial"/>
                <a:cs typeface="Arial"/>
              </a:rPr>
              <a:t>achieve</a:t>
            </a:r>
            <a:endParaRPr sz="1400">
              <a:latin typeface="Arial"/>
              <a:cs typeface="Arial"/>
            </a:endParaRPr>
          </a:p>
          <a:p>
            <a:pPr marL="423545" indent="-182245">
              <a:lnSpc>
                <a:spcPct val="100000"/>
              </a:lnSpc>
              <a:spcBef>
                <a:spcPts val="600"/>
              </a:spcBef>
              <a:buClr>
                <a:srgbClr val="00778A"/>
              </a:buClr>
              <a:buFont typeface="Arial"/>
              <a:buChar char="•"/>
              <a:tabLst>
                <a:tab pos="423545" algn="l"/>
              </a:tabLst>
            </a:pPr>
            <a:r>
              <a:rPr sz="1250" b="1" dirty="0">
                <a:solidFill>
                  <a:srgbClr val="4D4D4F"/>
                </a:solidFill>
                <a:latin typeface="Arial"/>
                <a:cs typeface="Arial"/>
              </a:rPr>
              <a:t>Modernize</a:t>
            </a:r>
            <a:r>
              <a:rPr sz="1250" b="1" spc="-3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50" b="1" dirty="0">
                <a:solidFill>
                  <a:srgbClr val="4D4D4F"/>
                </a:solidFill>
                <a:latin typeface="Arial"/>
                <a:cs typeface="Arial"/>
              </a:rPr>
              <a:t>–</a:t>
            </a:r>
            <a:r>
              <a:rPr sz="1250" b="1" spc="-3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50" dirty="0">
                <a:solidFill>
                  <a:srgbClr val="4D4D4F"/>
                </a:solidFill>
                <a:latin typeface="Arial"/>
                <a:cs typeface="Arial"/>
              </a:rPr>
              <a:t>move</a:t>
            </a:r>
            <a:r>
              <a:rPr sz="1250" spc="-3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50" dirty="0">
                <a:solidFill>
                  <a:srgbClr val="4D4D4F"/>
                </a:solidFill>
                <a:latin typeface="Arial"/>
                <a:cs typeface="Arial"/>
              </a:rPr>
              <a:t>to</a:t>
            </a:r>
            <a:r>
              <a:rPr sz="1250" spc="-3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50" dirty="0">
                <a:solidFill>
                  <a:srgbClr val="4D4D4F"/>
                </a:solidFill>
                <a:latin typeface="Arial"/>
                <a:cs typeface="Arial"/>
              </a:rPr>
              <a:t>a</a:t>
            </a:r>
            <a:r>
              <a:rPr sz="1250" spc="-3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50" dirty="0">
                <a:solidFill>
                  <a:srgbClr val="4D4D4F"/>
                </a:solidFill>
                <a:latin typeface="Arial"/>
                <a:cs typeface="Arial"/>
              </a:rPr>
              <a:t>modern,</a:t>
            </a:r>
            <a:r>
              <a:rPr sz="1250" spc="-3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50" spc="-20" dirty="0">
                <a:solidFill>
                  <a:srgbClr val="4D4D4F"/>
                </a:solidFill>
                <a:latin typeface="Arial"/>
                <a:cs typeface="Arial"/>
              </a:rPr>
              <a:t>cloud-</a:t>
            </a:r>
            <a:r>
              <a:rPr sz="1250" dirty="0">
                <a:solidFill>
                  <a:srgbClr val="4D4D4F"/>
                </a:solidFill>
                <a:latin typeface="Arial"/>
                <a:cs typeface="Arial"/>
              </a:rPr>
              <a:t>based</a:t>
            </a:r>
            <a:r>
              <a:rPr sz="1250" spc="-3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50" dirty="0">
                <a:solidFill>
                  <a:srgbClr val="4D4D4F"/>
                </a:solidFill>
                <a:latin typeface="Arial"/>
                <a:cs typeface="Arial"/>
              </a:rPr>
              <a:t>data</a:t>
            </a:r>
            <a:r>
              <a:rPr sz="1250" spc="-3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50" spc="-10" dirty="0">
                <a:solidFill>
                  <a:srgbClr val="4D4D4F"/>
                </a:solidFill>
                <a:latin typeface="Arial"/>
                <a:cs typeface="Arial"/>
              </a:rPr>
              <a:t>platform.</a:t>
            </a:r>
            <a:endParaRPr sz="1250">
              <a:latin typeface="Arial"/>
              <a:cs typeface="Arial"/>
            </a:endParaRPr>
          </a:p>
          <a:p>
            <a:pPr marL="423545" indent="-182245">
              <a:lnSpc>
                <a:spcPct val="100000"/>
              </a:lnSpc>
              <a:spcBef>
                <a:spcPts val="600"/>
              </a:spcBef>
              <a:buClr>
                <a:srgbClr val="00778A"/>
              </a:buClr>
              <a:buFont typeface="Arial"/>
              <a:buChar char="•"/>
              <a:tabLst>
                <a:tab pos="423545" algn="l"/>
              </a:tabLst>
            </a:pPr>
            <a:r>
              <a:rPr sz="1250" b="1" dirty="0">
                <a:solidFill>
                  <a:srgbClr val="4D4D4F"/>
                </a:solidFill>
                <a:latin typeface="Arial"/>
                <a:cs typeface="Arial"/>
              </a:rPr>
              <a:t>Simplify</a:t>
            </a:r>
            <a:r>
              <a:rPr sz="1250" b="1" spc="-4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50" b="1" dirty="0">
                <a:solidFill>
                  <a:srgbClr val="4D4D4F"/>
                </a:solidFill>
                <a:latin typeface="Arial"/>
                <a:cs typeface="Arial"/>
              </a:rPr>
              <a:t>and</a:t>
            </a:r>
            <a:r>
              <a:rPr sz="1250" b="1" spc="-4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50" b="1" dirty="0">
                <a:solidFill>
                  <a:srgbClr val="4D4D4F"/>
                </a:solidFill>
                <a:latin typeface="Arial"/>
                <a:cs typeface="Arial"/>
              </a:rPr>
              <a:t>consolidate</a:t>
            </a:r>
            <a:r>
              <a:rPr sz="1250" b="1" spc="-4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50" b="1" dirty="0">
                <a:solidFill>
                  <a:srgbClr val="4D4D4F"/>
                </a:solidFill>
                <a:latin typeface="Arial"/>
                <a:cs typeface="Arial"/>
              </a:rPr>
              <a:t>–</a:t>
            </a:r>
            <a:r>
              <a:rPr sz="1250" b="1" spc="-4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50" dirty="0">
                <a:solidFill>
                  <a:srgbClr val="4D4D4F"/>
                </a:solidFill>
                <a:latin typeface="Arial"/>
                <a:cs typeface="Arial"/>
              </a:rPr>
              <a:t>improve</a:t>
            </a:r>
            <a:r>
              <a:rPr sz="1250" spc="-4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50" dirty="0">
                <a:solidFill>
                  <a:srgbClr val="4D4D4F"/>
                </a:solidFill>
                <a:latin typeface="Arial"/>
                <a:cs typeface="Arial"/>
              </a:rPr>
              <a:t>how</a:t>
            </a:r>
            <a:r>
              <a:rPr sz="1250" spc="-4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50" dirty="0">
                <a:solidFill>
                  <a:srgbClr val="4D4D4F"/>
                </a:solidFill>
                <a:latin typeface="Arial"/>
                <a:cs typeface="Arial"/>
              </a:rPr>
              <a:t>data</a:t>
            </a:r>
            <a:r>
              <a:rPr sz="1250" spc="-4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50" dirty="0">
                <a:solidFill>
                  <a:srgbClr val="4D4D4F"/>
                </a:solidFill>
                <a:latin typeface="Arial"/>
                <a:cs typeface="Arial"/>
              </a:rPr>
              <a:t>and</a:t>
            </a:r>
            <a:r>
              <a:rPr sz="1250" spc="-4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50" dirty="0">
                <a:solidFill>
                  <a:srgbClr val="4D4D4F"/>
                </a:solidFill>
                <a:latin typeface="Arial"/>
                <a:cs typeface="Arial"/>
              </a:rPr>
              <a:t>reporting</a:t>
            </a:r>
            <a:r>
              <a:rPr sz="1250" spc="-4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50" dirty="0">
                <a:solidFill>
                  <a:srgbClr val="4D4D4F"/>
                </a:solidFill>
                <a:latin typeface="Arial"/>
                <a:cs typeface="Arial"/>
              </a:rPr>
              <a:t>are</a:t>
            </a:r>
            <a:r>
              <a:rPr sz="1250" spc="-4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50" spc="-10" dirty="0">
                <a:solidFill>
                  <a:srgbClr val="4D4D4F"/>
                </a:solidFill>
                <a:latin typeface="Arial"/>
                <a:cs typeface="Arial"/>
              </a:rPr>
              <a:t>delivered</a:t>
            </a:r>
            <a:r>
              <a:rPr sz="1250" spc="-4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50" dirty="0">
                <a:solidFill>
                  <a:srgbClr val="4D4D4F"/>
                </a:solidFill>
                <a:latin typeface="Arial"/>
                <a:cs typeface="Arial"/>
              </a:rPr>
              <a:t>and</a:t>
            </a:r>
            <a:r>
              <a:rPr sz="1250" spc="-4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50" dirty="0">
                <a:solidFill>
                  <a:srgbClr val="4D4D4F"/>
                </a:solidFill>
                <a:latin typeface="Arial"/>
                <a:cs typeface="Arial"/>
              </a:rPr>
              <a:t>remove</a:t>
            </a:r>
            <a:r>
              <a:rPr sz="1250" spc="-4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50" dirty="0">
                <a:solidFill>
                  <a:srgbClr val="4D4D4F"/>
                </a:solidFill>
                <a:latin typeface="Arial"/>
                <a:cs typeface="Arial"/>
              </a:rPr>
              <a:t>duplicate</a:t>
            </a:r>
            <a:r>
              <a:rPr sz="1250" spc="-4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50" spc="-10" dirty="0">
                <a:solidFill>
                  <a:srgbClr val="4D4D4F"/>
                </a:solidFill>
                <a:latin typeface="Arial"/>
                <a:cs typeface="Arial"/>
              </a:rPr>
              <a:t>tools.</a:t>
            </a:r>
            <a:endParaRPr sz="1250">
              <a:latin typeface="Arial"/>
              <a:cs typeface="Arial"/>
            </a:endParaRPr>
          </a:p>
          <a:p>
            <a:pPr marL="423545" indent="-182245">
              <a:lnSpc>
                <a:spcPct val="100000"/>
              </a:lnSpc>
              <a:spcBef>
                <a:spcPts val="600"/>
              </a:spcBef>
              <a:buClr>
                <a:srgbClr val="00778A"/>
              </a:buClr>
              <a:buFont typeface="Arial"/>
              <a:buChar char="•"/>
              <a:tabLst>
                <a:tab pos="423545" algn="l"/>
              </a:tabLst>
            </a:pPr>
            <a:r>
              <a:rPr sz="1250" b="1" dirty="0">
                <a:solidFill>
                  <a:srgbClr val="4D4D4F"/>
                </a:solidFill>
                <a:latin typeface="Arial"/>
                <a:cs typeface="Arial"/>
              </a:rPr>
              <a:t>Lower</a:t>
            </a:r>
            <a:r>
              <a:rPr sz="1250" b="1" spc="-4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50" b="1" dirty="0">
                <a:solidFill>
                  <a:srgbClr val="4D4D4F"/>
                </a:solidFill>
                <a:latin typeface="Arial"/>
                <a:cs typeface="Arial"/>
              </a:rPr>
              <a:t>costs</a:t>
            </a:r>
            <a:r>
              <a:rPr sz="1250" b="1" spc="-4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50" b="1" dirty="0">
                <a:solidFill>
                  <a:srgbClr val="4D4D4F"/>
                </a:solidFill>
                <a:latin typeface="Arial"/>
                <a:cs typeface="Arial"/>
              </a:rPr>
              <a:t>–</a:t>
            </a:r>
            <a:r>
              <a:rPr sz="1250" b="1" spc="-4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50" dirty="0">
                <a:solidFill>
                  <a:srgbClr val="4D4D4F"/>
                </a:solidFill>
                <a:latin typeface="Arial"/>
                <a:cs typeface="Arial"/>
              </a:rPr>
              <a:t>reduce</a:t>
            </a:r>
            <a:r>
              <a:rPr sz="1250" spc="-4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50" dirty="0">
                <a:solidFill>
                  <a:srgbClr val="4D4D4F"/>
                </a:solidFill>
                <a:latin typeface="Arial"/>
                <a:cs typeface="Arial"/>
              </a:rPr>
              <a:t>technology</a:t>
            </a:r>
            <a:r>
              <a:rPr sz="1250" spc="-4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50" dirty="0">
                <a:solidFill>
                  <a:srgbClr val="4D4D4F"/>
                </a:solidFill>
                <a:latin typeface="Arial"/>
                <a:cs typeface="Arial"/>
              </a:rPr>
              <a:t>and</a:t>
            </a:r>
            <a:r>
              <a:rPr sz="1250" spc="-4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50" dirty="0">
                <a:solidFill>
                  <a:srgbClr val="4D4D4F"/>
                </a:solidFill>
                <a:latin typeface="Arial"/>
                <a:cs typeface="Arial"/>
              </a:rPr>
              <a:t>support</a:t>
            </a:r>
            <a:r>
              <a:rPr sz="1250" spc="-4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50" dirty="0">
                <a:solidFill>
                  <a:srgbClr val="4D4D4F"/>
                </a:solidFill>
                <a:latin typeface="Arial"/>
                <a:cs typeface="Arial"/>
              </a:rPr>
              <a:t>costs</a:t>
            </a:r>
            <a:r>
              <a:rPr sz="1250" spc="-4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50" dirty="0">
                <a:solidFill>
                  <a:srgbClr val="4D4D4F"/>
                </a:solidFill>
                <a:latin typeface="Arial"/>
                <a:cs typeface="Arial"/>
              </a:rPr>
              <a:t>while</a:t>
            </a:r>
            <a:r>
              <a:rPr sz="1250" spc="-4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50" spc="-10" dirty="0">
                <a:solidFill>
                  <a:srgbClr val="4D4D4F"/>
                </a:solidFill>
                <a:latin typeface="Arial"/>
                <a:cs typeface="Arial"/>
              </a:rPr>
              <a:t>maintaining</a:t>
            </a:r>
            <a:r>
              <a:rPr sz="1250" spc="-4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50" dirty="0">
                <a:solidFill>
                  <a:srgbClr val="4D4D4F"/>
                </a:solidFill>
                <a:latin typeface="Arial"/>
                <a:cs typeface="Arial"/>
              </a:rPr>
              <a:t>service</a:t>
            </a:r>
            <a:r>
              <a:rPr sz="1250" spc="-4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50" spc="-10" dirty="0">
                <a:solidFill>
                  <a:srgbClr val="4D4D4F"/>
                </a:solidFill>
                <a:latin typeface="Arial"/>
                <a:cs typeface="Arial"/>
              </a:rPr>
              <a:t>levels.</a:t>
            </a:r>
            <a:endParaRPr sz="125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600"/>
              </a:spcBef>
            </a:pPr>
            <a:r>
              <a:rPr sz="1250" spc="409" dirty="0">
                <a:solidFill>
                  <a:srgbClr val="00778A"/>
                </a:solidFill>
                <a:latin typeface="Segoe UI Symbol"/>
                <a:cs typeface="Segoe UI Symbol"/>
              </a:rPr>
              <a:t>❯</a:t>
            </a:r>
            <a:r>
              <a:rPr sz="1250" spc="25" dirty="0">
                <a:solidFill>
                  <a:srgbClr val="00778A"/>
                </a:solidFill>
                <a:latin typeface="Segoe UI Symbol"/>
                <a:cs typeface="Segoe UI Symbol"/>
              </a:rPr>
              <a:t> </a:t>
            </a:r>
            <a:r>
              <a:rPr sz="1400" b="1" dirty="0">
                <a:solidFill>
                  <a:srgbClr val="4D4D4F"/>
                </a:solidFill>
                <a:latin typeface="Arial"/>
                <a:cs typeface="Arial"/>
              </a:rPr>
              <a:t>How</a:t>
            </a:r>
            <a:r>
              <a:rPr sz="1400" b="1" spc="-1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rgbClr val="4D4D4F"/>
                </a:solidFill>
                <a:latin typeface="Arial"/>
                <a:cs typeface="Arial"/>
              </a:rPr>
              <a:t>we’ll</a:t>
            </a:r>
            <a:r>
              <a:rPr sz="1400" b="1" spc="-1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rgbClr val="4D4D4F"/>
                </a:solidFill>
                <a:latin typeface="Arial"/>
                <a:cs typeface="Arial"/>
              </a:rPr>
              <a:t>measure</a:t>
            </a:r>
            <a:r>
              <a:rPr sz="1400" b="1" spc="-10" dirty="0">
                <a:solidFill>
                  <a:srgbClr val="4D4D4F"/>
                </a:solidFill>
                <a:latin typeface="Arial"/>
                <a:cs typeface="Arial"/>
              </a:rPr>
              <a:t> success</a:t>
            </a:r>
            <a:endParaRPr sz="1400">
              <a:latin typeface="Arial"/>
              <a:cs typeface="Arial"/>
            </a:endParaRPr>
          </a:p>
          <a:p>
            <a:pPr marL="423545" indent="-182245">
              <a:lnSpc>
                <a:spcPct val="100000"/>
              </a:lnSpc>
              <a:spcBef>
                <a:spcPts val="600"/>
              </a:spcBef>
              <a:buClr>
                <a:srgbClr val="00778A"/>
              </a:buClr>
              <a:buChar char="•"/>
              <a:tabLst>
                <a:tab pos="423545" algn="l"/>
              </a:tabLst>
            </a:pPr>
            <a:r>
              <a:rPr sz="1250" dirty="0">
                <a:solidFill>
                  <a:srgbClr val="4D4D4F"/>
                </a:solidFill>
                <a:latin typeface="Arial"/>
                <a:cs typeface="Arial"/>
              </a:rPr>
              <a:t>A</a:t>
            </a:r>
            <a:r>
              <a:rPr sz="1250" spc="-3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50" dirty="0">
                <a:solidFill>
                  <a:srgbClr val="4D4D4F"/>
                </a:solidFill>
                <a:latin typeface="Arial"/>
                <a:cs typeface="Arial"/>
              </a:rPr>
              <a:t>working</a:t>
            </a:r>
            <a:r>
              <a:rPr sz="1250" spc="-3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50" dirty="0">
                <a:solidFill>
                  <a:srgbClr val="4D4D4F"/>
                </a:solidFill>
                <a:latin typeface="Arial"/>
                <a:cs typeface="Arial"/>
              </a:rPr>
              <a:t>trial</a:t>
            </a:r>
            <a:r>
              <a:rPr sz="1250" spc="-3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50" dirty="0">
                <a:solidFill>
                  <a:srgbClr val="4D4D4F"/>
                </a:solidFill>
                <a:latin typeface="Arial"/>
                <a:cs typeface="Arial"/>
              </a:rPr>
              <a:t>of</a:t>
            </a:r>
            <a:r>
              <a:rPr sz="1250" spc="-3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50" dirty="0">
                <a:solidFill>
                  <a:srgbClr val="4D4D4F"/>
                </a:solidFill>
                <a:latin typeface="Arial"/>
                <a:cs typeface="Arial"/>
              </a:rPr>
              <a:t>the</a:t>
            </a:r>
            <a:r>
              <a:rPr sz="1250" spc="-3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50" dirty="0">
                <a:solidFill>
                  <a:srgbClr val="4D4D4F"/>
                </a:solidFill>
                <a:latin typeface="Arial"/>
                <a:cs typeface="Arial"/>
              </a:rPr>
              <a:t>new</a:t>
            </a:r>
            <a:r>
              <a:rPr sz="1250" spc="-2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50" dirty="0">
                <a:solidFill>
                  <a:srgbClr val="4D4D4F"/>
                </a:solidFill>
                <a:latin typeface="Arial"/>
                <a:cs typeface="Arial"/>
              </a:rPr>
              <a:t>platform</a:t>
            </a:r>
            <a:r>
              <a:rPr sz="1250" spc="-3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50" dirty="0">
                <a:solidFill>
                  <a:srgbClr val="4D4D4F"/>
                </a:solidFill>
                <a:latin typeface="Arial"/>
                <a:cs typeface="Arial"/>
              </a:rPr>
              <a:t>with</a:t>
            </a:r>
            <a:r>
              <a:rPr sz="1250" spc="-3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50" dirty="0">
                <a:solidFill>
                  <a:srgbClr val="4D4D4F"/>
                </a:solidFill>
                <a:latin typeface="Arial"/>
                <a:cs typeface="Arial"/>
              </a:rPr>
              <a:t>the</a:t>
            </a:r>
            <a:r>
              <a:rPr sz="1250" spc="-3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50" dirty="0">
                <a:solidFill>
                  <a:srgbClr val="4D4D4F"/>
                </a:solidFill>
                <a:latin typeface="Arial"/>
                <a:cs typeface="Arial"/>
              </a:rPr>
              <a:t>right</a:t>
            </a:r>
            <a:r>
              <a:rPr sz="1250" spc="-3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50" dirty="0">
                <a:solidFill>
                  <a:srgbClr val="4D4D4F"/>
                </a:solidFill>
                <a:latin typeface="Arial"/>
                <a:cs typeface="Arial"/>
              </a:rPr>
              <a:t>security</a:t>
            </a:r>
            <a:r>
              <a:rPr sz="1250" spc="-2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50" dirty="0">
                <a:solidFill>
                  <a:srgbClr val="4D4D4F"/>
                </a:solidFill>
                <a:latin typeface="Arial"/>
                <a:cs typeface="Arial"/>
              </a:rPr>
              <a:t>and</a:t>
            </a:r>
            <a:r>
              <a:rPr sz="1250" spc="-3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50" spc="-10" dirty="0">
                <a:solidFill>
                  <a:srgbClr val="4D4D4F"/>
                </a:solidFill>
                <a:latin typeface="Arial"/>
                <a:cs typeface="Arial"/>
              </a:rPr>
              <a:t>governance</a:t>
            </a:r>
            <a:r>
              <a:rPr sz="1250" spc="-3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50" dirty="0">
                <a:solidFill>
                  <a:srgbClr val="4D4D4F"/>
                </a:solidFill>
                <a:latin typeface="Arial"/>
                <a:cs typeface="Arial"/>
              </a:rPr>
              <a:t>in</a:t>
            </a:r>
            <a:r>
              <a:rPr sz="1250" spc="-3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50" dirty="0">
                <a:solidFill>
                  <a:srgbClr val="4D4D4F"/>
                </a:solidFill>
                <a:latin typeface="Arial"/>
                <a:cs typeface="Arial"/>
              </a:rPr>
              <a:t>place,</a:t>
            </a:r>
            <a:r>
              <a:rPr sz="1250" spc="-3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50" dirty="0">
                <a:solidFill>
                  <a:srgbClr val="4D4D4F"/>
                </a:solidFill>
                <a:latin typeface="Arial"/>
                <a:cs typeface="Arial"/>
              </a:rPr>
              <a:t>ending</a:t>
            </a:r>
            <a:r>
              <a:rPr sz="1250" spc="-3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50" dirty="0">
                <a:solidFill>
                  <a:srgbClr val="4D4D4F"/>
                </a:solidFill>
                <a:latin typeface="Arial"/>
                <a:cs typeface="Arial"/>
              </a:rPr>
              <a:t>in</a:t>
            </a:r>
            <a:r>
              <a:rPr sz="1250" spc="-2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50" dirty="0">
                <a:solidFill>
                  <a:srgbClr val="4D4D4F"/>
                </a:solidFill>
                <a:latin typeface="Arial"/>
                <a:cs typeface="Arial"/>
              </a:rPr>
              <a:t>a</a:t>
            </a:r>
            <a:r>
              <a:rPr sz="1250" spc="-3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50" dirty="0">
                <a:solidFill>
                  <a:srgbClr val="4D4D4F"/>
                </a:solidFill>
                <a:latin typeface="Arial"/>
                <a:cs typeface="Arial"/>
              </a:rPr>
              <a:t>clear</a:t>
            </a:r>
            <a:r>
              <a:rPr sz="1250" spc="-3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50" spc="-10" dirty="0">
                <a:solidFill>
                  <a:srgbClr val="4D4D4F"/>
                </a:solidFill>
                <a:latin typeface="Arial"/>
                <a:cs typeface="Arial"/>
              </a:rPr>
              <a:t>recommendation</a:t>
            </a:r>
            <a:r>
              <a:rPr sz="1250" spc="-3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50" dirty="0">
                <a:solidFill>
                  <a:srgbClr val="4D4D4F"/>
                </a:solidFill>
                <a:latin typeface="Arial"/>
                <a:cs typeface="Arial"/>
              </a:rPr>
              <a:t>to</a:t>
            </a:r>
            <a:r>
              <a:rPr sz="1250" spc="-3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50" spc="-10" dirty="0">
                <a:solidFill>
                  <a:srgbClr val="4D4D4F"/>
                </a:solidFill>
                <a:latin typeface="Arial"/>
                <a:cs typeface="Arial"/>
              </a:rPr>
              <a:t>leadership.</a:t>
            </a:r>
            <a:endParaRPr sz="125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600"/>
              </a:spcBef>
            </a:pPr>
            <a:r>
              <a:rPr sz="1250" spc="409" dirty="0">
                <a:solidFill>
                  <a:srgbClr val="00778A"/>
                </a:solidFill>
                <a:latin typeface="Segoe UI Symbol"/>
                <a:cs typeface="Segoe UI Symbol"/>
              </a:rPr>
              <a:t>❯</a:t>
            </a:r>
            <a:r>
              <a:rPr sz="1250" spc="20" dirty="0">
                <a:solidFill>
                  <a:srgbClr val="00778A"/>
                </a:solidFill>
                <a:latin typeface="Segoe UI Symbol"/>
                <a:cs typeface="Segoe UI Symbol"/>
              </a:rPr>
              <a:t> </a:t>
            </a:r>
            <a:r>
              <a:rPr sz="1400" b="1" dirty="0">
                <a:solidFill>
                  <a:srgbClr val="4D4D4F"/>
                </a:solidFill>
                <a:latin typeface="Arial"/>
                <a:cs typeface="Arial"/>
              </a:rPr>
              <a:t>Program</a:t>
            </a:r>
            <a:r>
              <a:rPr sz="1400" b="1" spc="-1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rgbClr val="4D4D4F"/>
                </a:solidFill>
                <a:latin typeface="Arial"/>
                <a:cs typeface="Arial"/>
              </a:rPr>
              <a:t>area</a:t>
            </a:r>
            <a:r>
              <a:rPr sz="1400" b="1" spc="-1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rgbClr val="4D4D4F"/>
                </a:solidFill>
                <a:latin typeface="Arial"/>
                <a:cs typeface="Arial"/>
              </a:rPr>
              <a:t>and</a:t>
            </a:r>
            <a:r>
              <a:rPr sz="1400" b="1" spc="-2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400" b="1" spc="-10" dirty="0">
                <a:solidFill>
                  <a:srgbClr val="4D4D4F"/>
                </a:solidFill>
                <a:latin typeface="Arial"/>
                <a:cs typeface="Arial"/>
              </a:rPr>
              <a:t>funding</a:t>
            </a:r>
            <a:endParaRPr sz="1400">
              <a:latin typeface="Arial"/>
              <a:cs typeface="Arial"/>
            </a:endParaRPr>
          </a:p>
          <a:p>
            <a:pPr marL="423545" indent="-182245">
              <a:lnSpc>
                <a:spcPct val="100000"/>
              </a:lnSpc>
              <a:spcBef>
                <a:spcPts val="600"/>
              </a:spcBef>
              <a:buClr>
                <a:srgbClr val="00778A"/>
              </a:buClr>
              <a:buChar char="•"/>
              <a:tabLst>
                <a:tab pos="423545" algn="l"/>
              </a:tabLst>
            </a:pPr>
            <a:r>
              <a:rPr sz="1250" spc="-10" dirty="0">
                <a:solidFill>
                  <a:srgbClr val="4D4D4F"/>
                </a:solidFill>
                <a:latin typeface="Arial"/>
                <a:cs typeface="Arial"/>
              </a:rPr>
              <a:t>Delivered</a:t>
            </a:r>
            <a:r>
              <a:rPr sz="1250" spc="-3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50" dirty="0">
                <a:solidFill>
                  <a:srgbClr val="4D4D4F"/>
                </a:solidFill>
                <a:latin typeface="Arial"/>
                <a:cs typeface="Arial"/>
              </a:rPr>
              <a:t>and</a:t>
            </a:r>
            <a:r>
              <a:rPr sz="1250" spc="-3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50" dirty="0">
                <a:solidFill>
                  <a:srgbClr val="4D4D4F"/>
                </a:solidFill>
                <a:latin typeface="Arial"/>
                <a:cs typeface="Arial"/>
              </a:rPr>
              <a:t>funded</a:t>
            </a:r>
            <a:r>
              <a:rPr sz="1250" spc="-3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50" dirty="0">
                <a:solidFill>
                  <a:srgbClr val="4D4D4F"/>
                </a:solidFill>
                <a:latin typeface="Arial"/>
                <a:cs typeface="Arial"/>
              </a:rPr>
              <a:t>under</a:t>
            </a:r>
            <a:r>
              <a:rPr sz="1250" spc="-3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50" dirty="0">
                <a:solidFill>
                  <a:srgbClr val="4D4D4F"/>
                </a:solidFill>
                <a:latin typeface="Arial"/>
                <a:cs typeface="Arial"/>
              </a:rPr>
              <a:t>project</a:t>
            </a:r>
            <a:r>
              <a:rPr sz="1250" spc="-3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50" dirty="0">
                <a:solidFill>
                  <a:srgbClr val="4D4D4F"/>
                </a:solidFill>
                <a:latin typeface="Arial"/>
                <a:cs typeface="Arial"/>
              </a:rPr>
              <a:t>P0905</a:t>
            </a:r>
            <a:r>
              <a:rPr sz="1250" spc="-3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50" dirty="0">
                <a:solidFill>
                  <a:srgbClr val="4D4D4F"/>
                </a:solidFill>
                <a:latin typeface="Arial"/>
                <a:cs typeface="Arial"/>
              </a:rPr>
              <a:t>(IT</a:t>
            </a:r>
            <a:r>
              <a:rPr sz="1250" spc="-3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50" spc="-10" dirty="0">
                <a:solidFill>
                  <a:srgbClr val="4D4D4F"/>
                </a:solidFill>
                <a:latin typeface="Arial"/>
                <a:cs typeface="Arial"/>
              </a:rPr>
              <a:t>Engineering),</a:t>
            </a:r>
            <a:r>
              <a:rPr sz="1250" spc="-3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50" dirty="0">
                <a:solidFill>
                  <a:srgbClr val="4D4D4F"/>
                </a:solidFill>
                <a:latin typeface="Arial"/>
                <a:cs typeface="Arial"/>
              </a:rPr>
              <a:t>within</a:t>
            </a:r>
            <a:r>
              <a:rPr sz="1250" spc="-3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50" dirty="0">
                <a:solidFill>
                  <a:srgbClr val="4D4D4F"/>
                </a:solidFill>
                <a:latin typeface="Arial"/>
                <a:cs typeface="Arial"/>
              </a:rPr>
              <a:t>the</a:t>
            </a:r>
            <a:r>
              <a:rPr sz="1250" spc="-3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50" dirty="0">
                <a:solidFill>
                  <a:srgbClr val="4D4D4F"/>
                </a:solidFill>
                <a:latin typeface="Arial"/>
                <a:cs typeface="Arial"/>
              </a:rPr>
              <a:t>approved</a:t>
            </a:r>
            <a:r>
              <a:rPr sz="1250" spc="-3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50" dirty="0">
                <a:solidFill>
                  <a:srgbClr val="4D4D4F"/>
                </a:solidFill>
                <a:latin typeface="Arial"/>
                <a:cs typeface="Arial"/>
              </a:rPr>
              <a:t>Wave</a:t>
            </a:r>
            <a:r>
              <a:rPr sz="1250" spc="-30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50" dirty="0">
                <a:solidFill>
                  <a:srgbClr val="4D4D4F"/>
                </a:solidFill>
                <a:latin typeface="Arial"/>
                <a:cs typeface="Arial"/>
              </a:rPr>
              <a:t>2</a:t>
            </a:r>
            <a:r>
              <a:rPr sz="1250" spc="-35" dirty="0">
                <a:solidFill>
                  <a:srgbClr val="4D4D4F"/>
                </a:solidFill>
                <a:latin typeface="Arial"/>
                <a:cs typeface="Arial"/>
              </a:rPr>
              <a:t> </a:t>
            </a:r>
            <a:r>
              <a:rPr sz="1250" spc="-10" dirty="0">
                <a:solidFill>
                  <a:srgbClr val="4D4D4F"/>
                </a:solidFill>
                <a:latin typeface="Arial"/>
                <a:cs typeface="Arial"/>
              </a:rPr>
              <a:t>budget.</a:t>
            </a:r>
            <a:endParaRPr sz="1250">
              <a:latin typeface="Arial"/>
              <a:cs typeface="Arial"/>
            </a:endParaRPr>
          </a:p>
        </p:txBody>
      </p:sp>
      <p:pic>
        <p:nvPicPr>
          <p:cNvPr id="2" name="object 2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1254892" y="6316636"/>
            <a:ext cx="633620" cy="304787"/>
          </a:xfrm>
          <a:prstGeom prst="rect">
            <a:avLst/>
          </a:prstGeom>
        </p:spPr>
      </p:pic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5"/>
              </a:spcBef>
            </a:pPr>
            <a:fld id="{81D60167-4931-47E6-BA6A-407CBD079E47}" type="slidenum">
              <a:rPr spc="-50" dirty="0"/>
              <a:t>3</a:t>
            </a:fld>
            <a:endParaRPr spc="-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8430" rIns="0" bIns="0" rtlCol="0">
            <a:spAutoFit/>
          </a:bodyPr>
          <a:lstStyle/>
          <a:p>
            <a:pPr marL="18415">
              <a:lnSpc>
                <a:spcPct val="100000"/>
              </a:lnSpc>
              <a:spcBef>
                <a:spcPts val="1090"/>
              </a:spcBef>
            </a:pPr>
            <a:r>
              <a:rPr dirty="0"/>
              <a:t>Platform Components</a:t>
            </a:r>
          </a:p>
          <a:p>
            <a:pPr marL="12700">
              <a:lnSpc>
                <a:spcPct val="100000"/>
              </a:lnSpc>
              <a:spcBef>
                <a:spcPts val="465"/>
              </a:spcBef>
            </a:pPr>
            <a:r>
              <a:rPr sz="1900" dirty="0">
                <a:solidFill>
                  <a:srgbClr val="00778A"/>
                </a:solidFill>
              </a:rPr>
              <a:t>W H A T   A   F A B R I C   I M P L E M E N T A T I O N   N E E D S</a:t>
            </a:r>
            <a:endParaRPr sz="1900"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848712" y="0"/>
            <a:ext cx="3324859" cy="2423363"/>
          </a:xfrm>
          <a:prstGeom prst="rect">
            <a:avLst/>
          </a:prstGeom>
        </p:spPr>
      </p:pic>
      <p:pic>
        <p:nvPicPr>
          <p:cNvPr id="2" name="object 2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1247577" y="6316636"/>
            <a:ext cx="633620" cy="304787"/>
          </a:xfrm>
          <a:prstGeom prst="rect">
            <a:avLst/>
          </a:prstGeom>
        </p:spPr>
      </p:pic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5"/>
              </a:spcBef>
            </a:pPr>
            <a:fld id="{81D60167-4931-47E6-BA6A-407CBD079E47}" type="slidenum">
              <a:rPr spc="-50" dirty="0"/>
              <a:t>4</a:t>
            </a:fld>
            <a:endParaRPr spc="-50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22376" y="1517904"/>
          <a:ext cx="10799064" cy="40599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99688"/>
                <a:gridCol w="3599688"/>
                <a:gridCol w="3599688"/>
              </a:tblGrid>
              <a:tr h="310896">
                <a:tc>
                  <a:txBody>
                    <a:bodyPr wrap="square"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Platform &amp; storage</a:t>
                      </a:r>
                    </a:p>
                  </a:txBody>
                  <a:tcPr anchor="t" marL="91440" marR="91440" marT="54864" marB="54864">
                    <a:solidFill>
                      <a:srgbClr val="0077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Ingest &amp; transform</a:t>
                      </a:r>
                    </a:p>
                  </a:txBody>
                  <a:tcPr anchor="t" marL="91440" marR="91440" marT="54864" marB="54864">
                    <a:solidFill>
                      <a:srgbClr val="0077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Serve &amp; consume</a:t>
                      </a:r>
                    </a:p>
                  </a:txBody>
                  <a:tcPr anchor="t" marL="91440" marR="91440" marT="54864" marB="54864">
                    <a:solidFill>
                      <a:srgbClr val="00778A"/>
                    </a:solidFill>
                  </a:tcPr>
                </a:tc>
              </a:tr>
              <a:tr h="1481328"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4D4D4F"/>
                          </a:solidFill>
                          <a:latin typeface="Arial"/>
                        </a:rPr>
                        <a:t>Fabric capacity (F SKU)</a:t>
                      </a:r>
                    </a:p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4D4D4F"/>
                          </a:solidFill>
                          <a:latin typeface="Arial"/>
                        </a:rPr>
                        <a:t>Workspaces</a:t>
                      </a:r>
                    </a:p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4D4D4F"/>
                          </a:solidFill>
                          <a:latin typeface="Arial"/>
                        </a:rPr>
                        <a:t>Domains</a:t>
                      </a:r>
                    </a:p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4D4D4F"/>
                          </a:solidFill>
                          <a:latin typeface="Arial"/>
                        </a:rPr>
                        <a:t>OneLake</a:t>
                      </a:r>
                    </a:p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4D4D4F"/>
                          </a:solidFill>
                          <a:latin typeface="Arial"/>
                        </a:rPr>
                        <a:t>Lakehouse</a:t>
                      </a:r>
                    </a:p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4D4D4F"/>
                          </a:solidFill>
                          <a:latin typeface="Arial"/>
                        </a:rPr>
                        <a:t>Warehouse (where T-SQL write is needed)</a:t>
                      </a:r>
                    </a:p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4D4D4F"/>
                          </a:solidFill>
                          <a:latin typeface="Arial"/>
                        </a:rPr>
                        <a:t>Shortcuts</a:t>
                      </a:r>
                    </a:p>
                  </a:txBody>
                  <a:tcPr anchor="t"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4D4D4F"/>
                          </a:solidFill>
                          <a:latin typeface="Arial"/>
                        </a:rPr>
                        <a:t>Data pipelines</a:t>
                      </a:r>
                    </a:p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4D4D4F"/>
                          </a:solidFill>
                          <a:latin typeface="Arial"/>
                        </a:rPr>
                        <a:t>Copy Job</a:t>
                      </a:r>
                    </a:p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4D4D4F"/>
                          </a:solidFill>
                          <a:latin typeface="Arial"/>
                        </a:rPr>
                        <a:t>Dataflow Gen2</a:t>
                      </a:r>
                    </a:p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4D4D4F"/>
                          </a:solidFill>
                          <a:latin typeface="Arial"/>
                        </a:rPr>
                        <a:t>Spark notebooks</a:t>
                      </a:r>
                    </a:p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4D4D4F"/>
                          </a:solidFill>
                          <a:latin typeface="Arial"/>
                        </a:rPr>
                        <a:t>Mirroring</a:t>
                      </a:r>
                    </a:p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4D4D4F"/>
                          </a:solidFill>
                          <a:latin typeface="Arial"/>
                        </a:rPr>
                        <a:t>Event / file triggers</a:t>
                      </a:r>
                    </a:p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4D4D4F"/>
                          </a:solidFill>
                          <a:latin typeface="Arial"/>
                        </a:rPr>
                        <a:t>Configuration store</a:t>
                      </a:r>
                    </a:p>
                  </a:txBody>
                  <a:tcPr anchor="t"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4D4D4F"/>
                          </a:solidFill>
                          <a:latin typeface="Arial"/>
                        </a:rPr>
                        <a:t>SQL analytics endpoint</a:t>
                      </a:r>
                    </a:p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4D4D4F"/>
                          </a:solidFill>
                          <a:latin typeface="Arial"/>
                        </a:rPr>
                        <a:t>Semantic models</a:t>
                      </a:r>
                    </a:p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4D4D4F"/>
                          </a:solidFill>
                          <a:latin typeface="Arial"/>
                        </a:rPr>
                        <a:t>Direct Lake</a:t>
                      </a:r>
                    </a:p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4D4D4F"/>
                          </a:solidFill>
                          <a:latin typeface="Arial"/>
                        </a:rPr>
                        <a:t>Power BI reports</a:t>
                      </a:r>
                    </a:p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4D4D4F"/>
                          </a:solidFill>
                          <a:latin typeface="Arial"/>
                        </a:rPr>
                        <a:t>Published apps</a:t>
                      </a:r>
                    </a:p>
                  </a:txBody>
                  <a:tcPr anchor="t" marL="91440" marR="91440" marT="54864" marB="54864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Identity &amp; access</a:t>
                      </a:r>
                    </a:p>
                  </a:txBody>
                  <a:tcPr anchor="t" marL="91440" marR="91440" marT="54864" marB="54864">
                    <a:solidFill>
                      <a:srgbClr val="0077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Connectivity</a:t>
                      </a:r>
                    </a:p>
                  </a:txBody>
                  <a:tcPr anchor="t" marL="91440" marR="91440" marT="54864" marB="54864">
                    <a:solidFill>
                      <a:srgbClr val="0077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Govern &amp; operate</a:t>
                      </a:r>
                    </a:p>
                  </a:txBody>
                  <a:tcPr anchor="t" marL="91440" marR="91440" marT="54864" marB="54864">
                    <a:solidFill>
                      <a:srgbClr val="00778A"/>
                    </a:solidFill>
                  </a:tcPr>
                </a:tc>
              </a:tr>
              <a:tr h="1481328"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4D4D4F"/>
                          </a:solidFill>
                          <a:latin typeface="Arial"/>
                        </a:rPr>
                        <a:t>Entra ID security groups</a:t>
                      </a:r>
                    </a:p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4D4D4F"/>
                          </a:solidFill>
                          <a:latin typeface="Arial"/>
                        </a:rPr>
                        <a:t>Conditional Access</a:t>
                      </a:r>
                    </a:p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4D4D4F"/>
                          </a:solidFill>
                          <a:latin typeface="Arial"/>
                        </a:rPr>
                        <a:t>Privileged Identity Management</a:t>
                      </a:r>
                    </a:p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4D4D4F"/>
                          </a:solidFill>
                          <a:latin typeface="Arial"/>
                        </a:rPr>
                        <a:t>Service principals / managed identities</a:t>
                      </a:r>
                    </a:p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4D4D4F"/>
                          </a:solidFill>
                          <a:latin typeface="Arial"/>
                        </a:rPr>
                        <a:t>Workspace roles</a:t>
                      </a:r>
                    </a:p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4D4D4F"/>
                          </a:solidFill>
                          <a:latin typeface="Arial"/>
                        </a:rPr>
                        <a:t>Item permissions</a:t>
                      </a:r>
                    </a:p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4D4D4F"/>
                          </a:solidFill>
                          <a:latin typeface="Arial"/>
                        </a:rPr>
                        <a:t>OneLake row &amp; column security, masking</a:t>
                      </a:r>
                    </a:p>
                  </a:txBody>
                  <a:tcPr anchor="t"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4D4D4F"/>
                          </a:solidFill>
                          <a:latin typeface="Arial"/>
                        </a:rPr>
                        <a:t>VNet data gateway</a:t>
                      </a:r>
                    </a:p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4D4D4F"/>
                          </a:solidFill>
                          <a:latin typeface="Arial"/>
                        </a:rPr>
                        <a:t>On-premises data gateway</a:t>
                      </a:r>
                    </a:p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4D4D4F"/>
                          </a:solidFill>
                          <a:latin typeface="Arial"/>
                        </a:rPr>
                        <a:t>Private endpoints / Private Link</a:t>
                      </a:r>
                    </a:p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4D4D4F"/>
                          </a:solidFill>
                          <a:latin typeface="Arial"/>
                        </a:rPr>
                        <a:t>ExpressRoute</a:t>
                      </a:r>
                    </a:p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4D4D4F"/>
                          </a:solidFill>
                          <a:latin typeface="Arial"/>
                        </a:rPr>
                        <a:t>Key Vault for connection secrets</a:t>
                      </a:r>
                    </a:p>
                  </a:txBody>
                  <a:tcPr anchor="t"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4D4D4F"/>
                          </a:solidFill>
                          <a:latin typeface="Arial"/>
                        </a:rPr>
                        <a:t>Git integration</a:t>
                      </a:r>
                    </a:p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4D4D4F"/>
                          </a:solidFill>
                          <a:latin typeface="Arial"/>
                        </a:rPr>
                        <a:t>Deployment pipelines</a:t>
                      </a:r>
                    </a:p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4D4D4F"/>
                          </a:solidFill>
                          <a:latin typeface="Arial"/>
                        </a:rPr>
                        <a:t>Lineage</a:t>
                      </a:r>
                    </a:p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4D4D4F"/>
                          </a:solidFill>
                          <a:latin typeface="Arial"/>
                        </a:rPr>
                        <a:t>OneLake catalog &amp; endorsement</a:t>
                      </a:r>
                    </a:p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4D4D4F"/>
                          </a:solidFill>
                          <a:latin typeface="Arial"/>
                        </a:rPr>
                        <a:t>Sensitivity labels</a:t>
                      </a:r>
                    </a:p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4D4D4F"/>
                          </a:solidFill>
                          <a:latin typeface="Arial"/>
                        </a:rPr>
                        <a:t>Audit logs</a:t>
                      </a:r>
                    </a:p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4D4D4F"/>
                          </a:solidFill>
                          <a:latin typeface="Arial"/>
                        </a:rPr>
                        <a:t>Capacity Metrics app</a:t>
                      </a:r>
                    </a:p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4D4D4F"/>
                          </a:solidFill>
                          <a:latin typeface="Arial"/>
                        </a:rPr>
                        <a:t>Purview · Sentinel (optional)</a:t>
                      </a:r>
                    </a:p>
                  </a:txBody>
                  <a:tcPr anchor="t" marL="91440" marR="91440" marT="54864" marB="54864">
                    <a:solidFill>
                      <a:srgbClr val="FFFFFF"/>
                    </a:solidFill>
                  </a:tcPr>
                </a:tc>
              </a:tr>
              <a:tr h="475488">
                <a:tc gridSpan="3"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50" b="0" i="0">
                          <a:solidFill>
                            <a:srgbClr val="28525B"/>
                          </a:solidFill>
                          <a:latin typeface="Arial"/>
                        </a:rPr>
                        <a:t>Every component above forms part of a Fabric implementation.  Which are used, and how they are configured, follows from the sources and requirements in scope — the options at each point are set out on the following slides.</a:t>
                      </a:r>
                    </a:p>
                  </a:txBody>
                  <a:tcPr anchor="t" marL="91440" marR="91440" marT="54864" marB="54864">
                    <a:solidFill>
                      <a:srgbClr val="E8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8430" rIns="0" bIns="0" rtlCol="0">
            <a:spAutoFit/>
          </a:bodyPr>
          <a:lstStyle/>
          <a:p>
            <a:pPr marL="18415">
              <a:lnSpc>
                <a:spcPct val="100000"/>
              </a:lnSpc>
              <a:spcBef>
                <a:spcPts val="1090"/>
              </a:spcBef>
            </a:pPr>
            <a:r>
              <a:rPr dirty="0"/>
              <a:t>Reference Architecture</a:t>
            </a:r>
          </a:p>
          <a:p>
            <a:pPr marL="12700">
              <a:lnSpc>
                <a:spcPct val="100000"/>
              </a:lnSpc>
              <a:spcBef>
                <a:spcPts val="465"/>
              </a:spcBef>
            </a:pPr>
            <a:r>
              <a:rPr sz="1900" spc="-20" dirty="0">
                <a:solidFill>
                  <a:srgbClr val="00778A"/>
                </a:solidFill>
              </a:rPr>
              <a:t>C O M P O N E N T S   A N D   H O W   T H E Y   F I T</a:t>
            </a:r>
            <a:endParaRPr sz="1900"/>
          </a:p>
        </p:txBody>
      </p:sp>
      <p:sp>
        <p:nvSpPr>
          <p:cNvPr id="3" name="object 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5"/>
              </a:spcBef>
            </a:pPr>
            <a:fld id="{81D60167-4931-47E6-BA6A-407CBD079E47}" type="slidenum">
              <a:rPr spc="-50" dirty="0"/>
              <a:t>5</a:t>
            </a:fld>
            <a:endParaRPr spc="-50" dirty="0"/>
          </a:p>
        </p:txBody>
      </p:sp>
      <p:pic>
        <p:nvPicPr>
          <p:cNvPr id="4" name="Picture 3" descr="d1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440" y="1481328"/>
            <a:ext cx="11247120" cy="520389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848712" y="0"/>
            <a:ext cx="3324859" cy="2423363"/>
          </a:xfrm>
          <a:prstGeom prst="rect">
            <a:avLst/>
          </a:prstGeom>
        </p:spPr>
      </p:pic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xfrm>
            <a:off x="811340" y="506135"/>
            <a:ext cx="885444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Architecture Principles</a:t>
            </a:r>
          </a:p>
        </p:txBody>
      </p:sp>
      <p:pic>
        <p:nvPicPr>
          <p:cNvPr id="2" name="object 2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1247577" y="6316636"/>
            <a:ext cx="633620" cy="304787"/>
          </a:xfrm>
          <a:prstGeom prst="rect">
            <a:avLst/>
          </a:prstGeom>
        </p:spPr>
      </p:pic>
      <p:sp>
        <p:nvSpPr>
          <p:cNvPr id="8" name="object 8"/>
          <p:cNvSpPr txBox="1"/>
          <p:nvPr/>
        </p:nvSpPr>
        <p:spPr>
          <a:xfrm>
            <a:off x="12017588" y="6510797"/>
            <a:ext cx="96520" cy="16764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000" spc="-50" dirty="0">
                <a:solidFill>
                  <a:srgbClr val="B7B7B8"/>
                </a:solidFill>
                <a:latin typeface="Arial"/>
                <a:cs typeface="Arial"/>
              </a:rPr>
              <a:t>7</a:t>
            </a:r>
            <a:endParaRPr sz="1000">
              <a:latin typeface="Arial"/>
              <a:cs typeface="Arial"/>
            </a:endParaRP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02336" y="1572768"/>
          <a:ext cx="11311127" cy="4023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31188"/>
                <a:gridCol w="7479939"/>
              </a:tblGrid>
              <a:tr h="804672"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150" b="1" i="0">
                          <a:solidFill>
                            <a:srgbClr val="28525B"/>
                          </a:solidFill>
                          <a:latin typeface="Arial"/>
                        </a:rPr>
                        <a:t>One copy of the data</a:t>
                      </a:r>
                    </a:p>
                  </a:txBody>
                  <a:tcPr anchor="t" marL="91440" marR="91440" marT="54864" marB="54864">
                    <a:solidFill>
                      <a:srgbClr val="E8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50" b="0" i="0">
                          <a:solidFill>
                            <a:srgbClr val="4D4D4F"/>
                          </a:solidFill>
                          <a:latin typeface="Arial"/>
                        </a:rPr>
                        <a:t>OneLake holds a single copy. Warehouses, semantic models and the SQL endpoint read the same storage, and shortcuts reference data in place rather than duplicating it.</a:t>
                      </a:r>
                    </a:p>
                  </a:txBody>
                  <a:tcPr anchor="t" marL="91440" marR="91440" marT="54864" marB="54864">
                    <a:solidFill>
                      <a:srgbClr val="FAFCFD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150" b="1" i="0">
                          <a:solidFill>
                            <a:srgbClr val="28525B"/>
                          </a:solidFill>
                          <a:latin typeface="Arial"/>
                        </a:rPr>
                        <a:t>Environments are hard boundaries</a:t>
                      </a:r>
                    </a:p>
                  </a:txBody>
                  <a:tcPr anchor="t" marL="91440" marR="91440" marT="54864" marB="54864">
                    <a:solidFill>
                      <a:srgbClr val="F4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50" b="0" i="0">
                          <a:solidFill>
                            <a:srgbClr val="4D4D4F"/>
                          </a:solidFill>
                          <a:latin typeface="Arial"/>
                        </a:rPr>
                        <a:t>Each environment carries its own workspaces, identities, secrets and source connections. Only code and configuration promote between them — never data, never credentials.</a:t>
                      </a:r>
                    </a:p>
                  </a:txBody>
                  <a:tcPr anchor="t" marL="91440" marR="91440" marT="54864" marB="54864">
                    <a:solidFill>
                      <a:srgbClr val="FFFFFF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150" b="1" i="0">
                          <a:solidFill>
                            <a:srgbClr val="28525B"/>
                          </a:solidFill>
                          <a:latin typeface="Arial"/>
                        </a:rPr>
                        <a:t>Access narrows layer by layer</a:t>
                      </a:r>
                    </a:p>
                  </a:txBody>
                  <a:tcPr anchor="t" marL="91440" marR="91440" marT="54864" marB="54864">
                    <a:solidFill>
                      <a:srgbClr val="E8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50" b="0" i="0">
                          <a:solidFill>
                            <a:srgbClr val="4D4D4F"/>
                          </a:solidFill>
                          <a:latin typeface="Arial"/>
                        </a:rPr>
                        <a:t>Entra groups, then workspace roles, then item permissions, then row and column security and masking — each layer narrower than the last, and granted to groups, not individuals.</a:t>
                      </a:r>
                    </a:p>
                  </a:txBody>
                  <a:tcPr anchor="t" marL="91440" marR="91440" marT="54864" marB="54864">
                    <a:solidFill>
                      <a:srgbClr val="FAFCFD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150" b="1" i="0">
                          <a:solidFill>
                            <a:srgbClr val="28525B"/>
                          </a:solidFill>
                          <a:latin typeface="Arial"/>
                        </a:rPr>
                        <a:t>Private connectivity on every path</a:t>
                      </a:r>
                    </a:p>
                  </a:txBody>
                  <a:tcPr anchor="t" marL="91440" marR="91440" marT="54864" marB="54864">
                    <a:solidFill>
                      <a:srgbClr val="F4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50" b="0" i="0">
                          <a:solidFill>
                            <a:srgbClr val="4D4D4F"/>
                          </a:solidFill>
                          <a:latin typeface="Arial"/>
                        </a:rPr>
                        <a:t>The managed VNet data gateway as the default, with a small hardened on-premises gateway cluster only where Microsoft requires it. No public-internet route to BCPC data.</a:t>
                      </a:r>
                    </a:p>
                  </a:txBody>
                  <a:tcPr anchor="t" marL="91440" marR="91440" marT="54864" marB="54864">
                    <a:solidFill>
                      <a:srgbClr val="FFFFFF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150" b="1" i="0">
                          <a:solidFill>
                            <a:srgbClr val="28525B"/>
                          </a:solidFill>
                          <a:latin typeface="Arial"/>
                        </a:rPr>
                        <a:t>Configuration over bespoke build</a:t>
                      </a:r>
                    </a:p>
                  </a:txBody>
                  <a:tcPr anchor="t" marL="91440" marR="91440" marT="54864" marB="54864">
                    <a:solidFill>
                      <a:srgbClr val="E8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50" b="0" i="0">
                          <a:solidFill>
                            <a:srgbClr val="4D4D4F"/>
                          </a:solidFill>
                          <a:latin typeface="Arial"/>
                        </a:rPr>
                        <a:t>Sources, quality rules, models and security policies declared as configuration in git, so onboarding a source is a config change and every environment is provisioned identically.</a:t>
                      </a:r>
                    </a:p>
                  </a:txBody>
                  <a:tcPr anchor="t" marL="91440" marR="91440" marT="54864" marB="54864">
                    <a:solidFill>
                      <a:srgbClr val="FAFCF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8430" rIns="0" bIns="0" rtlCol="0">
            <a:spAutoFit/>
          </a:bodyPr>
          <a:lstStyle/>
          <a:p>
            <a:pPr marL="18415">
              <a:lnSpc>
                <a:spcPct val="100000"/>
              </a:lnSpc>
              <a:spcBef>
                <a:spcPts val="1090"/>
              </a:spcBef>
            </a:pPr>
            <a:r>
              <a:rPr spc="-10" dirty="0"/>
              <a:t>Outcome</a:t>
            </a:r>
          </a:p>
          <a:p>
            <a:pPr marL="12700">
              <a:lnSpc>
                <a:spcPct val="100000"/>
              </a:lnSpc>
              <a:spcBef>
                <a:spcPts val="465"/>
              </a:spcBef>
            </a:pPr>
            <a:r>
              <a:rPr sz="1900" spc="-20" dirty="0">
                <a:solidFill>
                  <a:srgbClr val="00778A"/>
                </a:solidFill>
              </a:rPr>
              <a:t>T</a:t>
            </a:r>
            <a:r>
              <a:rPr sz="1900" spc="-229" dirty="0">
                <a:solidFill>
                  <a:srgbClr val="00778A"/>
                </a:solidFill>
              </a:rPr>
              <a:t> </a:t>
            </a:r>
            <a:r>
              <a:rPr sz="1900" spc="-20" dirty="0">
                <a:solidFill>
                  <a:srgbClr val="00778A"/>
                </a:solidFill>
              </a:rPr>
              <a:t>A</a:t>
            </a:r>
            <a:r>
              <a:rPr sz="1900" spc="-225" dirty="0">
                <a:solidFill>
                  <a:srgbClr val="00778A"/>
                </a:solidFill>
              </a:rPr>
              <a:t> </a:t>
            </a:r>
            <a:r>
              <a:rPr sz="1900" dirty="0">
                <a:solidFill>
                  <a:srgbClr val="00778A"/>
                </a:solidFill>
              </a:rPr>
              <a:t>G</a:t>
            </a:r>
            <a:r>
              <a:rPr sz="1900" spc="40" dirty="0">
                <a:solidFill>
                  <a:srgbClr val="00778A"/>
                </a:solidFill>
              </a:rPr>
              <a:t>  </a:t>
            </a:r>
            <a:r>
              <a:rPr sz="1900" spc="-20" dirty="0">
                <a:solidFill>
                  <a:srgbClr val="00778A"/>
                </a:solidFill>
              </a:rPr>
              <a:t>A</a:t>
            </a:r>
            <a:r>
              <a:rPr sz="1900" spc="-225" dirty="0">
                <a:solidFill>
                  <a:srgbClr val="00778A"/>
                </a:solidFill>
              </a:rPr>
              <a:t> </a:t>
            </a:r>
            <a:r>
              <a:rPr sz="1900" dirty="0">
                <a:solidFill>
                  <a:srgbClr val="00778A"/>
                </a:solidFill>
              </a:rPr>
              <a:t>P</a:t>
            </a:r>
            <a:r>
              <a:rPr sz="1900" spc="-229" dirty="0">
                <a:solidFill>
                  <a:srgbClr val="00778A"/>
                </a:solidFill>
              </a:rPr>
              <a:t> </a:t>
            </a:r>
            <a:r>
              <a:rPr sz="1900" dirty="0">
                <a:solidFill>
                  <a:srgbClr val="00778A"/>
                </a:solidFill>
              </a:rPr>
              <a:t>P</a:t>
            </a:r>
            <a:r>
              <a:rPr sz="1900" spc="-225" dirty="0">
                <a:solidFill>
                  <a:srgbClr val="00778A"/>
                </a:solidFill>
              </a:rPr>
              <a:t> </a:t>
            </a:r>
            <a:r>
              <a:rPr sz="1900" spc="-20" dirty="0">
                <a:solidFill>
                  <a:srgbClr val="00778A"/>
                </a:solidFill>
              </a:rPr>
              <a:t>R</a:t>
            </a:r>
            <a:r>
              <a:rPr sz="1900" spc="-229" dirty="0">
                <a:solidFill>
                  <a:srgbClr val="00778A"/>
                </a:solidFill>
              </a:rPr>
              <a:t> </a:t>
            </a:r>
            <a:r>
              <a:rPr sz="1900" dirty="0">
                <a:solidFill>
                  <a:srgbClr val="00778A"/>
                </a:solidFill>
              </a:rPr>
              <a:t>O</a:t>
            </a:r>
            <a:r>
              <a:rPr sz="1900" spc="-225" dirty="0">
                <a:solidFill>
                  <a:srgbClr val="00778A"/>
                </a:solidFill>
              </a:rPr>
              <a:t> </a:t>
            </a:r>
            <a:r>
              <a:rPr sz="1900" dirty="0">
                <a:solidFill>
                  <a:srgbClr val="00778A"/>
                </a:solidFill>
              </a:rPr>
              <a:t>V</a:t>
            </a:r>
            <a:r>
              <a:rPr sz="1900" spc="-225" dirty="0">
                <a:solidFill>
                  <a:srgbClr val="00778A"/>
                </a:solidFill>
              </a:rPr>
              <a:t> </a:t>
            </a:r>
            <a:r>
              <a:rPr sz="1900" spc="-20" dirty="0">
                <a:solidFill>
                  <a:srgbClr val="00778A"/>
                </a:solidFill>
              </a:rPr>
              <a:t>A</a:t>
            </a:r>
            <a:r>
              <a:rPr sz="1900" spc="-229" dirty="0">
                <a:solidFill>
                  <a:srgbClr val="00778A"/>
                </a:solidFill>
              </a:rPr>
              <a:t> </a:t>
            </a:r>
            <a:r>
              <a:rPr sz="1900" spc="-20" dirty="0">
                <a:solidFill>
                  <a:srgbClr val="00778A"/>
                </a:solidFill>
              </a:rPr>
              <a:t>L</a:t>
            </a:r>
            <a:r>
              <a:rPr sz="1900" spc="-225" dirty="0">
                <a:solidFill>
                  <a:srgbClr val="00778A"/>
                </a:solidFill>
              </a:rPr>
              <a:t> </a:t>
            </a:r>
            <a:r>
              <a:rPr sz="1900" spc="-50" dirty="0">
                <a:solidFill>
                  <a:srgbClr val="00778A"/>
                </a:solidFill>
              </a:rPr>
              <a:t>S</a:t>
            </a:r>
            <a:endParaRPr sz="1900"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848712" y="0"/>
            <a:ext cx="3324859" cy="2423363"/>
          </a:xfrm>
          <a:prstGeom prst="rect">
            <a:avLst/>
          </a:prstGeom>
        </p:spPr>
      </p:pic>
      <p:graphicFrame>
        <p:nvGraphicFramePr>
          <p:cNvPr id="5" name="object 5"/>
          <p:cNvGraphicFramePr>
            <a:graphicFrameLocks noGrp="1"/>
          </p:cNvGraphicFramePr>
          <p:nvPr/>
        </p:nvGraphicFramePr>
        <p:xfrm>
          <a:off x="720078" y="1577022"/>
          <a:ext cx="10800079" cy="462279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7833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16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5600">
                <a:tc>
                  <a:txBody>
                    <a:bodyPr/>
                    <a:lstStyle/>
                    <a:p>
                      <a:pPr marL="53340">
                        <a:lnSpc>
                          <a:spcPts val="2360"/>
                        </a:lnSpc>
                      </a:pPr>
                      <a:r>
                        <a:rPr sz="20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Presented</a:t>
                      </a:r>
                      <a:r>
                        <a:rPr sz="2000" b="1" spc="-10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2000" b="1" spc="-2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by:</a:t>
                      </a:r>
                      <a:endParaRPr sz="20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4D4D4F"/>
                      </a:solidFill>
                      <a:prstDash val="solid"/>
                    </a:lnL>
                    <a:lnR w="12700">
                      <a:solidFill>
                        <a:srgbClr val="4D4D4F"/>
                      </a:solidFill>
                      <a:prstDash val="solid"/>
                    </a:lnR>
                    <a:lnT w="12700">
                      <a:solidFill>
                        <a:srgbClr val="4D4D4F"/>
                      </a:solidFill>
                      <a:prstDash val="solid"/>
                    </a:lnT>
                    <a:lnB w="12700">
                      <a:solidFill>
                        <a:srgbClr val="4D4D4F"/>
                      </a:solidFill>
                      <a:prstDash val="solid"/>
                    </a:lnB>
                    <a:solidFill>
                      <a:srgbClr val="00778A"/>
                    </a:solidFill>
                  </a:tcPr>
                </a:tc>
                <a:tc>
                  <a:txBody>
                    <a:bodyPr/>
                    <a:lstStyle/>
                    <a:p>
                      <a:pPr marL="53340">
                        <a:lnSpc>
                          <a:spcPts val="2360"/>
                        </a:lnSpc>
                      </a:pPr>
                      <a:r>
                        <a:rPr sz="2000" dirty="0">
                          <a:solidFill>
                            <a:srgbClr val="4D4D4F"/>
                          </a:solidFill>
                          <a:latin typeface="Arial"/>
                          <a:cs typeface="Arial"/>
                        </a:rPr>
                        <a:t>&lt;Name,</a:t>
                      </a:r>
                      <a:r>
                        <a:rPr sz="2000" spc="-50" dirty="0">
                          <a:solidFill>
                            <a:srgbClr val="4D4D4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2000" dirty="0">
                          <a:solidFill>
                            <a:srgbClr val="4D4D4F"/>
                          </a:solidFill>
                          <a:latin typeface="Arial"/>
                          <a:cs typeface="Arial"/>
                        </a:rPr>
                        <a:t>Business</a:t>
                      </a:r>
                      <a:r>
                        <a:rPr sz="2000" spc="-50" dirty="0">
                          <a:solidFill>
                            <a:srgbClr val="4D4D4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2000" dirty="0">
                          <a:solidFill>
                            <a:srgbClr val="4D4D4F"/>
                          </a:solidFill>
                          <a:latin typeface="Arial"/>
                          <a:cs typeface="Arial"/>
                        </a:rPr>
                        <a:t>Unit&gt;/</a:t>
                      </a:r>
                      <a:r>
                        <a:rPr sz="2000" spc="-50" dirty="0">
                          <a:solidFill>
                            <a:srgbClr val="4D4D4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2000" dirty="0">
                          <a:solidFill>
                            <a:srgbClr val="4D4D4F"/>
                          </a:solidFill>
                          <a:latin typeface="Arial"/>
                          <a:cs typeface="Arial"/>
                        </a:rPr>
                        <a:t>&lt;Name,</a:t>
                      </a:r>
                      <a:r>
                        <a:rPr sz="2000" spc="-50" dirty="0">
                          <a:solidFill>
                            <a:srgbClr val="4D4D4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2000" dirty="0">
                          <a:solidFill>
                            <a:srgbClr val="4D4D4F"/>
                          </a:solidFill>
                          <a:latin typeface="Arial"/>
                          <a:cs typeface="Arial"/>
                        </a:rPr>
                        <a:t>Business</a:t>
                      </a:r>
                      <a:r>
                        <a:rPr sz="2000" spc="-50" dirty="0">
                          <a:solidFill>
                            <a:srgbClr val="4D4D4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2000" spc="-10" dirty="0">
                          <a:solidFill>
                            <a:srgbClr val="4D4D4F"/>
                          </a:solidFill>
                          <a:latin typeface="Arial"/>
                          <a:cs typeface="Arial"/>
                        </a:rPr>
                        <a:t>Unit&gt;</a:t>
                      </a:r>
                      <a:endParaRPr sz="20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4D4D4F"/>
                      </a:solidFill>
                      <a:prstDash val="solid"/>
                    </a:lnL>
                    <a:lnR w="12700">
                      <a:solidFill>
                        <a:srgbClr val="4D4D4F"/>
                      </a:solidFill>
                      <a:prstDash val="solid"/>
                    </a:lnR>
                    <a:lnT w="12700">
                      <a:solidFill>
                        <a:srgbClr val="4D4D4F"/>
                      </a:solidFill>
                      <a:prstDash val="solid"/>
                    </a:lnT>
                    <a:lnB w="12700">
                      <a:solidFill>
                        <a:srgbClr val="4D4D4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4330">
                <a:tc>
                  <a:txBody>
                    <a:bodyPr/>
                    <a:lstStyle/>
                    <a:p>
                      <a:pPr marL="53340">
                        <a:lnSpc>
                          <a:spcPts val="2360"/>
                        </a:lnSpc>
                      </a:pPr>
                      <a:r>
                        <a:rPr sz="2000" b="1" spc="-1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Date:</a:t>
                      </a:r>
                      <a:endParaRPr sz="20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4D4D4F"/>
                      </a:solidFill>
                      <a:prstDash val="solid"/>
                    </a:lnL>
                    <a:lnR w="12700">
                      <a:solidFill>
                        <a:srgbClr val="4D4D4F"/>
                      </a:solidFill>
                      <a:prstDash val="solid"/>
                    </a:lnR>
                    <a:lnT w="12700">
                      <a:solidFill>
                        <a:srgbClr val="4D4D4F"/>
                      </a:solidFill>
                      <a:prstDash val="solid"/>
                    </a:lnT>
                    <a:lnB w="12700">
                      <a:solidFill>
                        <a:srgbClr val="4D4D4F"/>
                      </a:solidFill>
                      <a:prstDash val="solid"/>
                    </a:lnB>
                    <a:solidFill>
                      <a:srgbClr val="00778A"/>
                    </a:solidFill>
                  </a:tcPr>
                </a:tc>
                <a:tc>
                  <a:txBody>
                    <a:bodyPr/>
                    <a:lstStyle/>
                    <a:p>
                      <a:pPr marL="53340">
                        <a:lnSpc>
                          <a:spcPts val="2360"/>
                        </a:lnSpc>
                      </a:pPr>
                      <a:r>
                        <a:rPr sz="2000" dirty="0">
                          <a:solidFill>
                            <a:srgbClr val="4D4D4F"/>
                          </a:solidFill>
                          <a:latin typeface="Arial"/>
                          <a:cs typeface="Arial"/>
                        </a:rPr>
                        <a:t>Jan</a:t>
                      </a:r>
                      <a:r>
                        <a:rPr sz="2000" spc="-30" dirty="0">
                          <a:solidFill>
                            <a:srgbClr val="4D4D4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2000" dirty="0">
                          <a:solidFill>
                            <a:srgbClr val="4D4D4F"/>
                          </a:solidFill>
                          <a:latin typeface="Arial"/>
                          <a:cs typeface="Arial"/>
                        </a:rPr>
                        <a:t>23,</a:t>
                      </a:r>
                      <a:r>
                        <a:rPr sz="2000" spc="-25" dirty="0">
                          <a:solidFill>
                            <a:srgbClr val="4D4D4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2000" spc="-20" dirty="0">
                          <a:solidFill>
                            <a:srgbClr val="4D4D4F"/>
                          </a:solidFill>
                          <a:latin typeface="Arial"/>
                          <a:cs typeface="Arial"/>
                        </a:rPr>
                        <a:t>2025</a:t>
                      </a:r>
                      <a:endParaRPr sz="20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4D4D4F"/>
                      </a:solidFill>
                      <a:prstDash val="solid"/>
                    </a:lnL>
                    <a:lnR w="12700">
                      <a:solidFill>
                        <a:srgbClr val="4D4D4F"/>
                      </a:solidFill>
                      <a:prstDash val="solid"/>
                    </a:lnR>
                    <a:lnT w="12700">
                      <a:solidFill>
                        <a:srgbClr val="4D4D4F"/>
                      </a:solidFill>
                      <a:prstDash val="solid"/>
                    </a:lnT>
                    <a:lnB w="12700">
                      <a:solidFill>
                        <a:srgbClr val="4D4D4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4330">
                <a:tc>
                  <a:txBody>
                    <a:bodyPr/>
                    <a:lstStyle/>
                    <a:p>
                      <a:pPr marL="53340">
                        <a:lnSpc>
                          <a:spcPts val="2360"/>
                        </a:lnSpc>
                      </a:pPr>
                      <a:r>
                        <a:rPr sz="2000" b="1" spc="-1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Outcome:</a:t>
                      </a:r>
                      <a:endParaRPr sz="20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4D4D4F"/>
                      </a:solidFill>
                      <a:prstDash val="solid"/>
                    </a:lnL>
                    <a:lnR w="12700">
                      <a:solidFill>
                        <a:srgbClr val="4D4D4F"/>
                      </a:solidFill>
                      <a:prstDash val="solid"/>
                    </a:lnR>
                    <a:lnT w="12700">
                      <a:solidFill>
                        <a:srgbClr val="4D4D4F"/>
                      </a:solidFill>
                      <a:prstDash val="solid"/>
                    </a:lnT>
                    <a:lnB w="12700">
                      <a:solidFill>
                        <a:srgbClr val="4D4D4F"/>
                      </a:solidFill>
                      <a:prstDash val="solid"/>
                    </a:lnB>
                    <a:solidFill>
                      <a:srgbClr val="00778A"/>
                    </a:solidFill>
                  </a:tcPr>
                </a:tc>
                <a:tc>
                  <a:txBody>
                    <a:bodyPr/>
                    <a:lstStyle/>
                    <a:p>
                      <a:pPr marL="53340">
                        <a:lnSpc>
                          <a:spcPts val="2360"/>
                        </a:lnSpc>
                      </a:pPr>
                      <a:r>
                        <a:rPr sz="2000" b="1" dirty="0">
                          <a:solidFill>
                            <a:srgbClr val="4D4D4F"/>
                          </a:solidFill>
                          <a:latin typeface="Arial"/>
                          <a:cs typeface="Arial"/>
                        </a:rPr>
                        <a:t>Approved</a:t>
                      </a:r>
                      <a:r>
                        <a:rPr sz="2000" b="1" spc="-40" dirty="0">
                          <a:solidFill>
                            <a:srgbClr val="4D4D4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2000" b="1" dirty="0">
                          <a:solidFill>
                            <a:srgbClr val="4D4D4F"/>
                          </a:solidFill>
                          <a:latin typeface="Arial"/>
                          <a:cs typeface="Arial"/>
                        </a:rPr>
                        <a:t>/</a:t>
                      </a:r>
                      <a:r>
                        <a:rPr sz="2000" b="1" spc="-30" dirty="0">
                          <a:solidFill>
                            <a:srgbClr val="4D4D4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2000" b="1" dirty="0">
                          <a:solidFill>
                            <a:srgbClr val="4D4D4F"/>
                          </a:solidFill>
                          <a:latin typeface="Arial"/>
                          <a:cs typeface="Arial"/>
                        </a:rPr>
                        <a:t>Rejected</a:t>
                      </a:r>
                      <a:r>
                        <a:rPr sz="2000" b="1" spc="-25" dirty="0">
                          <a:solidFill>
                            <a:srgbClr val="4D4D4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2000" b="1" dirty="0">
                          <a:solidFill>
                            <a:srgbClr val="4D4D4F"/>
                          </a:solidFill>
                          <a:latin typeface="Arial"/>
                          <a:cs typeface="Arial"/>
                        </a:rPr>
                        <a:t>/</a:t>
                      </a:r>
                      <a:r>
                        <a:rPr sz="2000" b="1" spc="-30" dirty="0">
                          <a:solidFill>
                            <a:srgbClr val="4D4D4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2000" b="1" dirty="0">
                          <a:solidFill>
                            <a:srgbClr val="4D4D4F"/>
                          </a:solidFill>
                          <a:latin typeface="Arial"/>
                          <a:cs typeface="Arial"/>
                        </a:rPr>
                        <a:t>Follow</a:t>
                      </a:r>
                      <a:r>
                        <a:rPr sz="2000" b="1" spc="-30" dirty="0">
                          <a:solidFill>
                            <a:srgbClr val="4D4D4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2000" b="1" dirty="0">
                          <a:solidFill>
                            <a:srgbClr val="4D4D4F"/>
                          </a:solidFill>
                          <a:latin typeface="Arial"/>
                          <a:cs typeface="Arial"/>
                        </a:rPr>
                        <a:t>Up</a:t>
                      </a:r>
                      <a:r>
                        <a:rPr sz="2000" b="1" spc="-25" dirty="0">
                          <a:solidFill>
                            <a:srgbClr val="4D4D4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2000" b="1" spc="-10" dirty="0">
                          <a:solidFill>
                            <a:srgbClr val="4D4D4F"/>
                          </a:solidFill>
                          <a:latin typeface="Arial"/>
                          <a:cs typeface="Arial"/>
                        </a:rPr>
                        <a:t>Required</a:t>
                      </a:r>
                      <a:endParaRPr sz="20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4D4D4F"/>
                      </a:solidFill>
                      <a:prstDash val="solid"/>
                    </a:lnL>
                    <a:lnR w="12700">
                      <a:solidFill>
                        <a:srgbClr val="4D4D4F"/>
                      </a:solidFill>
                      <a:prstDash val="solid"/>
                    </a:lnR>
                    <a:lnT w="12700">
                      <a:solidFill>
                        <a:srgbClr val="4D4D4F"/>
                      </a:solidFill>
                      <a:prstDash val="solid"/>
                    </a:lnT>
                    <a:lnB w="12700">
                      <a:solidFill>
                        <a:srgbClr val="4D4D4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86889">
                <a:tc>
                  <a:txBody>
                    <a:bodyPr/>
                    <a:lstStyle/>
                    <a:p>
                      <a:pPr marL="53340">
                        <a:lnSpc>
                          <a:spcPts val="2360"/>
                        </a:lnSpc>
                      </a:pPr>
                      <a:r>
                        <a:rPr sz="2000" b="1" spc="-1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Comments:</a:t>
                      </a:r>
                      <a:endParaRPr sz="20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4D4D4F"/>
                      </a:solidFill>
                      <a:prstDash val="solid"/>
                    </a:lnL>
                    <a:lnR w="12700">
                      <a:solidFill>
                        <a:srgbClr val="4D4D4F"/>
                      </a:solidFill>
                      <a:prstDash val="solid"/>
                    </a:lnR>
                    <a:lnT w="12700">
                      <a:solidFill>
                        <a:srgbClr val="4D4D4F"/>
                      </a:solidFill>
                      <a:prstDash val="solid"/>
                    </a:lnT>
                    <a:lnB w="12700">
                      <a:solidFill>
                        <a:srgbClr val="4D4D4F"/>
                      </a:solidFill>
                      <a:prstDash val="solid"/>
                    </a:lnB>
                    <a:solidFill>
                      <a:srgbClr val="00778A"/>
                    </a:solidFill>
                  </a:tcPr>
                </a:tc>
                <a:tc>
                  <a:txBody>
                    <a:bodyPr/>
                    <a:lstStyle/>
                    <a:p>
                      <a:pPr marL="53340">
                        <a:lnSpc>
                          <a:spcPts val="2360"/>
                        </a:lnSpc>
                      </a:pPr>
                      <a:r>
                        <a:rPr sz="2000" b="1" dirty="0">
                          <a:solidFill>
                            <a:srgbClr val="4D4D4F"/>
                          </a:solidFill>
                          <a:latin typeface="Arial"/>
                          <a:cs typeface="Arial"/>
                        </a:rPr>
                        <a:t>PIA</a:t>
                      </a:r>
                      <a:r>
                        <a:rPr sz="2000" b="1" spc="-35" dirty="0">
                          <a:solidFill>
                            <a:srgbClr val="4D4D4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2000" b="1" dirty="0">
                          <a:solidFill>
                            <a:srgbClr val="4D4D4F"/>
                          </a:solidFill>
                          <a:latin typeface="Arial"/>
                          <a:cs typeface="Arial"/>
                        </a:rPr>
                        <a:t>Required</a:t>
                      </a:r>
                      <a:r>
                        <a:rPr sz="2000" b="1" spc="-40" dirty="0">
                          <a:solidFill>
                            <a:srgbClr val="4D4D4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2000" dirty="0">
                          <a:solidFill>
                            <a:srgbClr val="4D4D4F"/>
                          </a:solidFill>
                          <a:latin typeface="Arial"/>
                          <a:cs typeface="Arial"/>
                        </a:rPr>
                        <a:t>–</a:t>
                      </a:r>
                      <a:r>
                        <a:rPr sz="2000" spc="-30" dirty="0">
                          <a:solidFill>
                            <a:srgbClr val="4D4D4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2000" b="1" dirty="0">
                          <a:solidFill>
                            <a:srgbClr val="4D4D4F"/>
                          </a:solidFill>
                          <a:latin typeface="Arial"/>
                          <a:cs typeface="Arial"/>
                        </a:rPr>
                        <a:t>Yes</a:t>
                      </a:r>
                      <a:r>
                        <a:rPr sz="2000" b="1" spc="-35" dirty="0">
                          <a:solidFill>
                            <a:srgbClr val="4D4D4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2000" dirty="0">
                          <a:solidFill>
                            <a:srgbClr val="4D4D4F"/>
                          </a:solidFill>
                          <a:latin typeface="Arial"/>
                          <a:cs typeface="Arial"/>
                        </a:rPr>
                        <a:t>or</a:t>
                      </a:r>
                      <a:r>
                        <a:rPr sz="2000" spc="-35" dirty="0">
                          <a:solidFill>
                            <a:srgbClr val="4D4D4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2000" spc="-25" dirty="0">
                          <a:solidFill>
                            <a:srgbClr val="4D4D4F"/>
                          </a:solidFill>
                          <a:latin typeface="Arial"/>
                          <a:cs typeface="Arial"/>
                        </a:rPr>
                        <a:t>No</a:t>
                      </a:r>
                      <a:endParaRPr sz="2000">
                        <a:latin typeface="Arial"/>
                        <a:cs typeface="Arial"/>
                      </a:endParaRPr>
                    </a:p>
                    <a:p>
                      <a:pPr marL="53340">
                        <a:lnSpc>
                          <a:spcPct val="100000"/>
                        </a:lnSpc>
                        <a:spcBef>
                          <a:spcPts val="100"/>
                        </a:spcBef>
                      </a:pPr>
                      <a:r>
                        <a:rPr sz="2000" b="1" dirty="0">
                          <a:solidFill>
                            <a:srgbClr val="4D4D4F"/>
                          </a:solidFill>
                          <a:latin typeface="Arial"/>
                          <a:cs typeface="Arial"/>
                        </a:rPr>
                        <a:t>STRA</a:t>
                      </a:r>
                      <a:r>
                        <a:rPr sz="2000" b="1" spc="-45" dirty="0">
                          <a:solidFill>
                            <a:srgbClr val="4D4D4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2000" b="1" dirty="0">
                          <a:solidFill>
                            <a:srgbClr val="4D4D4F"/>
                          </a:solidFill>
                          <a:latin typeface="Arial"/>
                          <a:cs typeface="Arial"/>
                        </a:rPr>
                        <a:t>Required</a:t>
                      </a:r>
                      <a:r>
                        <a:rPr sz="2000" b="1" spc="-45" dirty="0">
                          <a:solidFill>
                            <a:srgbClr val="4D4D4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2000" dirty="0">
                          <a:solidFill>
                            <a:srgbClr val="4D4D4F"/>
                          </a:solidFill>
                          <a:latin typeface="Arial"/>
                          <a:cs typeface="Arial"/>
                        </a:rPr>
                        <a:t>–</a:t>
                      </a:r>
                      <a:r>
                        <a:rPr sz="2000" spc="-40" dirty="0">
                          <a:solidFill>
                            <a:srgbClr val="4D4D4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2000" b="1" dirty="0">
                          <a:solidFill>
                            <a:srgbClr val="4D4D4F"/>
                          </a:solidFill>
                          <a:latin typeface="Arial"/>
                          <a:cs typeface="Arial"/>
                        </a:rPr>
                        <a:t>Yes</a:t>
                      </a:r>
                      <a:r>
                        <a:rPr sz="2000" b="1" spc="-40" dirty="0">
                          <a:solidFill>
                            <a:srgbClr val="4D4D4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2000" dirty="0">
                          <a:solidFill>
                            <a:srgbClr val="4D4D4F"/>
                          </a:solidFill>
                          <a:latin typeface="Arial"/>
                          <a:cs typeface="Arial"/>
                        </a:rPr>
                        <a:t>or</a:t>
                      </a:r>
                      <a:r>
                        <a:rPr sz="2000" spc="-40" dirty="0">
                          <a:solidFill>
                            <a:srgbClr val="4D4D4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2000" spc="-25" dirty="0">
                          <a:solidFill>
                            <a:srgbClr val="4D4D4F"/>
                          </a:solidFill>
                          <a:latin typeface="Arial"/>
                          <a:cs typeface="Arial"/>
                        </a:rPr>
                        <a:t>No</a:t>
                      </a:r>
                      <a:endParaRPr sz="2000">
                        <a:latin typeface="Arial"/>
                        <a:cs typeface="Arial"/>
                      </a:endParaRPr>
                    </a:p>
                    <a:p>
                      <a:pPr marL="53340">
                        <a:lnSpc>
                          <a:spcPct val="100000"/>
                        </a:lnSpc>
                        <a:spcBef>
                          <a:spcPts val="100"/>
                        </a:spcBef>
                      </a:pPr>
                      <a:r>
                        <a:rPr sz="2000" b="1" dirty="0">
                          <a:solidFill>
                            <a:srgbClr val="4D4D4F"/>
                          </a:solidFill>
                          <a:latin typeface="Arial"/>
                          <a:cs typeface="Arial"/>
                        </a:rPr>
                        <a:t>AI</a:t>
                      </a:r>
                      <a:r>
                        <a:rPr sz="2000" b="1" spc="-35" dirty="0">
                          <a:solidFill>
                            <a:srgbClr val="4D4D4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2000" b="1" spc="-10" dirty="0">
                          <a:solidFill>
                            <a:srgbClr val="4D4D4F"/>
                          </a:solidFill>
                          <a:latin typeface="Arial"/>
                          <a:cs typeface="Arial"/>
                        </a:rPr>
                        <a:t>Assessment</a:t>
                      </a:r>
                      <a:r>
                        <a:rPr sz="2000" b="1" spc="-35" dirty="0">
                          <a:solidFill>
                            <a:srgbClr val="4D4D4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2000" b="1" dirty="0">
                          <a:solidFill>
                            <a:srgbClr val="4D4D4F"/>
                          </a:solidFill>
                          <a:latin typeface="Arial"/>
                          <a:cs typeface="Arial"/>
                        </a:rPr>
                        <a:t>Required</a:t>
                      </a:r>
                      <a:r>
                        <a:rPr sz="2000" b="1" spc="-20" dirty="0">
                          <a:solidFill>
                            <a:srgbClr val="4D4D4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2000" dirty="0">
                          <a:solidFill>
                            <a:srgbClr val="4D4D4F"/>
                          </a:solidFill>
                          <a:latin typeface="Arial"/>
                          <a:cs typeface="Arial"/>
                        </a:rPr>
                        <a:t>–</a:t>
                      </a:r>
                      <a:r>
                        <a:rPr sz="2000" spc="-35" dirty="0">
                          <a:solidFill>
                            <a:srgbClr val="4D4D4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2000" b="1" dirty="0">
                          <a:solidFill>
                            <a:srgbClr val="4D4D4F"/>
                          </a:solidFill>
                          <a:latin typeface="Arial"/>
                          <a:cs typeface="Arial"/>
                        </a:rPr>
                        <a:t>Yes</a:t>
                      </a:r>
                      <a:r>
                        <a:rPr sz="2000" b="1" spc="-35" dirty="0">
                          <a:solidFill>
                            <a:srgbClr val="4D4D4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2000" dirty="0">
                          <a:solidFill>
                            <a:srgbClr val="4D4D4F"/>
                          </a:solidFill>
                          <a:latin typeface="Arial"/>
                          <a:cs typeface="Arial"/>
                        </a:rPr>
                        <a:t>or</a:t>
                      </a:r>
                      <a:r>
                        <a:rPr sz="2000" spc="-30" dirty="0">
                          <a:solidFill>
                            <a:srgbClr val="4D4D4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2000" spc="-25" dirty="0">
                          <a:solidFill>
                            <a:srgbClr val="4D4D4F"/>
                          </a:solidFill>
                          <a:latin typeface="Arial"/>
                          <a:cs typeface="Arial"/>
                        </a:rPr>
                        <a:t>No</a:t>
                      </a:r>
                      <a:endParaRPr sz="20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4D4D4F"/>
                      </a:solidFill>
                      <a:prstDash val="solid"/>
                    </a:lnL>
                    <a:lnR w="12700">
                      <a:solidFill>
                        <a:srgbClr val="4D4D4F"/>
                      </a:solidFill>
                      <a:prstDash val="solid"/>
                    </a:lnR>
                    <a:lnT w="12700">
                      <a:solidFill>
                        <a:srgbClr val="4D4D4F"/>
                      </a:solidFill>
                      <a:prstDash val="solid"/>
                    </a:lnT>
                    <a:lnB w="12700">
                      <a:solidFill>
                        <a:srgbClr val="4D4D4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4330">
                <a:tc>
                  <a:txBody>
                    <a:bodyPr/>
                    <a:lstStyle/>
                    <a:p>
                      <a:pPr marL="53340">
                        <a:lnSpc>
                          <a:spcPts val="2360"/>
                        </a:lnSpc>
                      </a:pPr>
                      <a:r>
                        <a:rPr sz="20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AIMS</a:t>
                      </a:r>
                      <a:r>
                        <a:rPr sz="2000" b="1" spc="-2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2000" b="1" spc="-1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Representative</a:t>
                      </a:r>
                      <a:r>
                        <a:rPr sz="2000" b="1" spc="-1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2000" b="1" spc="-1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(Chair)</a:t>
                      </a:r>
                      <a:endParaRPr sz="20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4D4D4F"/>
                      </a:solidFill>
                      <a:prstDash val="solid"/>
                    </a:lnL>
                    <a:lnR w="12700">
                      <a:solidFill>
                        <a:srgbClr val="4D4D4F"/>
                      </a:solidFill>
                      <a:prstDash val="solid"/>
                    </a:lnR>
                    <a:lnT w="12700">
                      <a:solidFill>
                        <a:srgbClr val="4D4D4F"/>
                      </a:solidFill>
                      <a:prstDash val="solid"/>
                    </a:lnT>
                    <a:lnB w="12700">
                      <a:solidFill>
                        <a:srgbClr val="4D4D4F"/>
                      </a:solidFill>
                      <a:prstDash val="solid"/>
                    </a:lnB>
                    <a:solidFill>
                      <a:srgbClr val="00778A"/>
                    </a:solidFill>
                  </a:tcPr>
                </a:tc>
                <a:tc>
                  <a:txBody>
                    <a:bodyPr/>
                    <a:lstStyle/>
                    <a:p>
                      <a:pPr marL="53340">
                        <a:lnSpc>
                          <a:spcPts val="2360"/>
                        </a:lnSpc>
                      </a:pPr>
                      <a:r>
                        <a:rPr sz="2000" dirty="0">
                          <a:solidFill>
                            <a:srgbClr val="4D4D4F"/>
                          </a:solidFill>
                          <a:latin typeface="Arial"/>
                          <a:cs typeface="Arial"/>
                        </a:rPr>
                        <a:t>Ramesh</a:t>
                      </a:r>
                      <a:r>
                        <a:rPr sz="2000" spc="-80" dirty="0">
                          <a:solidFill>
                            <a:srgbClr val="4D4D4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2000" dirty="0">
                          <a:solidFill>
                            <a:srgbClr val="4D4D4F"/>
                          </a:solidFill>
                          <a:latin typeface="Arial"/>
                          <a:cs typeface="Arial"/>
                        </a:rPr>
                        <a:t>Dondapati/</a:t>
                      </a:r>
                      <a:r>
                        <a:rPr sz="2000" spc="-75" dirty="0">
                          <a:solidFill>
                            <a:srgbClr val="4D4D4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2000" dirty="0">
                          <a:solidFill>
                            <a:srgbClr val="4D4D4F"/>
                          </a:solidFill>
                          <a:latin typeface="Arial"/>
                          <a:cs typeface="Arial"/>
                        </a:rPr>
                        <a:t>Mark</a:t>
                      </a:r>
                      <a:r>
                        <a:rPr sz="2000" spc="-75" dirty="0">
                          <a:solidFill>
                            <a:srgbClr val="4D4D4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2000" spc="-10" dirty="0">
                          <a:solidFill>
                            <a:srgbClr val="4D4D4F"/>
                          </a:solidFill>
                          <a:latin typeface="Arial"/>
                          <a:cs typeface="Arial"/>
                        </a:rPr>
                        <a:t>O’Regan</a:t>
                      </a:r>
                      <a:endParaRPr sz="20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4D4D4F"/>
                      </a:solidFill>
                      <a:prstDash val="solid"/>
                    </a:lnL>
                    <a:lnR w="12700">
                      <a:solidFill>
                        <a:srgbClr val="4D4D4F"/>
                      </a:solidFill>
                      <a:prstDash val="solid"/>
                    </a:lnR>
                    <a:lnT w="12700">
                      <a:solidFill>
                        <a:srgbClr val="4D4D4F"/>
                      </a:solidFill>
                      <a:prstDash val="solid"/>
                    </a:lnT>
                    <a:lnB w="12700">
                      <a:solidFill>
                        <a:srgbClr val="4D4D4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4330">
                <a:tc>
                  <a:txBody>
                    <a:bodyPr/>
                    <a:lstStyle/>
                    <a:p>
                      <a:pPr marL="53340">
                        <a:lnSpc>
                          <a:spcPts val="2360"/>
                        </a:lnSpc>
                      </a:pPr>
                      <a:r>
                        <a:rPr sz="20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ITE</a:t>
                      </a:r>
                      <a:r>
                        <a:rPr sz="2000" b="1" spc="-2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2000" b="1" spc="-1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Representative</a:t>
                      </a:r>
                      <a:endParaRPr sz="20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4D4D4F"/>
                      </a:solidFill>
                      <a:prstDash val="solid"/>
                    </a:lnL>
                    <a:lnR w="12700">
                      <a:solidFill>
                        <a:srgbClr val="4D4D4F"/>
                      </a:solidFill>
                      <a:prstDash val="solid"/>
                    </a:lnR>
                    <a:lnT w="12700">
                      <a:solidFill>
                        <a:srgbClr val="4D4D4F"/>
                      </a:solidFill>
                      <a:prstDash val="solid"/>
                    </a:lnT>
                    <a:lnB w="12700">
                      <a:solidFill>
                        <a:srgbClr val="4D4D4F"/>
                      </a:solidFill>
                      <a:prstDash val="solid"/>
                    </a:lnB>
                    <a:solidFill>
                      <a:srgbClr val="00778A"/>
                    </a:solidFill>
                  </a:tcPr>
                </a:tc>
                <a:tc>
                  <a:txBody>
                    <a:bodyPr/>
                    <a:lstStyle/>
                    <a:p>
                      <a:pPr marL="53340">
                        <a:lnSpc>
                          <a:spcPts val="2360"/>
                        </a:lnSpc>
                      </a:pPr>
                      <a:r>
                        <a:rPr sz="2000" dirty="0">
                          <a:solidFill>
                            <a:srgbClr val="4D4D4F"/>
                          </a:solidFill>
                          <a:latin typeface="Arial"/>
                          <a:cs typeface="Arial"/>
                        </a:rPr>
                        <a:t>Cristina</a:t>
                      </a:r>
                      <a:r>
                        <a:rPr sz="2000" spc="-100" dirty="0">
                          <a:solidFill>
                            <a:srgbClr val="4D4D4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2000" spc="-10" dirty="0">
                          <a:solidFill>
                            <a:srgbClr val="4D4D4F"/>
                          </a:solidFill>
                          <a:latin typeface="Arial"/>
                          <a:cs typeface="Arial"/>
                        </a:rPr>
                        <a:t>Stepanov</a:t>
                      </a:r>
                      <a:endParaRPr sz="20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4D4D4F"/>
                      </a:solidFill>
                      <a:prstDash val="solid"/>
                    </a:lnL>
                    <a:lnR w="12700">
                      <a:solidFill>
                        <a:srgbClr val="4D4D4F"/>
                      </a:solidFill>
                      <a:prstDash val="solid"/>
                    </a:lnR>
                    <a:lnT w="12700">
                      <a:solidFill>
                        <a:srgbClr val="4D4D4F"/>
                      </a:solidFill>
                      <a:prstDash val="solid"/>
                    </a:lnT>
                    <a:lnB w="12700">
                      <a:solidFill>
                        <a:srgbClr val="4D4D4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4330">
                <a:tc>
                  <a:txBody>
                    <a:bodyPr/>
                    <a:lstStyle/>
                    <a:p>
                      <a:pPr marL="53340">
                        <a:lnSpc>
                          <a:spcPts val="2360"/>
                        </a:lnSpc>
                      </a:pPr>
                      <a:r>
                        <a:rPr sz="20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ITSO</a:t>
                      </a:r>
                      <a:r>
                        <a:rPr sz="2000" b="1" spc="-2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2000" b="1" spc="-1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Representative</a:t>
                      </a:r>
                      <a:endParaRPr sz="20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4D4D4F"/>
                      </a:solidFill>
                      <a:prstDash val="solid"/>
                    </a:lnL>
                    <a:lnR w="12700">
                      <a:solidFill>
                        <a:srgbClr val="4D4D4F"/>
                      </a:solidFill>
                      <a:prstDash val="solid"/>
                    </a:lnR>
                    <a:lnT w="12700">
                      <a:solidFill>
                        <a:srgbClr val="4D4D4F"/>
                      </a:solidFill>
                      <a:prstDash val="solid"/>
                    </a:lnT>
                    <a:lnB w="12700">
                      <a:solidFill>
                        <a:srgbClr val="4D4D4F"/>
                      </a:solidFill>
                      <a:prstDash val="solid"/>
                    </a:lnB>
                    <a:solidFill>
                      <a:srgbClr val="00778A"/>
                    </a:solidFill>
                  </a:tcPr>
                </a:tc>
                <a:tc>
                  <a:txBody>
                    <a:bodyPr/>
                    <a:lstStyle/>
                    <a:p>
                      <a:pPr marL="53340">
                        <a:lnSpc>
                          <a:spcPts val="2360"/>
                        </a:lnSpc>
                      </a:pPr>
                      <a:r>
                        <a:rPr sz="2000" dirty="0">
                          <a:solidFill>
                            <a:srgbClr val="4D4D4F"/>
                          </a:solidFill>
                          <a:latin typeface="Arial"/>
                          <a:cs typeface="Arial"/>
                        </a:rPr>
                        <a:t>Calin</a:t>
                      </a:r>
                      <a:r>
                        <a:rPr sz="2000" spc="-70" dirty="0">
                          <a:solidFill>
                            <a:srgbClr val="4D4D4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2000" spc="-10" dirty="0">
                          <a:solidFill>
                            <a:srgbClr val="4D4D4F"/>
                          </a:solidFill>
                          <a:latin typeface="Arial"/>
                          <a:cs typeface="Arial"/>
                        </a:rPr>
                        <a:t>Somosan</a:t>
                      </a:r>
                      <a:endParaRPr sz="20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4D4D4F"/>
                      </a:solidFill>
                      <a:prstDash val="solid"/>
                    </a:lnL>
                    <a:lnR w="12700">
                      <a:solidFill>
                        <a:srgbClr val="4D4D4F"/>
                      </a:solidFill>
                      <a:prstDash val="solid"/>
                    </a:lnR>
                    <a:lnT w="12700">
                      <a:solidFill>
                        <a:srgbClr val="4D4D4F"/>
                      </a:solidFill>
                      <a:prstDash val="solid"/>
                    </a:lnT>
                    <a:lnB w="12700">
                      <a:solidFill>
                        <a:srgbClr val="4D4D4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4330">
                <a:tc>
                  <a:txBody>
                    <a:bodyPr/>
                    <a:lstStyle/>
                    <a:p>
                      <a:pPr marL="53340">
                        <a:lnSpc>
                          <a:spcPts val="2360"/>
                        </a:lnSpc>
                      </a:pPr>
                      <a:r>
                        <a:rPr sz="20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ITBS</a:t>
                      </a:r>
                      <a:r>
                        <a:rPr sz="2000" b="1" spc="-4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2000" b="1" spc="-1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Representative</a:t>
                      </a:r>
                      <a:endParaRPr sz="20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4D4D4F"/>
                      </a:solidFill>
                      <a:prstDash val="solid"/>
                    </a:lnL>
                    <a:lnR w="12700">
                      <a:solidFill>
                        <a:srgbClr val="4D4D4F"/>
                      </a:solidFill>
                      <a:prstDash val="solid"/>
                    </a:lnR>
                    <a:lnT w="12700">
                      <a:solidFill>
                        <a:srgbClr val="4D4D4F"/>
                      </a:solidFill>
                      <a:prstDash val="solid"/>
                    </a:lnT>
                    <a:lnB w="12700">
                      <a:solidFill>
                        <a:srgbClr val="4D4D4F"/>
                      </a:solidFill>
                      <a:prstDash val="solid"/>
                    </a:lnB>
                    <a:solidFill>
                      <a:srgbClr val="00778A"/>
                    </a:solidFill>
                  </a:tcPr>
                </a:tc>
                <a:tc>
                  <a:txBody>
                    <a:bodyPr/>
                    <a:lstStyle/>
                    <a:p>
                      <a:pPr marL="53340">
                        <a:lnSpc>
                          <a:spcPts val="2360"/>
                        </a:lnSpc>
                      </a:pPr>
                      <a:r>
                        <a:rPr sz="2000" dirty="0">
                          <a:solidFill>
                            <a:srgbClr val="4D4D4F"/>
                          </a:solidFill>
                          <a:latin typeface="Arial"/>
                          <a:cs typeface="Arial"/>
                        </a:rPr>
                        <a:t>Cheryl</a:t>
                      </a:r>
                      <a:r>
                        <a:rPr sz="2000" spc="-85" dirty="0">
                          <a:solidFill>
                            <a:srgbClr val="4D4D4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2000" spc="-10" dirty="0">
                          <a:solidFill>
                            <a:srgbClr val="4D4D4F"/>
                          </a:solidFill>
                          <a:latin typeface="Arial"/>
                          <a:cs typeface="Arial"/>
                        </a:rPr>
                        <a:t>Stewart</a:t>
                      </a:r>
                      <a:endParaRPr sz="20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4D4D4F"/>
                      </a:solidFill>
                      <a:prstDash val="solid"/>
                    </a:lnL>
                    <a:lnR w="12700">
                      <a:solidFill>
                        <a:srgbClr val="4D4D4F"/>
                      </a:solidFill>
                      <a:prstDash val="solid"/>
                    </a:lnR>
                    <a:lnT w="12700">
                      <a:solidFill>
                        <a:srgbClr val="4D4D4F"/>
                      </a:solidFill>
                      <a:prstDash val="solid"/>
                    </a:lnT>
                    <a:lnB w="12700">
                      <a:solidFill>
                        <a:srgbClr val="4D4D4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4330">
                <a:tc>
                  <a:txBody>
                    <a:bodyPr/>
                    <a:lstStyle/>
                    <a:p>
                      <a:pPr marL="53340">
                        <a:lnSpc>
                          <a:spcPts val="2360"/>
                        </a:lnSpc>
                      </a:pPr>
                      <a:r>
                        <a:rPr sz="20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PPMO</a:t>
                      </a:r>
                      <a:r>
                        <a:rPr sz="2000" b="1" spc="-3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2000" b="1" spc="-1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Representative</a:t>
                      </a:r>
                      <a:endParaRPr sz="20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4D4D4F"/>
                      </a:solidFill>
                      <a:prstDash val="solid"/>
                    </a:lnL>
                    <a:lnR w="12700">
                      <a:solidFill>
                        <a:srgbClr val="4D4D4F"/>
                      </a:solidFill>
                      <a:prstDash val="solid"/>
                    </a:lnR>
                    <a:lnT w="12700">
                      <a:solidFill>
                        <a:srgbClr val="4D4D4F"/>
                      </a:solidFill>
                      <a:prstDash val="solid"/>
                    </a:lnT>
                    <a:lnB w="12700">
                      <a:solidFill>
                        <a:srgbClr val="4D4D4F"/>
                      </a:solidFill>
                      <a:prstDash val="solid"/>
                    </a:lnB>
                    <a:solidFill>
                      <a:srgbClr val="00778A"/>
                    </a:solidFill>
                  </a:tcPr>
                </a:tc>
                <a:tc>
                  <a:txBody>
                    <a:bodyPr/>
                    <a:lstStyle/>
                    <a:p>
                      <a:pPr marL="53340">
                        <a:lnSpc>
                          <a:spcPts val="2360"/>
                        </a:lnSpc>
                      </a:pPr>
                      <a:r>
                        <a:rPr sz="2000" dirty="0">
                          <a:solidFill>
                            <a:srgbClr val="4D4D4F"/>
                          </a:solidFill>
                          <a:latin typeface="Arial"/>
                          <a:cs typeface="Arial"/>
                        </a:rPr>
                        <a:t>Rajkumar</a:t>
                      </a:r>
                      <a:r>
                        <a:rPr sz="2000" spc="-90" dirty="0">
                          <a:solidFill>
                            <a:srgbClr val="4D4D4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2000" spc="-10" dirty="0">
                          <a:solidFill>
                            <a:srgbClr val="4D4D4F"/>
                          </a:solidFill>
                          <a:latin typeface="Arial"/>
                          <a:cs typeface="Arial"/>
                        </a:rPr>
                        <a:t>Easwaran</a:t>
                      </a:r>
                      <a:endParaRPr sz="20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4D4D4F"/>
                      </a:solidFill>
                      <a:prstDash val="solid"/>
                    </a:lnL>
                    <a:lnR w="12700">
                      <a:solidFill>
                        <a:srgbClr val="4D4D4F"/>
                      </a:solidFill>
                      <a:prstDash val="solid"/>
                    </a:lnR>
                    <a:lnT w="12700">
                      <a:solidFill>
                        <a:srgbClr val="4D4D4F"/>
                      </a:solidFill>
                      <a:prstDash val="solid"/>
                    </a:lnT>
                    <a:lnB w="12700">
                      <a:solidFill>
                        <a:srgbClr val="4D4D4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pic>
        <p:nvPicPr>
          <p:cNvPr id="2" name="object 2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1247577" y="6316636"/>
            <a:ext cx="633620" cy="304787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12017588" y="6606505"/>
            <a:ext cx="96520" cy="167640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000" spc="-50" dirty="0">
                <a:solidFill>
                  <a:srgbClr val="B7B7B8"/>
                </a:solidFill>
                <a:latin typeface="Arial"/>
                <a:cs typeface="Arial"/>
              </a:rPr>
              <a:t>8</a:t>
            </a:r>
            <a:endParaRPr sz="10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xfrm>
            <a:off x="1030093" y="1804073"/>
            <a:ext cx="2355850" cy="695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400" b="0" spc="-10" dirty="0">
                <a:solidFill>
                  <a:srgbClr val="FFFFFF"/>
                </a:solidFill>
                <a:latin typeface="Arial"/>
                <a:cs typeface="Arial"/>
              </a:rPr>
              <a:t>Appendix</a:t>
            </a:r>
            <a:endParaRPr sz="4400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030094" y="6051245"/>
            <a:ext cx="3007995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-10" dirty="0">
                <a:solidFill>
                  <a:srgbClr val="FFFFFF"/>
                </a:solidFill>
                <a:latin typeface="Arial"/>
                <a:cs typeface="Arial"/>
              </a:rPr>
              <a:t>bcpensioncorp.ca</a:t>
            </a:r>
            <a:endParaRPr sz="30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1432540" y="6592493"/>
            <a:ext cx="15303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4D4D4F"/>
                </a:solidFill>
                <a:latin typeface="Arial"/>
                <a:cs typeface="Arial"/>
              </a:rPr>
              <a:t>9</a:t>
            </a:r>
            <a:endParaRPr sz="1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8430" rIns="0" bIns="0" rtlCol="0">
            <a:spAutoFit/>
          </a:bodyPr>
          <a:lstStyle/>
          <a:p>
            <a:pPr marL="18415">
              <a:lnSpc>
                <a:spcPct val="100000"/>
              </a:lnSpc>
              <a:spcBef>
                <a:spcPts val="1090"/>
              </a:spcBef>
            </a:pPr>
            <a:r>
              <a:rPr dirty="0"/>
              <a:t>Workspace &amp; Environments</a:t>
            </a:r>
          </a:p>
          <a:p>
            <a:pPr marL="12700">
              <a:lnSpc>
                <a:spcPct val="100000"/>
              </a:lnSpc>
              <a:spcBef>
                <a:spcPts val="465"/>
              </a:spcBef>
            </a:pPr>
            <a:r>
              <a:rPr sz="1900" spc="-20" dirty="0">
                <a:solidFill>
                  <a:srgbClr val="00778A"/>
                </a:solidFill>
              </a:rPr>
              <a:t>E N V I R O N M E N T S   A N D   D E P L O Y M E N T</a:t>
            </a:r>
            <a:endParaRPr sz="1900"/>
          </a:p>
        </p:txBody>
      </p:sp>
      <p:sp>
        <p:nvSpPr>
          <p:cNvPr id="3" name="object 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5"/>
              </a:spcBef>
            </a:pPr>
            <a:fld id="{81D60167-4931-47E6-BA6A-407CBD079E47}" type="slidenum">
              <a:rPr spc="-50" dirty="0"/>
              <a:t>5</a:t>
            </a:fld>
            <a:endParaRPr spc="-50" dirty="0"/>
          </a:p>
        </p:txBody>
      </p:sp>
      <p:pic>
        <p:nvPicPr>
          <p:cNvPr id="4" name="Picture 3" descr="d2_environm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440" y="1481328"/>
            <a:ext cx="11247120" cy="520389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8430" rIns="0" bIns="0" rtlCol="0">
            <a:spAutoFit/>
          </a:bodyPr>
          <a:lstStyle/>
          <a:p>
            <a:pPr marL="18415">
              <a:lnSpc>
                <a:spcPct val="100000"/>
              </a:lnSpc>
              <a:spcBef>
                <a:spcPts val="1090"/>
              </a:spcBef>
            </a:pPr>
            <a:r>
              <a:rPr dirty="0"/>
              <a:t>Security, Access &amp; Governance</a:t>
            </a:r>
          </a:p>
          <a:p>
            <a:pPr marL="12700">
              <a:lnSpc>
                <a:spcPct val="100000"/>
              </a:lnSpc>
              <a:spcBef>
                <a:spcPts val="465"/>
              </a:spcBef>
            </a:pPr>
            <a:r>
              <a:rPr sz="1900" spc="-20" dirty="0">
                <a:solidFill>
                  <a:srgbClr val="00778A"/>
                </a:solidFill>
              </a:rPr>
              <a:t>I D E N T I T Y ,   A C C E S S   A N D   D A T A   P R O T E C T I O N</a:t>
            </a:r>
            <a:endParaRPr sz="1900"/>
          </a:p>
        </p:txBody>
      </p:sp>
      <p:sp>
        <p:nvSpPr>
          <p:cNvPr id="3" name="object 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5"/>
              </a:spcBef>
            </a:pPr>
            <a:fld id="{81D60167-4931-47E6-BA6A-407CBD079E47}" type="slidenum">
              <a:rPr spc="-50" dirty="0"/>
              <a:t>5</a:t>
            </a:fld>
            <a:endParaRPr spc="-50" dirty="0"/>
          </a:p>
        </p:txBody>
      </p:sp>
      <p:pic>
        <p:nvPicPr>
          <p:cNvPr id="4" name="Picture 3" descr="d3_secur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440" y="1481328"/>
            <a:ext cx="11247120" cy="520389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8430" rIns="0" bIns="0" rtlCol="0">
            <a:spAutoFit/>
          </a:bodyPr>
          <a:lstStyle/>
          <a:p>
            <a:pPr marL="18415">
              <a:lnSpc>
                <a:spcPct val="100000"/>
              </a:lnSpc>
              <a:spcBef>
                <a:spcPts val="1090"/>
              </a:spcBef>
            </a:pPr>
            <a:r>
              <a:rPr dirty="0"/>
              <a:t>Connectivity &amp; Gateway</a:t>
            </a:r>
          </a:p>
          <a:p>
            <a:pPr marL="12700">
              <a:lnSpc>
                <a:spcPct val="100000"/>
              </a:lnSpc>
              <a:spcBef>
                <a:spcPts val="465"/>
              </a:spcBef>
            </a:pPr>
            <a:r>
              <a:rPr sz="1900" spc="-20" dirty="0">
                <a:solidFill>
                  <a:srgbClr val="00778A"/>
                </a:solidFill>
              </a:rPr>
              <a:t>P R I V A T E   P A T H S   F R O M   S O U R C E   T O   F A B R I C</a:t>
            </a:r>
            <a:endParaRPr sz="1900"/>
          </a:p>
        </p:txBody>
      </p:sp>
      <p:sp>
        <p:nvSpPr>
          <p:cNvPr id="3" name="object 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5"/>
              </a:spcBef>
            </a:pPr>
            <a:fld id="{81D60167-4931-47E6-BA6A-407CBD079E47}" type="slidenum">
              <a:rPr spc="-50" dirty="0"/>
              <a:t>5</a:t>
            </a:fld>
            <a:endParaRPr spc="-50" dirty="0"/>
          </a:p>
        </p:txBody>
      </p:sp>
      <p:pic>
        <p:nvPicPr>
          <p:cNvPr id="4" name="Picture 3" descr="d4_gatew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440" y="1481328"/>
            <a:ext cx="11247120" cy="520389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8430" rIns="0" bIns="0" rtlCol="0">
            <a:spAutoFit/>
          </a:bodyPr>
          <a:lstStyle/>
          <a:p>
            <a:pPr marL="18415">
              <a:lnSpc>
                <a:spcPct val="100000"/>
              </a:lnSpc>
              <a:spcBef>
                <a:spcPts val="1090"/>
              </a:spcBef>
            </a:pPr>
            <a:r>
              <a:rPr dirty="0"/>
              <a:t>Component Options</a:t>
            </a:r>
          </a:p>
          <a:p>
            <a:pPr marL="12700">
              <a:lnSpc>
                <a:spcPct val="100000"/>
              </a:lnSpc>
              <a:spcBef>
                <a:spcPts val="465"/>
              </a:spcBef>
            </a:pPr>
            <a:r>
              <a:rPr sz="1900" dirty="0">
                <a:solidFill>
                  <a:srgbClr val="00778A"/>
                </a:solidFill>
              </a:rPr>
              <a:t>W H E R E   T H E R E   I S   A   C H O I C E</a:t>
            </a:r>
            <a:endParaRPr sz="1900"/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848712" y="0"/>
            <a:ext cx="3324859" cy="2423363"/>
          </a:xfrm>
          <a:prstGeom prst="rect">
            <a:avLst/>
          </a:prstGeom>
        </p:spPr>
      </p:pic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247577" y="6316636"/>
            <a:ext cx="633620" cy="304787"/>
          </a:xfrm>
          <a:prstGeom prst="rect">
            <a:avLst/>
          </a:prstGeom>
        </p:spPr>
      </p:pic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5"/>
              </a:spcBef>
            </a:pPr>
            <a:fld id="{81D60167-4931-47E6-BA6A-407CBD079E47}" type="slidenum">
              <a:rPr spc="-50" dirty="0"/>
              <a:t>4</a:t>
            </a:fld>
            <a:endParaRPr spc="-50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22376" y="1517904"/>
          <a:ext cx="10799063" cy="42885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9454"/>
                <a:gridCol w="8419609"/>
              </a:tblGrid>
              <a:tr h="612648"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100" b="1" i="0">
                          <a:solidFill>
                            <a:srgbClr val="28525B"/>
                          </a:solidFill>
                          <a:latin typeface="Arial"/>
                        </a:rPr>
                        <a:t>Storage &amp; modelling</a:t>
                      </a:r>
                    </a:p>
                  </a:txBody>
                  <a:tcPr anchor="t" marL="91440" marR="91440" marT="54864" marB="54864">
                    <a:solidFill>
                      <a:srgbClr val="E8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4D4D4F"/>
                          </a:solidFill>
                          <a:latin typeface="Arial"/>
                        </a:rPr>
                        <a:t>Lakehouse (Spark, Python) or Warehouse (T-SQL write) — both read the same OneLake storage, so this is a question of engine and skills, not of copies.</a:t>
                      </a:r>
                    </a:p>
                  </a:txBody>
                  <a:tcPr anchor="t" marL="91440" marR="91440" marT="54864" marB="54864">
                    <a:solidFill>
                      <a:srgbClr val="FAFCFD"/>
                    </a:solidFill>
                  </a:tcPr>
                </a:tc>
              </a:tr>
              <a:tr h="612648"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100" b="1" i="0">
                          <a:solidFill>
                            <a:srgbClr val="28525B"/>
                          </a:solidFill>
                          <a:latin typeface="Arial"/>
                        </a:rPr>
                        <a:t>Ingestion</a:t>
                      </a:r>
                    </a:p>
                  </a:txBody>
                  <a:tcPr anchor="t" marL="91440" marR="91440" marT="54864" marB="54864">
                    <a:solidFill>
                      <a:srgbClr val="F4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4D4D4F"/>
                          </a:solidFill>
                          <a:latin typeface="Arial"/>
                        </a:rPr>
                        <a:t>Mirroring for near-real-time replication · pipelines and Copy Job for batch · Dataflow Gen2 for low-code shaping · shortcuts to reference data in place without copying · event and file triggers for drop-based loads.</a:t>
                      </a:r>
                    </a:p>
                  </a:txBody>
                  <a:tcPr anchor="t" marL="91440" marR="91440" marT="54864" marB="54864">
                    <a:solidFill>
                      <a:srgbClr val="FFFFFF"/>
                    </a:solidFill>
                  </a:tcPr>
                </a:tc>
              </a:tr>
              <a:tr h="612648"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100" b="1" i="0">
                          <a:solidFill>
                            <a:srgbClr val="28525B"/>
                          </a:solidFill>
                          <a:latin typeface="Arial"/>
                        </a:rPr>
                        <a:t>Mirroring source support</a:t>
                      </a:r>
                    </a:p>
                  </a:txBody>
                  <a:tcPr anchor="t" marL="91440" marR="91440" marT="54864" marB="54864">
                    <a:solidFill>
                      <a:srgbClr val="E8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4D4D4F"/>
                          </a:solidFill>
                          <a:latin typeface="Arial"/>
                        </a:rPr>
                        <a:t>Oracle requires the on-premises data gateway — the VNet gateway is not an option. SQL Server, Snowflake and Azure SQL accept either gateway; PostgreSQL uses the VNet gateway; Cosmos DB, Fabric SQL DB and open mirroring need none.</a:t>
                      </a:r>
                    </a:p>
                  </a:txBody>
                  <a:tcPr anchor="t" marL="91440" marR="91440" marT="54864" marB="54864">
                    <a:solidFill>
                      <a:srgbClr val="FAFCFD"/>
                    </a:solidFill>
                  </a:tcPr>
                </a:tc>
              </a:tr>
              <a:tr h="612648"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100" b="1" i="0">
                          <a:solidFill>
                            <a:srgbClr val="28525B"/>
                          </a:solidFill>
                          <a:latin typeface="Arial"/>
                        </a:rPr>
                        <a:t>Gateway</a:t>
                      </a:r>
                    </a:p>
                  </a:txBody>
                  <a:tcPr anchor="t" marL="91440" marR="91440" marT="54864" marB="54864">
                    <a:solidFill>
                      <a:srgbClr val="F4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4D4D4F"/>
                          </a:solidFill>
                          <a:latin typeface="Arial"/>
                        </a:rPr>
                        <a:t>VNet data gateway is Microsoft-managed with nothing to install; the on-premises gateway is self-hosted and clustered. Which applies follows from where the source sits. The VNet gateway requires a P / F / A4+ capacity, F8 or above.</a:t>
                      </a:r>
                    </a:p>
                  </a:txBody>
                  <a:tcPr anchor="t" marL="91440" marR="91440" marT="54864" marB="54864">
                    <a:solidFill>
                      <a:srgbClr val="FFFFFF"/>
                    </a:solidFill>
                  </a:tcPr>
                </a:tc>
              </a:tr>
              <a:tr h="612648"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100" b="1" i="0">
                          <a:solidFill>
                            <a:srgbClr val="28525B"/>
                          </a:solidFill>
                          <a:latin typeface="Arial"/>
                        </a:rPr>
                        <a:t>Environments</a:t>
                      </a:r>
                    </a:p>
                  </a:txBody>
                  <a:tcPr anchor="t" marL="91440" marR="91440" marT="54864" marB="54864">
                    <a:solidFill>
                      <a:srgbClr val="E8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4D4D4F"/>
                          </a:solidFill>
                          <a:latin typeface="Arial"/>
                        </a:rPr>
                        <a:t>Separate workspaces per environment, each with its own identities, secrets and source connections — optionally on separate capacities where isolation of performance or billing is wanted.</a:t>
                      </a:r>
                    </a:p>
                  </a:txBody>
                  <a:tcPr anchor="t" marL="91440" marR="91440" marT="54864" marB="54864">
                    <a:solidFill>
                      <a:srgbClr val="FAFCFD"/>
                    </a:solidFill>
                  </a:tcPr>
                </a:tc>
              </a:tr>
              <a:tr h="612648"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100" b="1" i="0">
                          <a:solidFill>
                            <a:srgbClr val="28525B"/>
                          </a:solidFill>
                          <a:latin typeface="Arial"/>
                        </a:rPr>
                        <a:t>Access</a:t>
                      </a:r>
                    </a:p>
                  </a:txBody>
                  <a:tcPr anchor="t" marL="91440" marR="91440" marT="54864" marB="54864">
                    <a:solidFill>
                      <a:srgbClr val="F4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4D4D4F"/>
                          </a:solidFill>
                          <a:latin typeface="Arial"/>
                        </a:rPr>
                        <a:t>Granted to Entra security groups rather than individuals, narrowing through workspace roles, item permissions and OneLake row / column security and masking.</a:t>
                      </a:r>
                    </a:p>
                  </a:txBody>
                  <a:tcPr anchor="t" marL="91440" marR="91440" marT="54864" marB="54864">
                    <a:solidFill>
                      <a:srgbClr val="FFFFFF"/>
                    </a:solidFill>
                  </a:tcPr>
                </a:tc>
              </a:tr>
              <a:tr h="612648"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100" b="1" i="0">
                          <a:solidFill>
                            <a:srgbClr val="28525B"/>
                          </a:solidFill>
                          <a:latin typeface="Arial"/>
                        </a:rPr>
                        <a:t>Governance tooling</a:t>
                      </a:r>
                    </a:p>
                  </a:txBody>
                  <a:tcPr anchor="t" marL="91440" marR="91440" marT="54864" marB="54864">
                    <a:solidFill>
                      <a:srgbClr val="E8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4D4D4F"/>
                          </a:solidFill>
                          <a:latin typeface="Arial"/>
                        </a:rPr>
                        <a:t>Fabric's built-in catalog, lineage, endorsement and labels cover the platform. Purview and Sentinel extend governance beyond Fabric, when scope demands.</a:t>
                      </a:r>
                    </a:p>
                  </a:txBody>
                  <a:tcPr anchor="t" marL="91440" marR="91440" marT="54864" marB="54864">
                    <a:solidFill>
                      <a:srgbClr val="FAFCF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8430" rIns="0" bIns="0" rtlCol="0">
            <a:spAutoFit/>
          </a:bodyPr>
          <a:lstStyle/>
          <a:p>
            <a:pPr marL="18415">
              <a:lnSpc>
                <a:spcPct val="100000"/>
              </a:lnSpc>
              <a:spcBef>
                <a:spcPts val="1090"/>
              </a:spcBef>
            </a:pPr>
            <a:r>
              <a:rPr dirty="0"/>
              <a:t>Implementation Considerations</a:t>
            </a:r>
          </a:p>
          <a:p>
            <a:pPr marL="12700">
              <a:lnSpc>
                <a:spcPct val="100000"/>
              </a:lnSpc>
              <a:spcBef>
                <a:spcPts val="465"/>
              </a:spcBef>
            </a:pPr>
            <a:r>
              <a:rPr sz="1900" dirty="0">
                <a:solidFill>
                  <a:srgbClr val="00778A"/>
                </a:solidFill>
              </a:rPr>
              <a:t>W H A T   S H A P E S   T H E   B U I L D</a:t>
            </a:r>
            <a:endParaRPr sz="1900"/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848712" y="0"/>
            <a:ext cx="3324859" cy="2423363"/>
          </a:xfrm>
          <a:prstGeom prst="rect">
            <a:avLst/>
          </a:prstGeom>
        </p:spPr>
      </p:pic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247577" y="6316636"/>
            <a:ext cx="633620" cy="304787"/>
          </a:xfrm>
          <a:prstGeom prst="rect">
            <a:avLst/>
          </a:prstGeom>
        </p:spPr>
      </p:pic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5"/>
              </a:spcBef>
            </a:pPr>
            <a:fld id="{81D60167-4931-47E6-BA6A-407CBD079E47}" type="slidenum">
              <a:rPr spc="-50" dirty="0"/>
              <a:t>4</a:t>
            </a:fld>
            <a:endParaRPr spc="-50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22376" y="1517904"/>
          <a:ext cx="10799063" cy="42611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9454"/>
                <a:gridCol w="8419609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Consideration</a:t>
                      </a:r>
                    </a:p>
                  </a:txBody>
                  <a:tcPr anchor="t" marL="91440" marR="91440" marT="54864" marB="54864">
                    <a:solidFill>
                      <a:srgbClr val="0077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What it means for the build</a:t>
                      </a:r>
                    </a:p>
                  </a:txBody>
                  <a:tcPr anchor="t" marL="91440" marR="91440" marT="54864" marB="54864">
                    <a:solidFill>
                      <a:srgbClr val="00778A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100" b="1" i="0">
                          <a:solidFill>
                            <a:srgbClr val="28525B"/>
                          </a:solidFill>
                          <a:latin typeface="Arial"/>
                        </a:rPr>
                        <a:t>Sensitive data</a:t>
                      </a:r>
                    </a:p>
                  </a:txBody>
                  <a:tcPr anchor="t" marL="91440" marR="91440" marT="54864" marB="54864">
                    <a:solidFill>
                      <a:srgbClr val="F4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4D4D4F"/>
                          </a:solidFill>
                          <a:latin typeface="Arial"/>
                        </a:rPr>
                        <a:t>Row and column security and masking are applied from configuration and enforced across engines — but they bind only non-privileged users. Workspace admins, members and contributors read all data regardless, so privileged membership is the real control.</a:t>
                      </a:r>
                    </a:p>
                  </a:txBody>
                  <a:tcPr anchor="t" marL="91440" marR="91440" marT="54864" marB="54864">
                    <a:solidFill>
                      <a:srgbClr val="F4F7F8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100" b="1" i="0">
                          <a:solidFill>
                            <a:srgbClr val="28525B"/>
                          </a:solidFill>
                          <a:latin typeface="Arial"/>
                        </a:rPr>
                        <a:t>Privileged access</a:t>
                      </a:r>
                    </a:p>
                  </a:txBody>
                  <a:tcPr anchor="t"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4D4D4F"/>
                          </a:solidFill>
                          <a:latin typeface="Arial"/>
                        </a:rPr>
                        <a:t>Production change access is best held by a deployment identity rather than people, with administrator roles elevated just in time. This shapes how workspaces and identities are laid out from the start.</a:t>
                      </a:r>
                    </a:p>
                  </a:txBody>
                  <a:tcPr anchor="t" marL="91440" marR="91440" marT="54864" marB="54864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100" b="1" i="0">
                          <a:solidFill>
                            <a:srgbClr val="28525B"/>
                          </a:solidFill>
                          <a:latin typeface="Arial"/>
                        </a:rPr>
                        <a:t>Source prerequisites</a:t>
                      </a:r>
                    </a:p>
                  </a:txBody>
                  <a:tcPr anchor="t" marL="91440" marR="91440" marT="54864" marB="54864">
                    <a:solidFill>
                      <a:srgbClr val="F4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4D4D4F"/>
                          </a:solidFill>
                          <a:latin typeface="Arial"/>
                        </a:rPr>
                        <a:t>Mirroring places requirements on the source: Oracle needs LogMiner, archive log mode, supplemental logging and a broad grant set; SQL Server uses change data capture. These are database-side commitments, not Fabric configuration.</a:t>
                      </a:r>
                    </a:p>
                  </a:txBody>
                  <a:tcPr anchor="t" marL="91440" marR="91440" marT="54864" marB="54864">
                    <a:solidFill>
                      <a:srgbClr val="F4F7F8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100" b="1" i="0">
                          <a:solidFill>
                            <a:srgbClr val="28525B"/>
                          </a:solidFill>
                          <a:latin typeface="Arial"/>
                        </a:rPr>
                        <a:t>Capacity behaviour</a:t>
                      </a:r>
                    </a:p>
                  </a:txBody>
                  <a:tcPr anchor="t"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4D4D4F"/>
                          </a:solidFill>
                          <a:latin typeface="Arial"/>
                        </a:rPr>
                        <a:t>Capacity is the shared resource behind every workload. Surge protection, throttling guardrails and Capacity Metrics monitoring determine whether one workload can affect another; separate capacities buy isolation at additional cost.</a:t>
                      </a:r>
                    </a:p>
                  </a:txBody>
                  <a:tcPr anchor="t" marL="91440" marR="91440" marT="54864" marB="54864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100" b="1" i="0">
                          <a:solidFill>
                            <a:srgbClr val="28525B"/>
                          </a:solidFill>
                          <a:latin typeface="Arial"/>
                        </a:rPr>
                        <a:t>Workspace and content sprawl</a:t>
                      </a:r>
                    </a:p>
                  </a:txBody>
                  <a:tcPr anchor="t" marL="91440" marR="91440" marT="54864" marB="54864">
                    <a:solidFill>
                      <a:srgbClr val="F4F7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4D4D4F"/>
                          </a:solidFill>
                          <a:latin typeface="Arial"/>
                        </a:rPr>
                        <a:t>Workspace creation, capacity assignment and item endorsement are tenant-level controls. Left open, the estate fragments; restricted to a request process and provisioned from code, it stays consistent.</a:t>
                      </a:r>
                    </a:p>
                  </a:txBody>
                  <a:tcPr anchor="t" marL="91440" marR="91440" marT="54864" marB="54864">
                    <a:solidFill>
                      <a:srgbClr val="F4F7F8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100" b="1" i="0">
                          <a:solidFill>
                            <a:srgbClr val="28525B"/>
                          </a:solidFill>
                          <a:latin typeface="Arial"/>
                        </a:rPr>
                        <a:t>Skills and operating model</a:t>
                      </a:r>
                    </a:p>
                  </a:txBody>
                  <a:tcPr anchor="t"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4D4D4F"/>
                          </a:solidFill>
                          <a:latin typeface="Arial"/>
                        </a:rPr>
                        <a:t>Configuration-driven onboarding keeps effort per source small, but the platform still needs named owners for capacity, domains and data products, and a promotion path that people follow.</a:t>
                      </a:r>
                    </a:p>
                  </a:txBody>
                  <a:tcPr anchor="t" marL="91440" marR="91440" marT="54864" marB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701</Words>
  <Application>Microsoft Office PowerPoint</Application>
  <PresentationFormat>Widescreen</PresentationFormat>
  <Paragraphs>117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Calibri</vt:lpstr>
      <vt:lpstr>Segoe UI Symbol</vt:lpstr>
      <vt:lpstr>Times New Roman</vt:lpstr>
      <vt:lpstr>Office Theme</vt:lpstr>
      <vt:lpstr>01</vt:lpstr>
      <vt:lpstr>Business Problem</vt:lpstr>
      <vt:lpstr>Business Goals</vt:lpstr>
      <vt:lpstr>Options &amp; Analysis S O L U T I O N S  T O  A D D R E S S  B U S I N E S S  P R O B L E M</vt:lpstr>
      <vt:lpstr>High Level Architecture Diagram L O G I C A L  A R C H I T E C T U R E</vt:lpstr>
      <vt:lpstr>Recommended Solution &amp; Approach</vt:lpstr>
      <vt:lpstr>Outcome T A G  A P P R O V A L S</vt:lpstr>
      <vt:lpstr>Appendix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Xu, Shuo (BC Pension)</cp:lastModifiedBy>
  <cp:revision>1</cp:revision>
  <dcterms:created xsi:type="dcterms:W3CDTF">2026-08-04T17:17:21Z</dcterms:created>
  <dcterms:modified xsi:type="dcterms:W3CDTF">2026-08-04T17:18:03Z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StructuredOutput v10.0.20070.1</vt:lpwstr>
  </property>
  <property fmtid="{D5CDD505-2E9C-101B-9397-08002B2CF9AE}" pid="3" name="Created">
    <vt:filetime>2026-08-04T00:00:00Z</vt:filetime>
  </property>
  <property fmtid="{D5CDD505-2E9C-101B-9397-08002B2CF9AE}" pid="4" name="LastSaved">
    <vt:filetime>2026-08-04T00:00:00Z</vt:filetime>
  </property>
  <property fmtid="{D5CDD505-2E9C-101B-9397-08002B2CF9AE}" pid="5" name="Producer">
    <vt:lpwstr>3-Heights(TM) PDF Security Shell 4.8.25.2 (http://www.pdf-tools.com)</vt:lpwstr>
  </property>
</Properties>
</file>