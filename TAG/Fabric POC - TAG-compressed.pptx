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798" y="1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28525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B7B7B8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28525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B7B7B8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28525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B7B7B8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28525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B7B7B8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B7B7B8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247577" y="6316636"/>
            <a:ext cx="633620" cy="30478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848712" y="0"/>
            <a:ext cx="3324859" cy="242336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05169" y="380531"/>
            <a:ext cx="7901940" cy="1109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28525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1978" y="1577022"/>
            <a:ext cx="10888345" cy="46227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992188" y="6606505"/>
            <a:ext cx="160020" cy="167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B7B7B8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986655" cy="6858000"/>
            </a:xfrm>
            <a:custGeom>
              <a:avLst/>
              <a:gdLst/>
              <a:ahLst/>
              <a:cxnLst/>
              <a:rect l="l" t="t" r="r" b="b"/>
              <a:pathLst>
                <a:path w="4986655" h="6858000">
                  <a:moveTo>
                    <a:pt x="0" y="6858000"/>
                  </a:moveTo>
                  <a:lnTo>
                    <a:pt x="4986261" y="6858000"/>
                  </a:lnTo>
                  <a:lnTo>
                    <a:pt x="4986261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2852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986261" y="0"/>
              <a:ext cx="7205980" cy="6858000"/>
            </a:xfrm>
            <a:custGeom>
              <a:avLst/>
              <a:gdLst/>
              <a:ahLst/>
              <a:cxnLst/>
              <a:rect l="l" t="t" r="r" b="b"/>
              <a:pathLst>
                <a:path w="7205980" h="6858000">
                  <a:moveTo>
                    <a:pt x="0" y="6858000"/>
                  </a:moveTo>
                  <a:lnTo>
                    <a:pt x="0" y="0"/>
                  </a:lnTo>
                  <a:lnTo>
                    <a:pt x="7205738" y="0"/>
                  </a:lnTo>
                  <a:lnTo>
                    <a:pt x="7205738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82405" y="6208"/>
              <a:ext cx="3309594" cy="242336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342826" y="1475015"/>
              <a:ext cx="5310505" cy="4090035"/>
            </a:xfrm>
            <a:custGeom>
              <a:avLst/>
              <a:gdLst/>
              <a:ahLst/>
              <a:cxnLst/>
              <a:rect l="l" t="t" r="r" b="b"/>
              <a:pathLst>
                <a:path w="5310505" h="4090035">
                  <a:moveTo>
                    <a:pt x="5301234" y="4077119"/>
                  </a:moveTo>
                  <a:lnTo>
                    <a:pt x="0" y="4077119"/>
                  </a:lnTo>
                  <a:lnTo>
                    <a:pt x="0" y="4089806"/>
                  </a:lnTo>
                  <a:lnTo>
                    <a:pt x="5301234" y="4089806"/>
                  </a:lnTo>
                  <a:lnTo>
                    <a:pt x="5301234" y="4077119"/>
                  </a:lnTo>
                  <a:close/>
                </a:path>
                <a:path w="5310505" h="4090035">
                  <a:moveTo>
                    <a:pt x="5301234" y="3065183"/>
                  </a:moveTo>
                  <a:lnTo>
                    <a:pt x="0" y="3065183"/>
                  </a:lnTo>
                  <a:lnTo>
                    <a:pt x="0" y="3077870"/>
                  </a:lnTo>
                  <a:lnTo>
                    <a:pt x="5301234" y="3077870"/>
                  </a:lnTo>
                  <a:lnTo>
                    <a:pt x="5301234" y="3065183"/>
                  </a:lnTo>
                  <a:close/>
                </a:path>
                <a:path w="5310505" h="4090035">
                  <a:moveTo>
                    <a:pt x="5301234" y="2072957"/>
                  </a:moveTo>
                  <a:lnTo>
                    <a:pt x="0" y="2072957"/>
                  </a:lnTo>
                  <a:lnTo>
                    <a:pt x="0" y="2085644"/>
                  </a:lnTo>
                  <a:lnTo>
                    <a:pt x="5301234" y="2085644"/>
                  </a:lnTo>
                  <a:lnTo>
                    <a:pt x="5301234" y="2072957"/>
                  </a:lnTo>
                  <a:close/>
                </a:path>
                <a:path w="5310505" h="4090035">
                  <a:moveTo>
                    <a:pt x="5310378" y="992225"/>
                  </a:moveTo>
                  <a:lnTo>
                    <a:pt x="9144" y="992225"/>
                  </a:lnTo>
                  <a:lnTo>
                    <a:pt x="9144" y="1004912"/>
                  </a:lnTo>
                  <a:lnTo>
                    <a:pt x="5310378" y="1004912"/>
                  </a:lnTo>
                  <a:lnTo>
                    <a:pt x="5310378" y="992225"/>
                  </a:lnTo>
                  <a:close/>
                </a:path>
                <a:path w="5310505" h="4090035">
                  <a:moveTo>
                    <a:pt x="5310378" y="0"/>
                  </a:moveTo>
                  <a:lnTo>
                    <a:pt x="9144" y="0"/>
                  </a:lnTo>
                  <a:lnTo>
                    <a:pt x="9144" y="12687"/>
                  </a:lnTo>
                  <a:lnTo>
                    <a:pt x="5310378" y="12687"/>
                  </a:lnTo>
                  <a:lnTo>
                    <a:pt x="531037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9625" y="5816422"/>
              <a:ext cx="2619527" cy="37257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342826" y="1475015"/>
              <a:ext cx="5310505" cy="4090035"/>
            </a:xfrm>
            <a:custGeom>
              <a:avLst/>
              <a:gdLst/>
              <a:ahLst/>
              <a:cxnLst/>
              <a:rect l="l" t="t" r="r" b="b"/>
              <a:pathLst>
                <a:path w="5310505" h="4090035">
                  <a:moveTo>
                    <a:pt x="5301234" y="4077119"/>
                  </a:moveTo>
                  <a:lnTo>
                    <a:pt x="0" y="4077119"/>
                  </a:lnTo>
                  <a:lnTo>
                    <a:pt x="0" y="4089806"/>
                  </a:lnTo>
                  <a:lnTo>
                    <a:pt x="5301234" y="4089806"/>
                  </a:lnTo>
                  <a:lnTo>
                    <a:pt x="5301234" y="4077119"/>
                  </a:lnTo>
                  <a:close/>
                </a:path>
                <a:path w="5310505" h="4090035">
                  <a:moveTo>
                    <a:pt x="5301234" y="3065183"/>
                  </a:moveTo>
                  <a:lnTo>
                    <a:pt x="0" y="3065183"/>
                  </a:lnTo>
                  <a:lnTo>
                    <a:pt x="0" y="3077870"/>
                  </a:lnTo>
                  <a:lnTo>
                    <a:pt x="5301234" y="3077870"/>
                  </a:lnTo>
                  <a:lnTo>
                    <a:pt x="5301234" y="3065183"/>
                  </a:lnTo>
                  <a:close/>
                </a:path>
                <a:path w="5310505" h="4090035">
                  <a:moveTo>
                    <a:pt x="5301234" y="2072957"/>
                  </a:moveTo>
                  <a:lnTo>
                    <a:pt x="0" y="2072957"/>
                  </a:lnTo>
                  <a:lnTo>
                    <a:pt x="0" y="2085644"/>
                  </a:lnTo>
                  <a:lnTo>
                    <a:pt x="5301234" y="2085644"/>
                  </a:lnTo>
                  <a:lnTo>
                    <a:pt x="5301234" y="2072957"/>
                  </a:lnTo>
                  <a:close/>
                </a:path>
                <a:path w="5310505" h="4090035">
                  <a:moveTo>
                    <a:pt x="5310378" y="992225"/>
                  </a:moveTo>
                  <a:lnTo>
                    <a:pt x="9144" y="992225"/>
                  </a:lnTo>
                  <a:lnTo>
                    <a:pt x="9144" y="1004912"/>
                  </a:lnTo>
                  <a:lnTo>
                    <a:pt x="5310378" y="1004912"/>
                  </a:lnTo>
                  <a:lnTo>
                    <a:pt x="5310378" y="992225"/>
                  </a:lnTo>
                  <a:close/>
                </a:path>
                <a:path w="5310505" h="4090035">
                  <a:moveTo>
                    <a:pt x="5310378" y="0"/>
                  </a:moveTo>
                  <a:lnTo>
                    <a:pt x="9144" y="0"/>
                  </a:lnTo>
                  <a:lnTo>
                    <a:pt x="9144" y="12687"/>
                  </a:lnTo>
                  <a:lnTo>
                    <a:pt x="5310378" y="12687"/>
                  </a:lnTo>
                  <a:lnTo>
                    <a:pt x="531037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5420194" y="423396"/>
            <a:ext cx="6470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01</a:t>
            </a:r>
            <a:endParaRPr sz="4400"/>
          </a:p>
        </p:txBody>
      </p:sp>
      <p:sp>
        <p:nvSpPr>
          <p:cNvPr id="9" name="object 9"/>
          <p:cNvSpPr txBox="1"/>
          <p:nvPr/>
        </p:nvSpPr>
        <p:spPr>
          <a:xfrm>
            <a:off x="6293815" y="563892"/>
            <a:ext cx="22409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778A"/>
                </a:solidFill>
                <a:latin typeface="Arial"/>
                <a:cs typeface="Arial"/>
              </a:rPr>
              <a:t>Business</a:t>
            </a:r>
            <a:r>
              <a:rPr sz="2000" b="1" spc="-95" dirty="0">
                <a:solidFill>
                  <a:srgbClr val="00778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778A"/>
                </a:solidFill>
                <a:latin typeface="Arial"/>
                <a:cs typeface="Arial"/>
              </a:rPr>
              <a:t>Problem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88366" y="1170887"/>
            <a:ext cx="19431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FFFFFF"/>
                </a:solidFill>
                <a:latin typeface="Arial"/>
                <a:cs typeface="Arial"/>
              </a:rPr>
              <a:t>Content</a:t>
            </a:r>
            <a:endParaRPr sz="4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420194" y="1383525"/>
            <a:ext cx="6470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25" dirty="0">
                <a:solidFill>
                  <a:srgbClr val="28525B"/>
                </a:solidFill>
                <a:latin typeface="Arial"/>
                <a:cs typeface="Arial"/>
              </a:rPr>
              <a:t>02</a:t>
            </a:r>
            <a:endParaRPr sz="4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93815" y="1574837"/>
            <a:ext cx="19310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778A"/>
                </a:solidFill>
                <a:latin typeface="Arial"/>
                <a:cs typeface="Arial"/>
              </a:rPr>
              <a:t>Business</a:t>
            </a:r>
            <a:r>
              <a:rPr sz="2000" b="1" spc="-95" dirty="0">
                <a:solidFill>
                  <a:srgbClr val="00778A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00778A"/>
                </a:solidFill>
                <a:latin typeface="Arial"/>
                <a:cs typeface="Arial"/>
              </a:rPr>
              <a:t>Goals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300594" y="2202256"/>
            <a:ext cx="2474595" cy="2463800"/>
          </a:xfrm>
          <a:custGeom>
            <a:avLst/>
            <a:gdLst/>
            <a:ahLst/>
            <a:cxnLst/>
            <a:rect l="l" t="t" r="r" b="b"/>
            <a:pathLst>
              <a:path w="2474595" h="2463800">
                <a:moveTo>
                  <a:pt x="1296266" y="2451100"/>
                </a:moveTo>
                <a:lnTo>
                  <a:pt x="919001" y="2451100"/>
                </a:lnTo>
                <a:lnTo>
                  <a:pt x="965304" y="2463800"/>
                </a:lnTo>
                <a:lnTo>
                  <a:pt x="1249966" y="2463800"/>
                </a:lnTo>
                <a:lnTo>
                  <a:pt x="1296266" y="2451100"/>
                </a:lnTo>
                <a:close/>
              </a:path>
              <a:path w="2474595" h="2463800">
                <a:moveTo>
                  <a:pt x="1211119" y="254000"/>
                </a:moveTo>
                <a:lnTo>
                  <a:pt x="1012206" y="254000"/>
                </a:lnTo>
                <a:lnTo>
                  <a:pt x="965304" y="266700"/>
                </a:lnTo>
                <a:lnTo>
                  <a:pt x="919001" y="266700"/>
                </a:lnTo>
                <a:lnTo>
                  <a:pt x="873338" y="279400"/>
                </a:lnTo>
                <a:lnTo>
                  <a:pt x="697932" y="330200"/>
                </a:lnTo>
                <a:lnTo>
                  <a:pt x="656101" y="355600"/>
                </a:lnTo>
                <a:lnTo>
                  <a:pt x="615162" y="368300"/>
                </a:lnTo>
                <a:lnTo>
                  <a:pt x="575157" y="393700"/>
                </a:lnTo>
                <a:lnTo>
                  <a:pt x="536127" y="419100"/>
                </a:lnTo>
                <a:lnTo>
                  <a:pt x="498115" y="431800"/>
                </a:lnTo>
                <a:lnTo>
                  <a:pt x="461163" y="469900"/>
                </a:lnTo>
                <a:lnTo>
                  <a:pt x="425312" y="495300"/>
                </a:lnTo>
                <a:lnTo>
                  <a:pt x="390604" y="520700"/>
                </a:lnTo>
                <a:lnTo>
                  <a:pt x="357081" y="546100"/>
                </a:lnTo>
                <a:lnTo>
                  <a:pt x="324786" y="584200"/>
                </a:lnTo>
                <a:lnTo>
                  <a:pt x="293759" y="609600"/>
                </a:lnTo>
                <a:lnTo>
                  <a:pt x="264043" y="647700"/>
                </a:lnTo>
                <a:lnTo>
                  <a:pt x="235680" y="685800"/>
                </a:lnTo>
                <a:lnTo>
                  <a:pt x="208711" y="711200"/>
                </a:lnTo>
                <a:lnTo>
                  <a:pt x="183178" y="749300"/>
                </a:lnTo>
                <a:lnTo>
                  <a:pt x="159124" y="787400"/>
                </a:lnTo>
                <a:lnTo>
                  <a:pt x="136590" y="825500"/>
                </a:lnTo>
                <a:lnTo>
                  <a:pt x="115618" y="876300"/>
                </a:lnTo>
                <a:lnTo>
                  <a:pt x="96250" y="914400"/>
                </a:lnTo>
                <a:lnTo>
                  <a:pt x="78528" y="952500"/>
                </a:lnTo>
                <a:lnTo>
                  <a:pt x="62493" y="990600"/>
                </a:lnTo>
                <a:lnTo>
                  <a:pt x="48188" y="1041400"/>
                </a:lnTo>
                <a:lnTo>
                  <a:pt x="35655" y="1079500"/>
                </a:lnTo>
                <a:lnTo>
                  <a:pt x="24935" y="1130300"/>
                </a:lnTo>
                <a:lnTo>
                  <a:pt x="16070" y="1168400"/>
                </a:lnTo>
                <a:lnTo>
                  <a:pt x="9102" y="1219200"/>
                </a:lnTo>
                <a:lnTo>
                  <a:pt x="4073" y="1270000"/>
                </a:lnTo>
                <a:lnTo>
                  <a:pt x="1025" y="1320800"/>
                </a:lnTo>
                <a:lnTo>
                  <a:pt x="0" y="1358900"/>
                </a:lnTo>
                <a:lnTo>
                  <a:pt x="1025" y="1409700"/>
                </a:lnTo>
                <a:lnTo>
                  <a:pt x="4073" y="1460500"/>
                </a:lnTo>
                <a:lnTo>
                  <a:pt x="9102" y="1498600"/>
                </a:lnTo>
                <a:lnTo>
                  <a:pt x="16070" y="1549400"/>
                </a:lnTo>
                <a:lnTo>
                  <a:pt x="24935" y="1600200"/>
                </a:lnTo>
                <a:lnTo>
                  <a:pt x="35655" y="1638300"/>
                </a:lnTo>
                <a:lnTo>
                  <a:pt x="48188" y="1689100"/>
                </a:lnTo>
                <a:lnTo>
                  <a:pt x="62493" y="1727200"/>
                </a:lnTo>
                <a:lnTo>
                  <a:pt x="78528" y="1778000"/>
                </a:lnTo>
                <a:lnTo>
                  <a:pt x="96250" y="1816100"/>
                </a:lnTo>
                <a:lnTo>
                  <a:pt x="115618" y="1854200"/>
                </a:lnTo>
                <a:lnTo>
                  <a:pt x="136590" y="1892300"/>
                </a:lnTo>
                <a:lnTo>
                  <a:pt x="159124" y="1930400"/>
                </a:lnTo>
                <a:lnTo>
                  <a:pt x="183178" y="1968500"/>
                </a:lnTo>
                <a:lnTo>
                  <a:pt x="208711" y="2006600"/>
                </a:lnTo>
                <a:lnTo>
                  <a:pt x="235680" y="2044700"/>
                </a:lnTo>
                <a:lnTo>
                  <a:pt x="264043" y="2082800"/>
                </a:lnTo>
                <a:lnTo>
                  <a:pt x="293759" y="2108200"/>
                </a:lnTo>
                <a:lnTo>
                  <a:pt x="324786" y="2146300"/>
                </a:lnTo>
                <a:lnTo>
                  <a:pt x="357081" y="2171700"/>
                </a:lnTo>
                <a:lnTo>
                  <a:pt x="390604" y="2209800"/>
                </a:lnTo>
                <a:lnTo>
                  <a:pt x="425312" y="2235200"/>
                </a:lnTo>
                <a:lnTo>
                  <a:pt x="461163" y="2260600"/>
                </a:lnTo>
                <a:lnTo>
                  <a:pt x="498115" y="2286000"/>
                </a:lnTo>
                <a:lnTo>
                  <a:pt x="536127" y="2311400"/>
                </a:lnTo>
                <a:lnTo>
                  <a:pt x="575157" y="2336800"/>
                </a:lnTo>
                <a:lnTo>
                  <a:pt x="615162" y="2349500"/>
                </a:lnTo>
                <a:lnTo>
                  <a:pt x="656101" y="2374900"/>
                </a:lnTo>
                <a:lnTo>
                  <a:pt x="697932" y="2387600"/>
                </a:lnTo>
                <a:lnTo>
                  <a:pt x="740613" y="2413000"/>
                </a:lnTo>
                <a:lnTo>
                  <a:pt x="873338" y="2451100"/>
                </a:lnTo>
                <a:lnTo>
                  <a:pt x="1341926" y="2451100"/>
                </a:lnTo>
                <a:lnTo>
                  <a:pt x="1474643" y="2413000"/>
                </a:lnTo>
                <a:lnTo>
                  <a:pt x="1517322" y="2387600"/>
                </a:lnTo>
                <a:lnTo>
                  <a:pt x="1559150" y="2374900"/>
                </a:lnTo>
                <a:lnTo>
                  <a:pt x="1600087" y="2349500"/>
                </a:lnTo>
                <a:lnTo>
                  <a:pt x="965627" y="2349500"/>
                </a:lnTo>
                <a:lnTo>
                  <a:pt x="829785" y="2311400"/>
                </a:lnTo>
                <a:lnTo>
                  <a:pt x="743350" y="2286000"/>
                </a:lnTo>
                <a:lnTo>
                  <a:pt x="701526" y="2260600"/>
                </a:lnTo>
                <a:lnTo>
                  <a:pt x="660703" y="2247900"/>
                </a:lnTo>
                <a:lnTo>
                  <a:pt x="620931" y="2222500"/>
                </a:lnTo>
                <a:lnTo>
                  <a:pt x="582263" y="2197100"/>
                </a:lnTo>
                <a:lnTo>
                  <a:pt x="544751" y="2171700"/>
                </a:lnTo>
                <a:lnTo>
                  <a:pt x="508448" y="2146300"/>
                </a:lnTo>
                <a:lnTo>
                  <a:pt x="473406" y="2120900"/>
                </a:lnTo>
                <a:lnTo>
                  <a:pt x="439677" y="2095500"/>
                </a:lnTo>
                <a:lnTo>
                  <a:pt x="407314" y="2057400"/>
                </a:lnTo>
                <a:lnTo>
                  <a:pt x="376369" y="2032000"/>
                </a:lnTo>
                <a:lnTo>
                  <a:pt x="346894" y="1993900"/>
                </a:lnTo>
                <a:lnTo>
                  <a:pt x="318942" y="1955800"/>
                </a:lnTo>
                <a:lnTo>
                  <a:pt x="292564" y="1930400"/>
                </a:lnTo>
                <a:lnTo>
                  <a:pt x="267814" y="1892300"/>
                </a:lnTo>
                <a:lnTo>
                  <a:pt x="244743" y="1854200"/>
                </a:lnTo>
                <a:lnTo>
                  <a:pt x="223404" y="1803400"/>
                </a:lnTo>
                <a:lnTo>
                  <a:pt x="203848" y="1765300"/>
                </a:lnTo>
                <a:lnTo>
                  <a:pt x="186129" y="1727200"/>
                </a:lnTo>
                <a:lnTo>
                  <a:pt x="170299" y="1689100"/>
                </a:lnTo>
                <a:lnTo>
                  <a:pt x="156410" y="1638300"/>
                </a:lnTo>
                <a:lnTo>
                  <a:pt x="144514" y="1600200"/>
                </a:lnTo>
                <a:lnTo>
                  <a:pt x="134664" y="1549400"/>
                </a:lnTo>
                <a:lnTo>
                  <a:pt x="126912" y="1498600"/>
                </a:lnTo>
                <a:lnTo>
                  <a:pt x="121309" y="1460500"/>
                </a:lnTo>
                <a:lnTo>
                  <a:pt x="117910" y="1409700"/>
                </a:lnTo>
                <a:lnTo>
                  <a:pt x="116765" y="1358900"/>
                </a:lnTo>
                <a:lnTo>
                  <a:pt x="117910" y="1320800"/>
                </a:lnTo>
                <a:lnTo>
                  <a:pt x="121309" y="1270000"/>
                </a:lnTo>
                <a:lnTo>
                  <a:pt x="126911" y="1219200"/>
                </a:lnTo>
                <a:lnTo>
                  <a:pt x="134664" y="1168400"/>
                </a:lnTo>
                <a:lnTo>
                  <a:pt x="144514" y="1130300"/>
                </a:lnTo>
                <a:lnTo>
                  <a:pt x="156410" y="1079500"/>
                </a:lnTo>
                <a:lnTo>
                  <a:pt x="170299" y="1041400"/>
                </a:lnTo>
                <a:lnTo>
                  <a:pt x="186129" y="1003300"/>
                </a:lnTo>
                <a:lnTo>
                  <a:pt x="203848" y="952500"/>
                </a:lnTo>
                <a:lnTo>
                  <a:pt x="223403" y="914400"/>
                </a:lnTo>
                <a:lnTo>
                  <a:pt x="244742" y="876300"/>
                </a:lnTo>
                <a:lnTo>
                  <a:pt x="267813" y="838200"/>
                </a:lnTo>
                <a:lnTo>
                  <a:pt x="292563" y="800100"/>
                </a:lnTo>
                <a:lnTo>
                  <a:pt x="318940" y="762000"/>
                </a:lnTo>
                <a:lnTo>
                  <a:pt x="346893" y="723900"/>
                </a:lnTo>
                <a:lnTo>
                  <a:pt x="376367" y="698500"/>
                </a:lnTo>
                <a:lnTo>
                  <a:pt x="407312" y="660400"/>
                </a:lnTo>
                <a:lnTo>
                  <a:pt x="439675" y="635000"/>
                </a:lnTo>
                <a:lnTo>
                  <a:pt x="473404" y="596900"/>
                </a:lnTo>
                <a:lnTo>
                  <a:pt x="508446" y="571500"/>
                </a:lnTo>
                <a:lnTo>
                  <a:pt x="544749" y="546100"/>
                </a:lnTo>
                <a:lnTo>
                  <a:pt x="582260" y="520700"/>
                </a:lnTo>
                <a:lnTo>
                  <a:pt x="620928" y="495300"/>
                </a:lnTo>
                <a:lnTo>
                  <a:pt x="660700" y="482600"/>
                </a:lnTo>
                <a:lnTo>
                  <a:pt x="701524" y="457200"/>
                </a:lnTo>
                <a:lnTo>
                  <a:pt x="743348" y="444500"/>
                </a:lnTo>
                <a:lnTo>
                  <a:pt x="786118" y="419100"/>
                </a:lnTo>
                <a:lnTo>
                  <a:pt x="874291" y="393700"/>
                </a:lnTo>
                <a:lnTo>
                  <a:pt x="919590" y="393700"/>
                </a:lnTo>
                <a:lnTo>
                  <a:pt x="965626" y="381000"/>
                </a:lnTo>
                <a:lnTo>
                  <a:pt x="1012348" y="381000"/>
                </a:lnTo>
                <a:lnTo>
                  <a:pt x="1059703" y="368300"/>
                </a:lnTo>
                <a:lnTo>
                  <a:pt x="1453515" y="368300"/>
                </a:lnTo>
                <a:lnTo>
                  <a:pt x="1455372" y="342900"/>
                </a:lnTo>
                <a:lnTo>
                  <a:pt x="1448466" y="330200"/>
                </a:lnTo>
                <a:lnTo>
                  <a:pt x="1434084" y="304800"/>
                </a:lnTo>
                <a:lnTo>
                  <a:pt x="1413510" y="292100"/>
                </a:lnTo>
                <a:lnTo>
                  <a:pt x="1363682" y="279400"/>
                </a:lnTo>
                <a:lnTo>
                  <a:pt x="1313289" y="279400"/>
                </a:lnTo>
                <a:lnTo>
                  <a:pt x="1211119" y="254000"/>
                </a:lnTo>
                <a:close/>
              </a:path>
              <a:path w="2474595" h="2463800">
                <a:moveTo>
                  <a:pt x="2144776" y="1016000"/>
                </a:moveTo>
                <a:lnTo>
                  <a:pt x="2100376" y="1016000"/>
                </a:lnTo>
                <a:lnTo>
                  <a:pt x="2079791" y="1028700"/>
                </a:lnTo>
                <a:lnTo>
                  <a:pt x="2065393" y="1041400"/>
                </a:lnTo>
                <a:lnTo>
                  <a:pt x="2058469" y="1066800"/>
                </a:lnTo>
                <a:lnTo>
                  <a:pt x="2060308" y="1092200"/>
                </a:lnTo>
                <a:lnTo>
                  <a:pt x="2073994" y="1143000"/>
                </a:lnTo>
                <a:lnTo>
                  <a:pt x="2084667" y="1193800"/>
                </a:lnTo>
                <a:lnTo>
                  <a:pt x="2092311" y="1257300"/>
                </a:lnTo>
                <a:lnTo>
                  <a:pt x="2096909" y="1308100"/>
                </a:lnTo>
                <a:lnTo>
                  <a:pt x="2098446" y="1358900"/>
                </a:lnTo>
                <a:lnTo>
                  <a:pt x="2097301" y="1409700"/>
                </a:lnTo>
                <a:lnTo>
                  <a:pt x="2093902" y="1460500"/>
                </a:lnTo>
                <a:lnTo>
                  <a:pt x="2088300" y="1498600"/>
                </a:lnTo>
                <a:lnTo>
                  <a:pt x="2080548" y="1549400"/>
                </a:lnTo>
                <a:lnTo>
                  <a:pt x="2070699" y="1600200"/>
                </a:lnTo>
                <a:lnTo>
                  <a:pt x="2058803" y="1638300"/>
                </a:lnTo>
                <a:lnTo>
                  <a:pt x="2044915" y="1689100"/>
                </a:lnTo>
                <a:lnTo>
                  <a:pt x="2029086" y="1727200"/>
                </a:lnTo>
                <a:lnTo>
                  <a:pt x="2011369" y="1765300"/>
                </a:lnTo>
                <a:lnTo>
                  <a:pt x="1991815" y="1803400"/>
                </a:lnTo>
                <a:lnTo>
                  <a:pt x="1970477" y="1854200"/>
                </a:lnTo>
                <a:lnTo>
                  <a:pt x="1947408" y="1892300"/>
                </a:lnTo>
                <a:lnTo>
                  <a:pt x="1922659" y="1930400"/>
                </a:lnTo>
                <a:lnTo>
                  <a:pt x="1896283" y="1955800"/>
                </a:lnTo>
                <a:lnTo>
                  <a:pt x="1868333" y="1993900"/>
                </a:lnTo>
                <a:lnTo>
                  <a:pt x="1838860" y="2032000"/>
                </a:lnTo>
                <a:lnTo>
                  <a:pt x="1807917" y="2057400"/>
                </a:lnTo>
                <a:lnTo>
                  <a:pt x="1775556" y="2095500"/>
                </a:lnTo>
                <a:lnTo>
                  <a:pt x="1741830" y="2120900"/>
                </a:lnTo>
                <a:lnTo>
                  <a:pt x="1706790" y="2146300"/>
                </a:lnTo>
                <a:lnTo>
                  <a:pt x="1670490" y="2171700"/>
                </a:lnTo>
                <a:lnTo>
                  <a:pt x="1632981" y="2197100"/>
                </a:lnTo>
                <a:lnTo>
                  <a:pt x="1594315" y="2222500"/>
                </a:lnTo>
                <a:lnTo>
                  <a:pt x="1554546" y="2247900"/>
                </a:lnTo>
                <a:lnTo>
                  <a:pt x="1513725" y="2260600"/>
                </a:lnTo>
                <a:lnTo>
                  <a:pt x="1471905" y="2286000"/>
                </a:lnTo>
                <a:lnTo>
                  <a:pt x="1385475" y="2311400"/>
                </a:lnTo>
                <a:lnTo>
                  <a:pt x="1249642" y="2349500"/>
                </a:lnTo>
                <a:lnTo>
                  <a:pt x="1600087" y="2349500"/>
                </a:lnTo>
                <a:lnTo>
                  <a:pt x="1640090" y="2336800"/>
                </a:lnTo>
                <a:lnTo>
                  <a:pt x="1679117" y="2311400"/>
                </a:lnTo>
                <a:lnTo>
                  <a:pt x="1717126" y="2286000"/>
                </a:lnTo>
                <a:lnTo>
                  <a:pt x="1754076" y="2260600"/>
                </a:lnTo>
                <a:lnTo>
                  <a:pt x="1789925" y="2235200"/>
                </a:lnTo>
                <a:lnTo>
                  <a:pt x="1824631" y="2209800"/>
                </a:lnTo>
                <a:lnTo>
                  <a:pt x="1858151" y="2171700"/>
                </a:lnTo>
                <a:lnTo>
                  <a:pt x="1890445" y="2146300"/>
                </a:lnTo>
                <a:lnTo>
                  <a:pt x="1921470" y="2108200"/>
                </a:lnTo>
                <a:lnTo>
                  <a:pt x="1951184" y="2082800"/>
                </a:lnTo>
                <a:lnTo>
                  <a:pt x="1979545" y="2044700"/>
                </a:lnTo>
                <a:lnTo>
                  <a:pt x="2006512" y="2006600"/>
                </a:lnTo>
                <a:lnTo>
                  <a:pt x="2032043" y="1968500"/>
                </a:lnTo>
                <a:lnTo>
                  <a:pt x="2056096" y="1930400"/>
                </a:lnTo>
                <a:lnTo>
                  <a:pt x="2078628" y="1892300"/>
                </a:lnTo>
                <a:lnTo>
                  <a:pt x="2099599" y="1854200"/>
                </a:lnTo>
                <a:lnTo>
                  <a:pt x="2118966" y="1816100"/>
                </a:lnTo>
                <a:lnTo>
                  <a:pt x="2136687" y="1778000"/>
                </a:lnTo>
                <a:lnTo>
                  <a:pt x="2152720" y="1727200"/>
                </a:lnTo>
                <a:lnTo>
                  <a:pt x="2167024" y="1689100"/>
                </a:lnTo>
                <a:lnTo>
                  <a:pt x="2179557" y="1638300"/>
                </a:lnTo>
                <a:lnTo>
                  <a:pt x="2190276" y="1600200"/>
                </a:lnTo>
                <a:lnTo>
                  <a:pt x="2199141" y="1549400"/>
                </a:lnTo>
                <a:lnTo>
                  <a:pt x="2206108" y="1498600"/>
                </a:lnTo>
                <a:lnTo>
                  <a:pt x="2211137" y="1460500"/>
                </a:lnTo>
                <a:lnTo>
                  <a:pt x="2214184" y="1409700"/>
                </a:lnTo>
                <a:lnTo>
                  <a:pt x="2215210" y="1358900"/>
                </a:lnTo>
                <a:lnTo>
                  <a:pt x="2214016" y="1308100"/>
                </a:lnTo>
                <a:lnTo>
                  <a:pt x="2210441" y="1257300"/>
                </a:lnTo>
                <a:lnTo>
                  <a:pt x="2204497" y="1206500"/>
                </a:lnTo>
                <a:lnTo>
                  <a:pt x="2196195" y="1155700"/>
                </a:lnTo>
                <a:lnTo>
                  <a:pt x="2185547" y="1104900"/>
                </a:lnTo>
                <a:lnTo>
                  <a:pt x="2172563" y="1054100"/>
                </a:lnTo>
                <a:lnTo>
                  <a:pt x="2161905" y="1041400"/>
                </a:lnTo>
                <a:lnTo>
                  <a:pt x="2144776" y="1016000"/>
                </a:lnTo>
                <a:close/>
              </a:path>
              <a:path w="2474595" h="2463800">
                <a:moveTo>
                  <a:pt x="1202576" y="2108200"/>
                </a:moveTo>
                <a:lnTo>
                  <a:pt x="1012701" y="2108200"/>
                </a:lnTo>
                <a:lnTo>
                  <a:pt x="1059782" y="2120900"/>
                </a:lnTo>
                <a:lnTo>
                  <a:pt x="1155500" y="2120900"/>
                </a:lnTo>
                <a:lnTo>
                  <a:pt x="1202576" y="2108200"/>
                </a:lnTo>
                <a:close/>
              </a:path>
              <a:path w="2474595" h="2463800">
                <a:moveTo>
                  <a:pt x="1296497" y="622300"/>
                </a:moveTo>
                <a:lnTo>
                  <a:pt x="921250" y="622300"/>
                </a:lnTo>
                <a:lnTo>
                  <a:pt x="877049" y="635000"/>
                </a:lnTo>
                <a:lnTo>
                  <a:pt x="833988" y="660400"/>
                </a:lnTo>
                <a:lnTo>
                  <a:pt x="792155" y="673100"/>
                </a:lnTo>
                <a:lnTo>
                  <a:pt x="751640" y="698500"/>
                </a:lnTo>
                <a:lnTo>
                  <a:pt x="712532" y="711200"/>
                </a:lnTo>
                <a:lnTo>
                  <a:pt x="674921" y="736600"/>
                </a:lnTo>
                <a:lnTo>
                  <a:pt x="638896" y="762000"/>
                </a:lnTo>
                <a:lnTo>
                  <a:pt x="604547" y="800100"/>
                </a:lnTo>
                <a:lnTo>
                  <a:pt x="571963" y="825500"/>
                </a:lnTo>
                <a:lnTo>
                  <a:pt x="541234" y="863600"/>
                </a:lnTo>
                <a:lnTo>
                  <a:pt x="512449" y="889000"/>
                </a:lnTo>
                <a:lnTo>
                  <a:pt x="485698" y="927100"/>
                </a:lnTo>
                <a:lnTo>
                  <a:pt x="461069" y="965200"/>
                </a:lnTo>
                <a:lnTo>
                  <a:pt x="438653" y="1003300"/>
                </a:lnTo>
                <a:lnTo>
                  <a:pt x="418540" y="1041400"/>
                </a:lnTo>
                <a:lnTo>
                  <a:pt x="400817" y="1092200"/>
                </a:lnTo>
                <a:lnTo>
                  <a:pt x="385576" y="1130300"/>
                </a:lnTo>
                <a:lnTo>
                  <a:pt x="372905" y="1181100"/>
                </a:lnTo>
                <a:lnTo>
                  <a:pt x="362895" y="1219200"/>
                </a:lnTo>
                <a:lnTo>
                  <a:pt x="355633" y="1270000"/>
                </a:lnTo>
                <a:lnTo>
                  <a:pt x="351211" y="1320800"/>
                </a:lnTo>
                <a:lnTo>
                  <a:pt x="349717" y="1358900"/>
                </a:lnTo>
                <a:lnTo>
                  <a:pt x="351211" y="1409700"/>
                </a:lnTo>
                <a:lnTo>
                  <a:pt x="355633" y="1460500"/>
                </a:lnTo>
                <a:lnTo>
                  <a:pt x="362894" y="1498600"/>
                </a:lnTo>
                <a:lnTo>
                  <a:pt x="372904" y="1549400"/>
                </a:lnTo>
                <a:lnTo>
                  <a:pt x="385575" y="1587500"/>
                </a:lnTo>
                <a:lnTo>
                  <a:pt x="400815" y="1638300"/>
                </a:lnTo>
                <a:lnTo>
                  <a:pt x="418537" y="1676400"/>
                </a:lnTo>
                <a:lnTo>
                  <a:pt x="438650" y="1714500"/>
                </a:lnTo>
                <a:lnTo>
                  <a:pt x="461065" y="1752600"/>
                </a:lnTo>
                <a:lnTo>
                  <a:pt x="485693" y="1790700"/>
                </a:lnTo>
                <a:lnTo>
                  <a:pt x="512444" y="1828800"/>
                </a:lnTo>
                <a:lnTo>
                  <a:pt x="541228" y="1866900"/>
                </a:lnTo>
                <a:lnTo>
                  <a:pt x="571957" y="1892300"/>
                </a:lnTo>
                <a:lnTo>
                  <a:pt x="604540" y="1930400"/>
                </a:lnTo>
                <a:lnTo>
                  <a:pt x="638889" y="1955800"/>
                </a:lnTo>
                <a:lnTo>
                  <a:pt x="674913" y="1981200"/>
                </a:lnTo>
                <a:lnTo>
                  <a:pt x="712524" y="2006600"/>
                </a:lnTo>
                <a:lnTo>
                  <a:pt x="751632" y="2032000"/>
                </a:lnTo>
                <a:lnTo>
                  <a:pt x="792147" y="2057400"/>
                </a:lnTo>
                <a:lnTo>
                  <a:pt x="877041" y="2082800"/>
                </a:lnTo>
                <a:lnTo>
                  <a:pt x="966491" y="2108200"/>
                </a:lnTo>
                <a:lnTo>
                  <a:pt x="1248781" y="2108200"/>
                </a:lnTo>
                <a:lnTo>
                  <a:pt x="1338222" y="2082800"/>
                </a:lnTo>
                <a:lnTo>
                  <a:pt x="1423108" y="2057400"/>
                </a:lnTo>
                <a:lnTo>
                  <a:pt x="1463619" y="2032000"/>
                </a:lnTo>
                <a:lnTo>
                  <a:pt x="1502723" y="2006600"/>
                </a:lnTo>
                <a:lnTo>
                  <a:pt x="1059864" y="2006600"/>
                </a:lnTo>
                <a:lnTo>
                  <a:pt x="1013026" y="1993900"/>
                </a:lnTo>
                <a:lnTo>
                  <a:pt x="967254" y="1993900"/>
                </a:lnTo>
                <a:lnTo>
                  <a:pt x="922675" y="1981200"/>
                </a:lnTo>
                <a:lnTo>
                  <a:pt x="879412" y="1955800"/>
                </a:lnTo>
                <a:lnTo>
                  <a:pt x="837591" y="1943100"/>
                </a:lnTo>
                <a:lnTo>
                  <a:pt x="797337" y="1917700"/>
                </a:lnTo>
                <a:lnTo>
                  <a:pt x="758774" y="1905000"/>
                </a:lnTo>
                <a:lnTo>
                  <a:pt x="722028" y="1879600"/>
                </a:lnTo>
                <a:lnTo>
                  <a:pt x="687223" y="1841500"/>
                </a:lnTo>
                <a:lnTo>
                  <a:pt x="654485" y="1816100"/>
                </a:lnTo>
                <a:lnTo>
                  <a:pt x="623938" y="1778000"/>
                </a:lnTo>
                <a:lnTo>
                  <a:pt x="569918" y="1714500"/>
                </a:lnTo>
                <a:lnTo>
                  <a:pt x="546694" y="1676400"/>
                </a:lnTo>
                <a:lnTo>
                  <a:pt x="526162" y="1638300"/>
                </a:lnTo>
                <a:lnTo>
                  <a:pt x="508446" y="1587500"/>
                </a:lnTo>
                <a:lnTo>
                  <a:pt x="493671" y="1549400"/>
                </a:lnTo>
                <a:lnTo>
                  <a:pt x="481961" y="1498600"/>
                </a:lnTo>
                <a:lnTo>
                  <a:pt x="473443" y="1460500"/>
                </a:lnTo>
                <a:lnTo>
                  <a:pt x="468240" y="1409700"/>
                </a:lnTo>
                <a:lnTo>
                  <a:pt x="466478" y="1358900"/>
                </a:lnTo>
                <a:lnTo>
                  <a:pt x="468240" y="1320800"/>
                </a:lnTo>
                <a:lnTo>
                  <a:pt x="473443" y="1270000"/>
                </a:lnTo>
                <a:lnTo>
                  <a:pt x="481961" y="1219200"/>
                </a:lnTo>
                <a:lnTo>
                  <a:pt x="493671" y="1181100"/>
                </a:lnTo>
                <a:lnTo>
                  <a:pt x="508446" y="1130300"/>
                </a:lnTo>
                <a:lnTo>
                  <a:pt x="526162" y="1092200"/>
                </a:lnTo>
                <a:lnTo>
                  <a:pt x="546694" y="1054100"/>
                </a:lnTo>
                <a:lnTo>
                  <a:pt x="569918" y="1016000"/>
                </a:lnTo>
                <a:lnTo>
                  <a:pt x="595707" y="977900"/>
                </a:lnTo>
                <a:lnTo>
                  <a:pt x="623938" y="939800"/>
                </a:lnTo>
                <a:lnTo>
                  <a:pt x="654485" y="914400"/>
                </a:lnTo>
                <a:lnTo>
                  <a:pt x="687223" y="876300"/>
                </a:lnTo>
                <a:lnTo>
                  <a:pt x="722028" y="850900"/>
                </a:lnTo>
                <a:lnTo>
                  <a:pt x="758774" y="825500"/>
                </a:lnTo>
                <a:lnTo>
                  <a:pt x="797337" y="800100"/>
                </a:lnTo>
                <a:lnTo>
                  <a:pt x="837591" y="787400"/>
                </a:lnTo>
                <a:lnTo>
                  <a:pt x="879412" y="762000"/>
                </a:lnTo>
                <a:lnTo>
                  <a:pt x="967254" y="736600"/>
                </a:lnTo>
                <a:lnTo>
                  <a:pt x="1013026" y="723900"/>
                </a:lnTo>
                <a:lnTo>
                  <a:pt x="1421651" y="723900"/>
                </a:lnTo>
                <a:lnTo>
                  <a:pt x="1423722" y="711200"/>
                </a:lnTo>
                <a:lnTo>
                  <a:pt x="1418961" y="685800"/>
                </a:lnTo>
                <a:lnTo>
                  <a:pt x="1406346" y="673100"/>
                </a:lnTo>
                <a:lnTo>
                  <a:pt x="1386928" y="660400"/>
                </a:lnTo>
                <a:lnTo>
                  <a:pt x="1342106" y="647700"/>
                </a:lnTo>
                <a:lnTo>
                  <a:pt x="1296497" y="622300"/>
                </a:lnTo>
                <a:close/>
              </a:path>
              <a:path w="2474595" h="2463800">
                <a:moveTo>
                  <a:pt x="1759692" y="1041400"/>
                </a:moveTo>
                <a:lnTo>
                  <a:pt x="1736864" y="1054100"/>
                </a:lnTo>
                <a:lnTo>
                  <a:pt x="1717419" y="1066800"/>
                </a:lnTo>
                <a:lnTo>
                  <a:pt x="1704762" y="1079500"/>
                </a:lnTo>
                <a:lnTo>
                  <a:pt x="1699949" y="1104900"/>
                </a:lnTo>
                <a:lnTo>
                  <a:pt x="1704035" y="1130300"/>
                </a:lnTo>
                <a:lnTo>
                  <a:pt x="1720082" y="1168400"/>
                </a:lnTo>
                <a:lnTo>
                  <a:pt x="1732597" y="1219200"/>
                </a:lnTo>
                <a:lnTo>
                  <a:pt x="1741559" y="1270000"/>
                </a:lnTo>
                <a:lnTo>
                  <a:pt x="1746950" y="1308100"/>
                </a:lnTo>
                <a:lnTo>
                  <a:pt x="1748751" y="1358900"/>
                </a:lnTo>
                <a:lnTo>
                  <a:pt x="1746990" y="1409700"/>
                </a:lnTo>
                <a:lnTo>
                  <a:pt x="1741788" y="1460500"/>
                </a:lnTo>
                <a:lnTo>
                  <a:pt x="1733270" y="1498600"/>
                </a:lnTo>
                <a:lnTo>
                  <a:pt x="1721562" y="1549400"/>
                </a:lnTo>
                <a:lnTo>
                  <a:pt x="1706789" y="1587500"/>
                </a:lnTo>
                <a:lnTo>
                  <a:pt x="1689075" y="1638300"/>
                </a:lnTo>
                <a:lnTo>
                  <a:pt x="1668545" y="1676400"/>
                </a:lnTo>
                <a:lnTo>
                  <a:pt x="1645324" y="1714500"/>
                </a:lnTo>
                <a:lnTo>
                  <a:pt x="1619538" y="1752600"/>
                </a:lnTo>
                <a:lnTo>
                  <a:pt x="1591310" y="1778000"/>
                </a:lnTo>
                <a:lnTo>
                  <a:pt x="1560766" y="1816100"/>
                </a:lnTo>
                <a:lnTo>
                  <a:pt x="1528031" y="1841500"/>
                </a:lnTo>
                <a:lnTo>
                  <a:pt x="1493230" y="1879600"/>
                </a:lnTo>
                <a:lnTo>
                  <a:pt x="1456487" y="1905000"/>
                </a:lnTo>
                <a:lnTo>
                  <a:pt x="1417928" y="1917700"/>
                </a:lnTo>
                <a:lnTo>
                  <a:pt x="1377677" y="1943100"/>
                </a:lnTo>
                <a:lnTo>
                  <a:pt x="1335860" y="1955800"/>
                </a:lnTo>
                <a:lnTo>
                  <a:pt x="1292601" y="1981200"/>
                </a:lnTo>
                <a:lnTo>
                  <a:pt x="1248024" y="1993900"/>
                </a:lnTo>
                <a:lnTo>
                  <a:pt x="1202256" y="1993900"/>
                </a:lnTo>
                <a:lnTo>
                  <a:pt x="1155421" y="2006600"/>
                </a:lnTo>
                <a:lnTo>
                  <a:pt x="1502723" y="2006600"/>
                </a:lnTo>
                <a:lnTo>
                  <a:pt x="1540330" y="1981200"/>
                </a:lnTo>
                <a:lnTo>
                  <a:pt x="1576352" y="1955800"/>
                </a:lnTo>
                <a:lnTo>
                  <a:pt x="1610697" y="1930400"/>
                </a:lnTo>
                <a:lnTo>
                  <a:pt x="1643278" y="1892300"/>
                </a:lnTo>
                <a:lnTo>
                  <a:pt x="1674004" y="1866900"/>
                </a:lnTo>
                <a:lnTo>
                  <a:pt x="1702787" y="1828800"/>
                </a:lnTo>
                <a:lnTo>
                  <a:pt x="1729535" y="1790700"/>
                </a:lnTo>
                <a:lnTo>
                  <a:pt x="1754161" y="1752600"/>
                </a:lnTo>
                <a:lnTo>
                  <a:pt x="1776575" y="1714500"/>
                </a:lnTo>
                <a:lnTo>
                  <a:pt x="1796687" y="1676400"/>
                </a:lnTo>
                <a:lnTo>
                  <a:pt x="1814407" y="1638300"/>
                </a:lnTo>
                <a:lnTo>
                  <a:pt x="1829647" y="1587500"/>
                </a:lnTo>
                <a:lnTo>
                  <a:pt x="1842316" y="1549400"/>
                </a:lnTo>
                <a:lnTo>
                  <a:pt x="1852326" y="1498600"/>
                </a:lnTo>
                <a:lnTo>
                  <a:pt x="1859587" y="1460500"/>
                </a:lnTo>
                <a:lnTo>
                  <a:pt x="1864009" y="1409700"/>
                </a:lnTo>
                <a:lnTo>
                  <a:pt x="1865502" y="1358900"/>
                </a:lnTo>
                <a:lnTo>
                  <a:pt x="1864022" y="1320800"/>
                </a:lnTo>
                <a:lnTo>
                  <a:pt x="1859590" y="1270000"/>
                </a:lnTo>
                <a:lnTo>
                  <a:pt x="1852221" y="1219200"/>
                </a:lnTo>
                <a:lnTo>
                  <a:pt x="1841929" y="1168400"/>
                </a:lnTo>
                <a:lnTo>
                  <a:pt x="1828728" y="1130300"/>
                </a:lnTo>
                <a:lnTo>
                  <a:pt x="1812632" y="1079500"/>
                </a:lnTo>
                <a:lnTo>
                  <a:pt x="1800013" y="1066800"/>
                </a:lnTo>
                <a:lnTo>
                  <a:pt x="1781554" y="1054100"/>
                </a:lnTo>
                <a:lnTo>
                  <a:pt x="1759692" y="1041400"/>
                </a:lnTo>
                <a:close/>
              </a:path>
              <a:path w="2474595" h="2463800">
                <a:moveTo>
                  <a:pt x="1144488" y="952500"/>
                </a:moveTo>
                <a:lnTo>
                  <a:pt x="1060111" y="952500"/>
                </a:lnTo>
                <a:lnTo>
                  <a:pt x="1014170" y="965200"/>
                </a:lnTo>
                <a:lnTo>
                  <a:pt x="970132" y="977900"/>
                </a:lnTo>
                <a:lnTo>
                  <a:pt x="928303" y="990600"/>
                </a:lnTo>
                <a:lnTo>
                  <a:pt x="888994" y="1016000"/>
                </a:lnTo>
                <a:lnTo>
                  <a:pt x="852512" y="1041400"/>
                </a:lnTo>
                <a:lnTo>
                  <a:pt x="819166" y="1079500"/>
                </a:lnTo>
                <a:lnTo>
                  <a:pt x="789265" y="1104900"/>
                </a:lnTo>
                <a:lnTo>
                  <a:pt x="763117" y="1143000"/>
                </a:lnTo>
                <a:lnTo>
                  <a:pt x="741032" y="1181100"/>
                </a:lnTo>
                <a:lnTo>
                  <a:pt x="723317" y="1219200"/>
                </a:lnTo>
                <a:lnTo>
                  <a:pt x="710281" y="1270000"/>
                </a:lnTo>
                <a:lnTo>
                  <a:pt x="702234" y="1320800"/>
                </a:lnTo>
                <a:lnTo>
                  <a:pt x="699482" y="1358900"/>
                </a:lnTo>
                <a:lnTo>
                  <a:pt x="702234" y="1409700"/>
                </a:lnTo>
                <a:lnTo>
                  <a:pt x="710281" y="1460500"/>
                </a:lnTo>
                <a:lnTo>
                  <a:pt x="723317" y="1498600"/>
                </a:lnTo>
                <a:lnTo>
                  <a:pt x="741032" y="1536700"/>
                </a:lnTo>
                <a:lnTo>
                  <a:pt x="763117" y="1574800"/>
                </a:lnTo>
                <a:lnTo>
                  <a:pt x="789265" y="1612900"/>
                </a:lnTo>
                <a:lnTo>
                  <a:pt x="819166" y="1651000"/>
                </a:lnTo>
                <a:lnTo>
                  <a:pt x="852512" y="1676400"/>
                </a:lnTo>
                <a:lnTo>
                  <a:pt x="888994" y="1701800"/>
                </a:lnTo>
                <a:lnTo>
                  <a:pt x="928303" y="1727200"/>
                </a:lnTo>
                <a:lnTo>
                  <a:pt x="970132" y="1752600"/>
                </a:lnTo>
                <a:lnTo>
                  <a:pt x="1014170" y="1765300"/>
                </a:lnTo>
                <a:lnTo>
                  <a:pt x="1201100" y="1765300"/>
                </a:lnTo>
                <a:lnTo>
                  <a:pt x="1245131" y="1752600"/>
                </a:lnTo>
                <a:lnTo>
                  <a:pt x="1286952" y="1727200"/>
                </a:lnTo>
                <a:lnTo>
                  <a:pt x="1326254" y="1701800"/>
                </a:lnTo>
                <a:lnTo>
                  <a:pt x="1362730" y="1676400"/>
                </a:lnTo>
                <a:lnTo>
                  <a:pt x="1396069" y="1651000"/>
                </a:lnTo>
                <a:lnTo>
                  <a:pt x="1060432" y="1651000"/>
                </a:lnTo>
                <a:lnTo>
                  <a:pt x="1015630" y="1638300"/>
                </a:lnTo>
                <a:lnTo>
                  <a:pt x="973835" y="1625600"/>
                </a:lnTo>
                <a:lnTo>
                  <a:pt x="935651" y="1600200"/>
                </a:lnTo>
                <a:lnTo>
                  <a:pt x="901683" y="1562100"/>
                </a:lnTo>
                <a:lnTo>
                  <a:pt x="872535" y="1536700"/>
                </a:lnTo>
                <a:lnTo>
                  <a:pt x="848812" y="1498600"/>
                </a:lnTo>
                <a:lnTo>
                  <a:pt x="831119" y="1460500"/>
                </a:lnTo>
                <a:lnTo>
                  <a:pt x="820059" y="1409700"/>
                </a:lnTo>
                <a:lnTo>
                  <a:pt x="816239" y="1358900"/>
                </a:lnTo>
                <a:lnTo>
                  <a:pt x="820062" y="1320800"/>
                </a:lnTo>
                <a:lnTo>
                  <a:pt x="831123" y="1270000"/>
                </a:lnTo>
                <a:lnTo>
                  <a:pt x="848818" y="1231900"/>
                </a:lnTo>
                <a:lnTo>
                  <a:pt x="872541" y="1193800"/>
                </a:lnTo>
                <a:lnTo>
                  <a:pt x="901689" y="1155700"/>
                </a:lnTo>
                <a:lnTo>
                  <a:pt x="935657" y="1130300"/>
                </a:lnTo>
                <a:lnTo>
                  <a:pt x="973841" y="1104900"/>
                </a:lnTo>
                <a:lnTo>
                  <a:pt x="1015635" y="1092200"/>
                </a:lnTo>
                <a:lnTo>
                  <a:pt x="1060436" y="1079500"/>
                </a:lnTo>
                <a:lnTo>
                  <a:pt x="1107639" y="1066800"/>
                </a:lnTo>
                <a:lnTo>
                  <a:pt x="1156830" y="1066800"/>
                </a:lnTo>
                <a:lnTo>
                  <a:pt x="1176457" y="1054100"/>
                </a:lnTo>
                <a:lnTo>
                  <a:pt x="1190614" y="1041400"/>
                </a:lnTo>
                <a:lnTo>
                  <a:pt x="1197267" y="1016000"/>
                </a:lnTo>
                <a:lnTo>
                  <a:pt x="1194783" y="990600"/>
                </a:lnTo>
                <a:lnTo>
                  <a:pt x="1184027" y="977900"/>
                </a:lnTo>
                <a:lnTo>
                  <a:pt x="1166696" y="965200"/>
                </a:lnTo>
                <a:lnTo>
                  <a:pt x="1144488" y="952500"/>
                </a:lnTo>
                <a:close/>
              </a:path>
              <a:path w="2474595" h="2463800">
                <a:moveTo>
                  <a:pt x="1450809" y="1270000"/>
                </a:moveTo>
                <a:lnTo>
                  <a:pt x="1428579" y="1282700"/>
                </a:lnTo>
                <a:lnTo>
                  <a:pt x="1411203" y="1295400"/>
                </a:lnTo>
                <a:lnTo>
                  <a:pt x="1400387" y="1308100"/>
                </a:lnTo>
                <a:lnTo>
                  <a:pt x="1397838" y="1333500"/>
                </a:lnTo>
                <a:lnTo>
                  <a:pt x="1398574" y="1346200"/>
                </a:lnTo>
                <a:lnTo>
                  <a:pt x="1398955" y="1358900"/>
                </a:lnTo>
                <a:lnTo>
                  <a:pt x="1395135" y="1409700"/>
                </a:lnTo>
                <a:lnTo>
                  <a:pt x="1384079" y="1460500"/>
                </a:lnTo>
                <a:lnTo>
                  <a:pt x="1366390" y="1498600"/>
                </a:lnTo>
                <a:lnTo>
                  <a:pt x="1342673" y="1536700"/>
                </a:lnTo>
                <a:lnTo>
                  <a:pt x="1313532" y="1562100"/>
                </a:lnTo>
                <a:lnTo>
                  <a:pt x="1279573" y="1600200"/>
                </a:lnTo>
                <a:lnTo>
                  <a:pt x="1241399" y="1625600"/>
                </a:lnTo>
                <a:lnTo>
                  <a:pt x="1199615" y="1638300"/>
                </a:lnTo>
                <a:lnTo>
                  <a:pt x="1154826" y="1651000"/>
                </a:lnTo>
                <a:lnTo>
                  <a:pt x="1396069" y="1651000"/>
                </a:lnTo>
                <a:lnTo>
                  <a:pt x="1425965" y="1612900"/>
                </a:lnTo>
                <a:lnTo>
                  <a:pt x="1452108" y="1574800"/>
                </a:lnTo>
                <a:lnTo>
                  <a:pt x="1474190" y="1536700"/>
                </a:lnTo>
                <a:lnTo>
                  <a:pt x="1491902" y="1498600"/>
                </a:lnTo>
                <a:lnTo>
                  <a:pt x="1504935" y="1460500"/>
                </a:lnTo>
                <a:lnTo>
                  <a:pt x="1512981" y="1409700"/>
                </a:lnTo>
                <a:lnTo>
                  <a:pt x="1515732" y="1358900"/>
                </a:lnTo>
                <a:lnTo>
                  <a:pt x="1515333" y="1346200"/>
                </a:lnTo>
                <a:lnTo>
                  <a:pt x="1514837" y="1333500"/>
                </a:lnTo>
                <a:lnTo>
                  <a:pt x="1514144" y="1320800"/>
                </a:lnTo>
                <a:lnTo>
                  <a:pt x="1507556" y="1308100"/>
                </a:lnTo>
                <a:lnTo>
                  <a:pt x="1493440" y="1282700"/>
                </a:lnTo>
                <a:lnTo>
                  <a:pt x="1473843" y="1282700"/>
                </a:lnTo>
                <a:lnTo>
                  <a:pt x="1450809" y="1270000"/>
                </a:lnTo>
                <a:close/>
              </a:path>
              <a:path w="2474595" h="2463800">
                <a:moveTo>
                  <a:pt x="1162357" y="1384300"/>
                </a:moveTo>
                <a:lnTo>
                  <a:pt x="1098111" y="1384300"/>
                </a:lnTo>
                <a:lnTo>
                  <a:pt x="1108265" y="1397000"/>
                </a:lnTo>
                <a:lnTo>
                  <a:pt x="1152203" y="1397000"/>
                </a:lnTo>
                <a:lnTo>
                  <a:pt x="1162357" y="1384300"/>
                </a:lnTo>
                <a:close/>
              </a:path>
              <a:path w="2474595" h="2463800">
                <a:moveTo>
                  <a:pt x="2082088" y="0"/>
                </a:moveTo>
                <a:lnTo>
                  <a:pt x="1998289" y="0"/>
                </a:lnTo>
                <a:lnTo>
                  <a:pt x="1975281" y="12700"/>
                </a:lnTo>
                <a:lnTo>
                  <a:pt x="1614703" y="368300"/>
                </a:lnTo>
                <a:lnTo>
                  <a:pt x="1576671" y="431800"/>
                </a:lnTo>
                <a:lnTo>
                  <a:pt x="1563433" y="495300"/>
                </a:lnTo>
                <a:lnTo>
                  <a:pt x="1563433" y="825500"/>
                </a:lnTo>
                <a:lnTo>
                  <a:pt x="1088955" y="1295400"/>
                </a:lnTo>
                <a:lnTo>
                  <a:pt x="1076130" y="1320800"/>
                </a:lnTo>
                <a:lnTo>
                  <a:pt x="1071855" y="1346200"/>
                </a:lnTo>
                <a:lnTo>
                  <a:pt x="1076130" y="1358900"/>
                </a:lnTo>
                <a:lnTo>
                  <a:pt x="1088955" y="1384300"/>
                </a:lnTo>
                <a:lnTo>
                  <a:pt x="1171515" y="1384300"/>
                </a:lnTo>
                <a:lnTo>
                  <a:pt x="1645996" y="901700"/>
                </a:lnTo>
                <a:lnTo>
                  <a:pt x="2010803" y="901700"/>
                </a:lnTo>
                <a:lnTo>
                  <a:pt x="2043423" y="889000"/>
                </a:lnTo>
                <a:lnTo>
                  <a:pt x="2073471" y="876300"/>
                </a:lnTo>
                <a:lnTo>
                  <a:pt x="2100186" y="850900"/>
                </a:lnTo>
                <a:lnTo>
                  <a:pt x="2165601" y="787400"/>
                </a:lnTo>
                <a:lnTo>
                  <a:pt x="1762772" y="787400"/>
                </a:lnTo>
                <a:lnTo>
                  <a:pt x="1839318" y="711200"/>
                </a:lnTo>
                <a:lnTo>
                  <a:pt x="1680197" y="711200"/>
                </a:lnTo>
                <a:lnTo>
                  <a:pt x="1680197" y="495300"/>
                </a:lnTo>
                <a:lnTo>
                  <a:pt x="1681317" y="482600"/>
                </a:lnTo>
                <a:lnTo>
                  <a:pt x="1684608" y="469900"/>
                </a:lnTo>
                <a:lnTo>
                  <a:pt x="1689964" y="457200"/>
                </a:lnTo>
                <a:lnTo>
                  <a:pt x="1697278" y="457200"/>
                </a:lnTo>
                <a:lnTo>
                  <a:pt x="2037422" y="114300"/>
                </a:lnTo>
                <a:lnTo>
                  <a:pt x="2154186" y="114300"/>
                </a:lnTo>
                <a:lnTo>
                  <a:pt x="2149079" y="76200"/>
                </a:lnTo>
                <a:lnTo>
                  <a:pt x="2134558" y="50800"/>
                </a:lnTo>
                <a:lnTo>
                  <a:pt x="2111827" y="25400"/>
                </a:lnTo>
                <a:lnTo>
                  <a:pt x="2082088" y="0"/>
                </a:lnTo>
                <a:close/>
              </a:path>
              <a:path w="2474595" h="2463800">
                <a:moveTo>
                  <a:pt x="2473507" y="431800"/>
                </a:moveTo>
                <a:lnTo>
                  <a:pt x="2357742" y="431800"/>
                </a:lnTo>
                <a:lnTo>
                  <a:pt x="2017623" y="774700"/>
                </a:lnTo>
                <a:lnTo>
                  <a:pt x="2008763" y="774700"/>
                </a:lnTo>
                <a:lnTo>
                  <a:pt x="1998694" y="787400"/>
                </a:lnTo>
                <a:lnTo>
                  <a:pt x="2165601" y="787400"/>
                </a:lnTo>
                <a:lnTo>
                  <a:pt x="2440343" y="520700"/>
                </a:lnTo>
                <a:lnTo>
                  <a:pt x="2460989" y="482600"/>
                </a:lnTo>
                <a:lnTo>
                  <a:pt x="2472374" y="457200"/>
                </a:lnTo>
                <a:lnTo>
                  <a:pt x="2473507" y="431800"/>
                </a:lnTo>
                <a:close/>
              </a:path>
              <a:path w="2474595" h="2463800">
                <a:moveTo>
                  <a:pt x="1421651" y="723900"/>
                </a:moveTo>
                <a:lnTo>
                  <a:pt x="1204431" y="723900"/>
                </a:lnTo>
                <a:lnTo>
                  <a:pt x="1343761" y="762000"/>
                </a:lnTo>
                <a:lnTo>
                  <a:pt x="1366566" y="774700"/>
                </a:lnTo>
                <a:lnTo>
                  <a:pt x="1388433" y="762000"/>
                </a:lnTo>
                <a:lnTo>
                  <a:pt x="1406919" y="749300"/>
                </a:lnTo>
                <a:lnTo>
                  <a:pt x="1419580" y="736600"/>
                </a:lnTo>
                <a:lnTo>
                  <a:pt x="1421651" y="723900"/>
                </a:lnTo>
                <a:close/>
              </a:path>
              <a:path w="2474595" h="2463800">
                <a:moveTo>
                  <a:pt x="2154186" y="114300"/>
                </a:moveTo>
                <a:lnTo>
                  <a:pt x="2037422" y="114300"/>
                </a:lnTo>
                <a:lnTo>
                  <a:pt x="2037422" y="355600"/>
                </a:lnTo>
                <a:lnTo>
                  <a:pt x="1680197" y="711200"/>
                </a:lnTo>
                <a:lnTo>
                  <a:pt x="1839318" y="711200"/>
                </a:lnTo>
                <a:lnTo>
                  <a:pt x="2119985" y="431800"/>
                </a:lnTo>
                <a:lnTo>
                  <a:pt x="2473507" y="431800"/>
                </a:lnTo>
                <a:lnTo>
                  <a:pt x="2465666" y="393700"/>
                </a:lnTo>
                <a:lnTo>
                  <a:pt x="2447821" y="355600"/>
                </a:lnTo>
                <a:lnTo>
                  <a:pt x="2392066" y="317500"/>
                </a:lnTo>
                <a:lnTo>
                  <a:pt x="2154186" y="317500"/>
                </a:lnTo>
                <a:lnTo>
                  <a:pt x="2154186" y="114300"/>
                </a:lnTo>
                <a:close/>
              </a:path>
              <a:path w="2474595" h="2463800">
                <a:moveTo>
                  <a:pt x="1203210" y="609600"/>
                </a:moveTo>
                <a:lnTo>
                  <a:pt x="1012708" y="609600"/>
                </a:lnTo>
                <a:lnTo>
                  <a:pt x="966499" y="622300"/>
                </a:lnTo>
                <a:lnTo>
                  <a:pt x="1250174" y="622300"/>
                </a:lnTo>
                <a:lnTo>
                  <a:pt x="1203210" y="609600"/>
                </a:lnTo>
                <a:close/>
              </a:path>
              <a:path w="2474595" h="2463800">
                <a:moveTo>
                  <a:pt x="1453515" y="368300"/>
                </a:moveTo>
                <a:lnTo>
                  <a:pt x="1163317" y="368300"/>
                </a:lnTo>
                <a:lnTo>
                  <a:pt x="1218644" y="381000"/>
                </a:lnTo>
                <a:lnTo>
                  <a:pt x="1273498" y="381000"/>
                </a:lnTo>
                <a:lnTo>
                  <a:pt x="1381290" y="406400"/>
                </a:lnTo>
                <a:lnTo>
                  <a:pt x="1425684" y="406400"/>
                </a:lnTo>
                <a:lnTo>
                  <a:pt x="1442831" y="393700"/>
                </a:lnTo>
                <a:lnTo>
                  <a:pt x="1453515" y="368300"/>
                </a:lnTo>
                <a:close/>
              </a:path>
            </a:pathLst>
          </a:custGeom>
          <a:solidFill>
            <a:srgbClr val="0077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420194" y="2396147"/>
            <a:ext cx="647065" cy="17646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25" dirty="0">
                <a:solidFill>
                  <a:srgbClr val="28525B"/>
                </a:solidFill>
                <a:latin typeface="Arial"/>
                <a:cs typeface="Arial"/>
              </a:rPr>
              <a:t>03</a:t>
            </a:r>
            <a:endParaRPr sz="4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130"/>
              </a:spcBef>
            </a:pPr>
            <a:r>
              <a:rPr sz="4400" b="1" spc="-25" dirty="0">
                <a:solidFill>
                  <a:srgbClr val="28525B"/>
                </a:solidFill>
                <a:latin typeface="Arial"/>
                <a:cs typeface="Arial"/>
              </a:rPr>
              <a:t>04</a:t>
            </a:r>
            <a:endParaRPr sz="4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93815" y="2579382"/>
            <a:ext cx="23533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778A"/>
                </a:solidFill>
                <a:latin typeface="Arial"/>
                <a:cs typeface="Arial"/>
              </a:rPr>
              <a:t>Options</a:t>
            </a:r>
            <a:r>
              <a:rPr sz="2000" b="1" spc="-35" dirty="0">
                <a:solidFill>
                  <a:srgbClr val="00778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78A"/>
                </a:solidFill>
                <a:latin typeface="Arial"/>
                <a:cs typeface="Arial"/>
              </a:rPr>
              <a:t>&amp;</a:t>
            </a:r>
            <a:r>
              <a:rPr sz="2000" b="1" spc="-35" dirty="0">
                <a:solidFill>
                  <a:srgbClr val="00778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778A"/>
                </a:solidFill>
                <a:latin typeface="Arial"/>
                <a:cs typeface="Arial"/>
              </a:rPr>
              <a:t>Analysis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93815" y="3673360"/>
            <a:ext cx="396112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778A"/>
                </a:solidFill>
                <a:latin typeface="Arial"/>
                <a:cs typeface="Arial"/>
              </a:rPr>
              <a:t>High</a:t>
            </a:r>
            <a:r>
              <a:rPr sz="2000" b="1" spc="-50" dirty="0">
                <a:solidFill>
                  <a:srgbClr val="00778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78A"/>
                </a:solidFill>
                <a:latin typeface="Arial"/>
                <a:cs typeface="Arial"/>
              </a:rPr>
              <a:t>Level</a:t>
            </a:r>
            <a:r>
              <a:rPr sz="2000" b="1" spc="-45" dirty="0">
                <a:solidFill>
                  <a:srgbClr val="00778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78A"/>
                </a:solidFill>
                <a:latin typeface="Arial"/>
                <a:cs typeface="Arial"/>
              </a:rPr>
              <a:t>Architecture</a:t>
            </a:r>
            <a:r>
              <a:rPr sz="2000" b="1" spc="-45" dirty="0">
                <a:solidFill>
                  <a:srgbClr val="00778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778A"/>
                </a:solidFill>
                <a:latin typeface="Arial"/>
                <a:cs typeface="Arial"/>
              </a:rPr>
              <a:t>Diagram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420194" y="4493729"/>
            <a:ext cx="6470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25" dirty="0">
                <a:solidFill>
                  <a:srgbClr val="28525B"/>
                </a:solidFill>
                <a:latin typeface="Arial"/>
                <a:cs typeface="Arial"/>
              </a:rPr>
              <a:t>05</a:t>
            </a:r>
            <a:endParaRPr sz="4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93815" y="4667250"/>
            <a:ext cx="3185160" cy="60452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0"/>
              </a:spcBef>
            </a:pPr>
            <a:r>
              <a:rPr sz="2000" b="1" dirty="0">
                <a:solidFill>
                  <a:srgbClr val="00778A"/>
                </a:solidFill>
                <a:latin typeface="Arial"/>
                <a:cs typeface="Arial"/>
              </a:rPr>
              <a:t>Recommended</a:t>
            </a:r>
            <a:r>
              <a:rPr sz="2000" b="1" spc="-95" dirty="0">
                <a:solidFill>
                  <a:srgbClr val="00778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78A"/>
                </a:solidFill>
                <a:latin typeface="Arial"/>
                <a:cs typeface="Arial"/>
              </a:rPr>
              <a:t>Solution</a:t>
            </a:r>
            <a:r>
              <a:rPr sz="2000" b="1" spc="-90" dirty="0">
                <a:solidFill>
                  <a:srgbClr val="00778A"/>
                </a:solidFill>
                <a:latin typeface="Arial"/>
                <a:cs typeface="Arial"/>
              </a:rPr>
              <a:t> </a:t>
            </a:r>
            <a:r>
              <a:rPr sz="2000" b="1" spc="-50" dirty="0">
                <a:solidFill>
                  <a:srgbClr val="00778A"/>
                </a:solidFill>
                <a:latin typeface="Arial"/>
                <a:cs typeface="Arial"/>
              </a:rPr>
              <a:t>&amp; </a:t>
            </a:r>
            <a:r>
              <a:rPr sz="2000" b="1" spc="-10" dirty="0">
                <a:solidFill>
                  <a:srgbClr val="00778A"/>
                </a:solidFill>
                <a:latin typeface="Arial"/>
                <a:cs typeface="Arial"/>
              </a:rPr>
              <a:t>Approach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20194" y="5496153"/>
            <a:ext cx="6470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25" dirty="0">
                <a:solidFill>
                  <a:srgbClr val="28525B"/>
                </a:solidFill>
                <a:latin typeface="Arial"/>
                <a:cs typeface="Arial"/>
              </a:rPr>
              <a:t>06</a:t>
            </a:r>
            <a:endParaRPr sz="4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93815" y="5651995"/>
            <a:ext cx="11258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00778A"/>
                </a:solidFill>
                <a:latin typeface="Arial"/>
                <a:cs typeface="Arial"/>
              </a:rPr>
              <a:t>Outcome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3708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100"/>
              </a:spcBef>
            </a:pPr>
            <a:r>
              <a:rPr dirty="0"/>
              <a:t>Business</a:t>
            </a:r>
            <a:r>
              <a:rPr spc="-125" dirty="0"/>
              <a:t> </a:t>
            </a:r>
            <a:r>
              <a:rPr spc="-10" dirty="0"/>
              <a:t>Problem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67140" y="0"/>
            <a:ext cx="3324859" cy="241605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46673" y="1863750"/>
            <a:ext cx="731520" cy="0"/>
          </a:xfrm>
          <a:custGeom>
            <a:avLst/>
            <a:gdLst/>
            <a:ahLst/>
            <a:cxnLst/>
            <a:rect l="l" t="t" r="r" b="b"/>
            <a:pathLst>
              <a:path w="731519">
                <a:moveTo>
                  <a:pt x="0" y="0"/>
                </a:moveTo>
                <a:lnTo>
                  <a:pt x="731520" y="0"/>
                </a:lnTo>
              </a:path>
            </a:pathLst>
          </a:custGeom>
          <a:ln w="41274">
            <a:solidFill>
              <a:srgbClr val="9B88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6551" y="2363419"/>
            <a:ext cx="7811770" cy="3409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07645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Our</a:t>
            </a:r>
            <a:r>
              <a:rPr sz="1200" b="1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data</a:t>
            </a:r>
            <a:r>
              <a:rPr sz="1200" b="1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tools</a:t>
            </a:r>
            <a:r>
              <a:rPr sz="1200" b="1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and</a:t>
            </a:r>
            <a:r>
              <a:rPr sz="1200" b="1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governance</a:t>
            </a:r>
            <a:r>
              <a:rPr sz="1200" b="1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need</a:t>
            </a:r>
            <a:r>
              <a:rPr sz="1200" b="1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modernizing</a:t>
            </a:r>
            <a:r>
              <a:rPr sz="1200" b="1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to</a:t>
            </a:r>
            <a:r>
              <a:rPr sz="1200" b="1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keep</a:t>
            </a:r>
            <a:r>
              <a:rPr sz="1200" b="1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pace</a:t>
            </a:r>
            <a:r>
              <a:rPr sz="1200" b="1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with</a:t>
            </a:r>
            <a:r>
              <a:rPr sz="1200" b="1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growing</a:t>
            </a:r>
            <a:r>
              <a:rPr sz="1200" b="1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analytics</a:t>
            </a:r>
            <a:r>
              <a:rPr sz="1200" b="1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needs</a:t>
            </a:r>
            <a:r>
              <a:rPr sz="1200" b="1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and</a:t>
            </a:r>
            <a:r>
              <a:rPr sz="1200" b="1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4D4D4F"/>
                </a:solidFill>
                <a:latin typeface="Arial"/>
                <a:cs typeface="Arial"/>
              </a:rPr>
              <a:t>control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costs.</a:t>
            </a:r>
            <a:r>
              <a:rPr sz="1200" b="1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This</a:t>
            </a:r>
            <a:r>
              <a:rPr sz="12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submission</a:t>
            </a:r>
            <a:r>
              <a:rPr sz="12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seeks</a:t>
            </a:r>
            <a:r>
              <a:rPr sz="12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TAG</a:t>
            </a:r>
            <a:r>
              <a:rPr sz="12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approval</a:t>
            </a:r>
            <a:r>
              <a:rPr sz="12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to</a:t>
            </a:r>
            <a:r>
              <a:rPr sz="12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run</a:t>
            </a:r>
            <a:r>
              <a:rPr sz="12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a</a:t>
            </a:r>
            <a:r>
              <a:rPr sz="12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proof</a:t>
            </a:r>
            <a:r>
              <a:rPr sz="1200" b="1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of</a:t>
            </a:r>
            <a:r>
              <a:rPr sz="12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concept</a:t>
            </a:r>
            <a:r>
              <a:rPr sz="12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of</a:t>
            </a:r>
            <a:r>
              <a:rPr sz="12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Microsoft</a:t>
            </a:r>
            <a:r>
              <a:rPr sz="12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Fabric</a:t>
            </a:r>
            <a:r>
              <a:rPr sz="12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under</a:t>
            </a:r>
            <a:r>
              <a:rPr sz="12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4D4D4F"/>
                </a:solidFill>
                <a:latin typeface="Arial"/>
                <a:cs typeface="Arial"/>
              </a:rPr>
              <a:t>project P0905.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50" spc="365" dirty="0">
                <a:solidFill>
                  <a:srgbClr val="00778A"/>
                </a:solidFill>
                <a:latin typeface="Segoe UI Symbol"/>
                <a:cs typeface="Segoe UI Symbol"/>
              </a:rPr>
              <a:t>❯</a:t>
            </a:r>
            <a:r>
              <a:rPr sz="1050" spc="204" dirty="0">
                <a:solidFill>
                  <a:srgbClr val="00778A"/>
                </a:solidFill>
                <a:latin typeface="Segoe UI Symbol"/>
                <a:cs typeface="Segoe UI Symbo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What’s</a:t>
            </a:r>
            <a:r>
              <a:rPr sz="12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not</a:t>
            </a:r>
            <a:r>
              <a:rPr sz="1200" b="1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working</a:t>
            </a:r>
            <a:r>
              <a:rPr sz="12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4D4D4F"/>
                </a:solidFill>
                <a:latin typeface="Arial"/>
                <a:cs typeface="Arial"/>
              </a:rPr>
              <a:t>today</a:t>
            </a:r>
            <a:endParaRPr sz="1200">
              <a:latin typeface="Arial"/>
              <a:cs typeface="Arial"/>
            </a:endParaRPr>
          </a:p>
          <a:p>
            <a:pPr marL="423545" indent="-182245">
              <a:lnSpc>
                <a:spcPct val="100000"/>
              </a:lnSpc>
              <a:spcBef>
                <a:spcPts val="600"/>
              </a:spcBef>
              <a:buClr>
                <a:srgbClr val="00778A"/>
              </a:buClr>
              <a:buFont typeface="Arial"/>
              <a:buChar char="•"/>
              <a:tabLst>
                <a:tab pos="423545" algn="l"/>
              </a:tabLst>
            </a:pPr>
            <a:r>
              <a:rPr sz="1100" b="1" dirty="0">
                <a:solidFill>
                  <a:srgbClr val="4D4D4F"/>
                </a:solidFill>
                <a:latin typeface="Arial"/>
                <a:cs typeface="Arial"/>
              </a:rPr>
              <a:t>Ageing</a:t>
            </a:r>
            <a:r>
              <a:rPr sz="1100" b="1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4D4D4F"/>
                </a:solidFill>
                <a:latin typeface="Arial"/>
                <a:cs typeface="Arial"/>
              </a:rPr>
              <a:t>platform</a:t>
            </a:r>
            <a:r>
              <a:rPr sz="1100" b="1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4D4D4F"/>
                </a:solidFill>
                <a:latin typeface="Arial"/>
                <a:cs typeface="Arial"/>
              </a:rPr>
              <a:t>–</a:t>
            </a:r>
            <a:r>
              <a:rPr sz="11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our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data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tools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and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4D4D4F"/>
                </a:solidFill>
                <a:latin typeface="Arial"/>
                <a:cs typeface="Arial"/>
              </a:rPr>
              <a:t>governance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aren’t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built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for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modern,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4D4D4F"/>
                </a:solidFill>
                <a:latin typeface="Arial"/>
                <a:cs typeface="Arial"/>
              </a:rPr>
              <a:t>cloud-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based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4D4D4F"/>
                </a:solidFill>
                <a:latin typeface="Arial"/>
                <a:cs typeface="Arial"/>
              </a:rPr>
              <a:t>analytics.</a:t>
            </a:r>
            <a:endParaRPr sz="1100">
              <a:latin typeface="Arial"/>
              <a:cs typeface="Arial"/>
            </a:endParaRPr>
          </a:p>
          <a:p>
            <a:pPr marL="423545" indent="-182880">
              <a:lnSpc>
                <a:spcPct val="100000"/>
              </a:lnSpc>
              <a:spcBef>
                <a:spcPts val="600"/>
              </a:spcBef>
              <a:buClr>
                <a:srgbClr val="00778A"/>
              </a:buClr>
              <a:buFont typeface="Arial"/>
              <a:buChar char="•"/>
              <a:tabLst>
                <a:tab pos="423545" algn="l"/>
              </a:tabLst>
            </a:pPr>
            <a:r>
              <a:rPr sz="1100" b="1" dirty="0">
                <a:solidFill>
                  <a:srgbClr val="4D4D4F"/>
                </a:solidFill>
                <a:latin typeface="Arial"/>
                <a:cs typeface="Arial"/>
              </a:rPr>
              <a:t>Higher</a:t>
            </a:r>
            <a:r>
              <a:rPr sz="1100" b="1" spc="-3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4D4D4F"/>
                </a:solidFill>
                <a:latin typeface="Arial"/>
                <a:cs typeface="Arial"/>
              </a:rPr>
              <a:t>costs</a:t>
            </a:r>
            <a:r>
              <a:rPr sz="1100" b="1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4D4D4F"/>
                </a:solidFill>
                <a:latin typeface="Arial"/>
                <a:cs typeface="Arial"/>
              </a:rPr>
              <a:t>than</a:t>
            </a:r>
            <a:r>
              <a:rPr sz="1100" b="1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4D4D4F"/>
                </a:solidFill>
                <a:latin typeface="Arial"/>
                <a:cs typeface="Arial"/>
              </a:rPr>
              <a:t>needed</a:t>
            </a:r>
            <a:r>
              <a:rPr sz="1100" b="1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4D4D4F"/>
                </a:solidFill>
                <a:latin typeface="Arial"/>
                <a:cs typeface="Arial"/>
              </a:rPr>
              <a:t>–</a:t>
            </a:r>
            <a:r>
              <a:rPr sz="1100" b="1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reporting</a:t>
            </a:r>
            <a:r>
              <a:rPr sz="110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and</a:t>
            </a:r>
            <a:r>
              <a:rPr sz="110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web</a:t>
            </a:r>
            <a:r>
              <a:rPr sz="110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analytics</a:t>
            </a:r>
            <a:r>
              <a:rPr sz="110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run</a:t>
            </a:r>
            <a:r>
              <a:rPr sz="110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on</a:t>
            </a:r>
            <a:r>
              <a:rPr sz="110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older,</a:t>
            </a:r>
            <a:r>
              <a:rPr sz="110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more</a:t>
            </a:r>
            <a:r>
              <a:rPr sz="110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4D4D4F"/>
                </a:solidFill>
                <a:latin typeface="Arial"/>
                <a:cs typeface="Arial"/>
              </a:rPr>
              <a:t>expensive</a:t>
            </a:r>
            <a:r>
              <a:rPr sz="110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4D4D4F"/>
                </a:solidFill>
                <a:latin typeface="Arial"/>
                <a:cs typeface="Arial"/>
              </a:rPr>
              <a:t>technology.</a:t>
            </a:r>
            <a:endParaRPr sz="1100">
              <a:latin typeface="Arial"/>
              <a:cs typeface="Arial"/>
            </a:endParaRPr>
          </a:p>
          <a:p>
            <a:pPr marL="423545" indent="-182880">
              <a:lnSpc>
                <a:spcPct val="100000"/>
              </a:lnSpc>
              <a:spcBef>
                <a:spcPts val="600"/>
              </a:spcBef>
              <a:buClr>
                <a:srgbClr val="00778A"/>
              </a:buClr>
              <a:buFont typeface="Arial"/>
              <a:buChar char="•"/>
              <a:tabLst>
                <a:tab pos="423545" algn="l"/>
              </a:tabLst>
            </a:pPr>
            <a:r>
              <a:rPr sz="1100" b="1" spc="-10" dirty="0">
                <a:solidFill>
                  <a:srgbClr val="4D4D4F"/>
                </a:solidFill>
                <a:latin typeface="Arial"/>
                <a:cs typeface="Arial"/>
              </a:rPr>
              <a:t>Readiness</a:t>
            </a:r>
            <a:r>
              <a:rPr sz="1100" b="1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4D4D4F"/>
                </a:solidFill>
                <a:latin typeface="Arial"/>
                <a:cs typeface="Arial"/>
              </a:rPr>
              <a:t>gaps</a:t>
            </a:r>
            <a:r>
              <a:rPr sz="11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4D4D4F"/>
                </a:solidFill>
                <a:latin typeface="Arial"/>
                <a:cs typeface="Arial"/>
              </a:rPr>
              <a:t>–</a:t>
            </a:r>
            <a:r>
              <a:rPr sz="11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today’s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environment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and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access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controls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aren’t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yet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set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up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to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support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new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4D4D4F"/>
                </a:solidFill>
                <a:latin typeface="Arial"/>
                <a:cs typeface="Arial"/>
              </a:rPr>
              <a:t>platform.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50" spc="365" dirty="0">
                <a:solidFill>
                  <a:srgbClr val="00778A"/>
                </a:solidFill>
                <a:latin typeface="Segoe UI Symbol"/>
                <a:cs typeface="Segoe UI Symbol"/>
              </a:rPr>
              <a:t>❯</a:t>
            </a:r>
            <a:r>
              <a:rPr sz="1050" spc="220" dirty="0">
                <a:solidFill>
                  <a:srgbClr val="00778A"/>
                </a:solidFill>
                <a:latin typeface="Segoe UI Symbol"/>
                <a:cs typeface="Segoe UI Symbo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Risk</a:t>
            </a:r>
            <a:r>
              <a:rPr sz="1200" b="1" spc="-1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to</a:t>
            </a:r>
            <a:r>
              <a:rPr sz="1200" b="1" spc="-1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the</a:t>
            </a:r>
            <a:r>
              <a:rPr sz="1200" b="1" spc="-10" dirty="0">
                <a:solidFill>
                  <a:srgbClr val="4D4D4F"/>
                </a:solidFill>
                <a:latin typeface="Arial"/>
                <a:cs typeface="Arial"/>
              </a:rPr>
              <a:t> corporation</a:t>
            </a:r>
            <a:endParaRPr sz="1200">
              <a:latin typeface="Arial"/>
              <a:cs typeface="Arial"/>
            </a:endParaRPr>
          </a:p>
          <a:p>
            <a:pPr marL="424180" marR="192405" indent="-182880">
              <a:lnSpc>
                <a:spcPct val="100000"/>
              </a:lnSpc>
              <a:spcBef>
                <a:spcPts val="600"/>
              </a:spcBef>
              <a:buClr>
                <a:srgbClr val="00778A"/>
              </a:buClr>
              <a:buChar char="•"/>
              <a:tabLst>
                <a:tab pos="424180" algn="l"/>
              </a:tabLst>
            </a:pP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new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platform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would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handle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4D4D4F"/>
                </a:solidFill>
                <a:latin typeface="Arial"/>
                <a:cs typeface="Arial"/>
              </a:rPr>
              <a:t>sensitive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member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data,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so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the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right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security,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privacy,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and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access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controls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must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be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in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place</a:t>
            </a:r>
            <a:r>
              <a:rPr sz="1100" spc="-3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before</a:t>
            </a:r>
            <a:r>
              <a:rPr sz="110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we</a:t>
            </a:r>
            <a:r>
              <a:rPr sz="110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move</a:t>
            </a:r>
            <a:r>
              <a:rPr sz="110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beyond</a:t>
            </a:r>
            <a:r>
              <a:rPr sz="1100" spc="-3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a</a:t>
            </a:r>
            <a:r>
              <a:rPr sz="110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pilot</a:t>
            </a:r>
            <a:r>
              <a:rPr sz="110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(risk</a:t>
            </a:r>
            <a:r>
              <a:rPr sz="110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owner:</a:t>
            </a:r>
            <a:r>
              <a:rPr sz="110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Cristina</a:t>
            </a:r>
            <a:r>
              <a:rPr sz="1100" spc="-3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4D4D4F"/>
                </a:solidFill>
                <a:latin typeface="Arial"/>
                <a:cs typeface="Arial"/>
              </a:rPr>
              <a:t>Stepanov).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50" spc="365" dirty="0">
                <a:solidFill>
                  <a:srgbClr val="00778A"/>
                </a:solidFill>
                <a:latin typeface="Segoe UI Symbol"/>
                <a:cs typeface="Segoe UI Symbol"/>
              </a:rPr>
              <a:t>❯</a:t>
            </a:r>
            <a:r>
              <a:rPr sz="1050" spc="204" dirty="0">
                <a:solidFill>
                  <a:srgbClr val="00778A"/>
                </a:solidFill>
                <a:latin typeface="Segoe UI Symbol"/>
                <a:cs typeface="Segoe UI Symbo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How</a:t>
            </a:r>
            <a:r>
              <a:rPr sz="1200" b="1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we’re</a:t>
            </a:r>
            <a:r>
              <a:rPr sz="12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managing</a:t>
            </a:r>
            <a:r>
              <a:rPr sz="12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spc="-25" dirty="0">
                <a:solidFill>
                  <a:srgbClr val="4D4D4F"/>
                </a:solidFill>
                <a:latin typeface="Arial"/>
                <a:cs typeface="Arial"/>
              </a:rPr>
              <a:t>it</a:t>
            </a:r>
            <a:endParaRPr sz="1200">
              <a:latin typeface="Arial"/>
              <a:cs typeface="Arial"/>
            </a:endParaRPr>
          </a:p>
          <a:p>
            <a:pPr marL="424180" marR="5080" indent="-182880">
              <a:lnSpc>
                <a:spcPct val="100000"/>
              </a:lnSpc>
              <a:spcBef>
                <a:spcPts val="600"/>
              </a:spcBef>
              <a:buClr>
                <a:srgbClr val="00778A"/>
              </a:buClr>
              <a:buChar char="•"/>
              <a:tabLst>
                <a:tab pos="424180" algn="l"/>
              </a:tabLst>
            </a:pP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Testing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safely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in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an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isolated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environment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using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non-</a:t>
            </a:r>
            <a:r>
              <a:rPr sz="1100" spc="-10" dirty="0">
                <a:solidFill>
                  <a:srgbClr val="4D4D4F"/>
                </a:solidFill>
                <a:latin typeface="Arial"/>
                <a:cs typeface="Arial"/>
              </a:rPr>
              <a:t>identifiable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data,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with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security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and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4D4D4F"/>
                </a:solidFill>
                <a:latin typeface="Arial"/>
                <a:cs typeface="Arial"/>
              </a:rPr>
              <a:t>governance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teams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4D4D4F"/>
                </a:solidFill>
                <a:latin typeface="Arial"/>
                <a:cs typeface="Arial"/>
              </a:rPr>
              <a:t>involved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from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the</a:t>
            </a:r>
            <a:r>
              <a:rPr sz="1100" spc="-10" dirty="0">
                <a:solidFill>
                  <a:srgbClr val="4D4D4F"/>
                </a:solidFill>
                <a:latin typeface="Arial"/>
                <a:cs typeface="Arial"/>
              </a:rPr>
              <a:t> start.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50" spc="365" dirty="0">
                <a:solidFill>
                  <a:srgbClr val="00778A"/>
                </a:solidFill>
                <a:latin typeface="Segoe UI Symbol"/>
                <a:cs typeface="Segoe UI Symbol"/>
              </a:rPr>
              <a:t>❯</a:t>
            </a:r>
            <a:r>
              <a:rPr sz="1050" spc="220" dirty="0">
                <a:solidFill>
                  <a:srgbClr val="00778A"/>
                </a:solidFill>
                <a:latin typeface="Segoe UI Symbol"/>
                <a:cs typeface="Segoe UI Symbo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Who’s</a:t>
            </a:r>
            <a:r>
              <a:rPr sz="1200" b="1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4D4D4F"/>
                </a:solidFill>
                <a:latin typeface="Arial"/>
                <a:cs typeface="Arial"/>
              </a:rPr>
              <a:t>impacted</a:t>
            </a:r>
            <a:endParaRPr sz="1200">
              <a:latin typeface="Arial"/>
              <a:cs typeface="Arial"/>
            </a:endParaRPr>
          </a:p>
          <a:p>
            <a:pPr marL="423545" indent="-182245">
              <a:lnSpc>
                <a:spcPct val="100000"/>
              </a:lnSpc>
              <a:spcBef>
                <a:spcPts val="600"/>
              </a:spcBef>
              <a:buClr>
                <a:srgbClr val="00778A"/>
              </a:buClr>
              <a:buChar char="•"/>
              <a:tabLst>
                <a:tab pos="423545" algn="l"/>
              </a:tabLst>
            </a:pP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IT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4D4D4F"/>
                </a:solidFill>
                <a:latin typeface="Arial"/>
                <a:cs typeface="Arial"/>
              </a:rPr>
              <a:t>Engineering,</a:t>
            </a:r>
            <a:r>
              <a:rPr sz="1100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IT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Services,</a:t>
            </a:r>
            <a:r>
              <a:rPr sz="1100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the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Power</a:t>
            </a:r>
            <a:r>
              <a:rPr sz="1100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Platform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team,</a:t>
            </a:r>
            <a:r>
              <a:rPr sz="1100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Business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4D4D4F"/>
                </a:solidFill>
                <a:latin typeface="Arial"/>
                <a:cs typeface="Arial"/>
              </a:rPr>
              <a:t>Analytics,</a:t>
            </a:r>
            <a:r>
              <a:rPr sz="1100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Digital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4D4D4F"/>
                </a:solidFill>
                <a:latin typeface="Arial"/>
                <a:cs typeface="Arial"/>
              </a:rPr>
              <a:t>Communications,</a:t>
            </a:r>
            <a:r>
              <a:rPr sz="1100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and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IT</a:t>
            </a:r>
            <a:r>
              <a:rPr sz="1100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4D4D4F"/>
                </a:solidFill>
                <a:latin typeface="Arial"/>
                <a:cs typeface="Arial"/>
              </a:rPr>
              <a:t>Security.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54892" y="6316636"/>
            <a:ext cx="633620" cy="304787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3708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100"/>
              </a:spcBef>
            </a:pPr>
            <a:r>
              <a:rPr dirty="0"/>
              <a:t>Business</a:t>
            </a:r>
            <a:r>
              <a:rPr spc="-125" dirty="0"/>
              <a:t> </a:t>
            </a:r>
            <a:r>
              <a:rPr spc="-10" dirty="0"/>
              <a:t>Goals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67140" y="0"/>
            <a:ext cx="3324859" cy="241605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46673" y="1863750"/>
            <a:ext cx="731520" cy="0"/>
          </a:xfrm>
          <a:custGeom>
            <a:avLst/>
            <a:gdLst/>
            <a:ahLst/>
            <a:cxnLst/>
            <a:rect l="l" t="t" r="r" b="b"/>
            <a:pathLst>
              <a:path w="731519">
                <a:moveTo>
                  <a:pt x="0" y="0"/>
                </a:moveTo>
                <a:lnTo>
                  <a:pt x="731520" y="0"/>
                </a:lnTo>
              </a:path>
            </a:pathLst>
          </a:custGeom>
          <a:ln w="41274">
            <a:solidFill>
              <a:srgbClr val="9B88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6548" y="2362885"/>
            <a:ext cx="10059035" cy="2654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Supports</a:t>
            </a:r>
            <a:r>
              <a:rPr sz="1400" b="1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our</a:t>
            </a:r>
            <a:r>
              <a:rPr sz="1400" b="1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Plan</a:t>
            </a:r>
            <a:r>
              <a:rPr sz="1400" b="1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20|30</a:t>
            </a:r>
            <a:r>
              <a:rPr sz="1400" b="1" spc="-1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Wave</a:t>
            </a:r>
            <a:r>
              <a:rPr sz="1400" b="1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2</a:t>
            </a:r>
            <a:r>
              <a:rPr sz="1400" b="1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goals</a:t>
            </a:r>
            <a:r>
              <a:rPr sz="1400" b="1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to</a:t>
            </a:r>
            <a:r>
              <a:rPr sz="1400" b="1" spc="-1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strengthen</a:t>
            </a:r>
            <a:r>
              <a:rPr sz="1400" b="1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efficiency</a:t>
            </a:r>
            <a:r>
              <a:rPr sz="1400" b="1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and</a:t>
            </a:r>
            <a:r>
              <a:rPr sz="1400" b="1" spc="-1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quality</a:t>
            </a:r>
            <a:r>
              <a:rPr sz="1400" b="1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–</a:t>
            </a:r>
            <a:r>
              <a:rPr sz="1400" b="1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modernizing</a:t>
            </a:r>
            <a:r>
              <a:rPr sz="1400" b="1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technology,</a:t>
            </a:r>
            <a:r>
              <a:rPr sz="1400" b="1" spc="-1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reducing</a:t>
            </a:r>
            <a:r>
              <a:rPr sz="1400" b="1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4D4D4F"/>
                </a:solidFill>
                <a:latin typeface="Arial"/>
                <a:cs typeface="Arial"/>
              </a:rPr>
              <a:t>outside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dependencies,</a:t>
            </a:r>
            <a:r>
              <a:rPr sz="14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lowering</a:t>
            </a:r>
            <a:r>
              <a:rPr sz="14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costs,</a:t>
            </a:r>
            <a:r>
              <a:rPr sz="1400" b="1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and</a:t>
            </a:r>
            <a:r>
              <a:rPr sz="14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improving</a:t>
            </a:r>
            <a:r>
              <a:rPr sz="14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data</a:t>
            </a:r>
            <a:r>
              <a:rPr sz="1400" b="1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security</a:t>
            </a:r>
            <a:r>
              <a:rPr sz="14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and</a:t>
            </a:r>
            <a:r>
              <a:rPr sz="14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4D4D4F"/>
                </a:solidFill>
                <a:latin typeface="Arial"/>
                <a:cs typeface="Arial"/>
              </a:rPr>
              <a:t>analytics.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409" dirty="0">
                <a:solidFill>
                  <a:srgbClr val="00778A"/>
                </a:solidFill>
                <a:latin typeface="Segoe UI Symbol"/>
                <a:cs typeface="Segoe UI Symbol"/>
              </a:rPr>
              <a:t>❯</a:t>
            </a:r>
            <a:r>
              <a:rPr sz="1250" spc="35" dirty="0">
                <a:solidFill>
                  <a:srgbClr val="00778A"/>
                </a:solidFill>
                <a:latin typeface="Segoe UI Symbol"/>
                <a:cs typeface="Segoe UI Symbo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What</a:t>
            </a:r>
            <a:r>
              <a:rPr sz="1400" b="1" spc="-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we</a:t>
            </a:r>
            <a:r>
              <a:rPr sz="1400" b="1" spc="-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want</a:t>
            </a:r>
            <a:r>
              <a:rPr sz="1400" b="1" spc="-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to </a:t>
            </a:r>
            <a:r>
              <a:rPr sz="1400" b="1" spc="-10" dirty="0">
                <a:solidFill>
                  <a:srgbClr val="4D4D4F"/>
                </a:solidFill>
                <a:latin typeface="Arial"/>
                <a:cs typeface="Arial"/>
              </a:rPr>
              <a:t>achieve</a:t>
            </a:r>
            <a:endParaRPr sz="1400">
              <a:latin typeface="Arial"/>
              <a:cs typeface="Arial"/>
            </a:endParaRPr>
          </a:p>
          <a:p>
            <a:pPr marL="423545" indent="-182245">
              <a:lnSpc>
                <a:spcPct val="100000"/>
              </a:lnSpc>
              <a:spcBef>
                <a:spcPts val="600"/>
              </a:spcBef>
              <a:buClr>
                <a:srgbClr val="00778A"/>
              </a:buClr>
              <a:buFont typeface="Arial"/>
              <a:buChar char="•"/>
              <a:tabLst>
                <a:tab pos="423545" algn="l"/>
              </a:tabLst>
            </a:pPr>
            <a:r>
              <a:rPr sz="1250" b="1" dirty="0">
                <a:solidFill>
                  <a:srgbClr val="4D4D4F"/>
                </a:solidFill>
                <a:latin typeface="Arial"/>
                <a:cs typeface="Arial"/>
              </a:rPr>
              <a:t>Modernize</a:t>
            </a:r>
            <a:r>
              <a:rPr sz="1250" b="1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b="1" dirty="0">
                <a:solidFill>
                  <a:srgbClr val="4D4D4F"/>
                </a:solidFill>
                <a:latin typeface="Arial"/>
                <a:cs typeface="Arial"/>
              </a:rPr>
              <a:t>–</a:t>
            </a:r>
            <a:r>
              <a:rPr sz="1250" b="1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move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to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a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modern,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spc="-20" dirty="0">
                <a:solidFill>
                  <a:srgbClr val="4D4D4F"/>
                </a:solidFill>
                <a:latin typeface="Arial"/>
                <a:cs typeface="Arial"/>
              </a:rPr>
              <a:t>cloud-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based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data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4D4D4F"/>
                </a:solidFill>
                <a:latin typeface="Arial"/>
                <a:cs typeface="Arial"/>
              </a:rPr>
              <a:t>platform.</a:t>
            </a:r>
            <a:endParaRPr sz="1250">
              <a:latin typeface="Arial"/>
              <a:cs typeface="Arial"/>
            </a:endParaRPr>
          </a:p>
          <a:p>
            <a:pPr marL="423545" indent="-182245">
              <a:lnSpc>
                <a:spcPct val="100000"/>
              </a:lnSpc>
              <a:spcBef>
                <a:spcPts val="600"/>
              </a:spcBef>
              <a:buClr>
                <a:srgbClr val="00778A"/>
              </a:buClr>
              <a:buFont typeface="Arial"/>
              <a:buChar char="•"/>
              <a:tabLst>
                <a:tab pos="423545" algn="l"/>
              </a:tabLst>
            </a:pPr>
            <a:r>
              <a:rPr sz="1250" b="1" dirty="0">
                <a:solidFill>
                  <a:srgbClr val="4D4D4F"/>
                </a:solidFill>
                <a:latin typeface="Arial"/>
                <a:cs typeface="Arial"/>
              </a:rPr>
              <a:t>Simplify</a:t>
            </a:r>
            <a:r>
              <a:rPr sz="1250" b="1" spc="-4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b="1" dirty="0">
                <a:solidFill>
                  <a:srgbClr val="4D4D4F"/>
                </a:solidFill>
                <a:latin typeface="Arial"/>
                <a:cs typeface="Arial"/>
              </a:rPr>
              <a:t>and</a:t>
            </a:r>
            <a:r>
              <a:rPr sz="1250" b="1" spc="-4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b="1" dirty="0">
                <a:solidFill>
                  <a:srgbClr val="4D4D4F"/>
                </a:solidFill>
                <a:latin typeface="Arial"/>
                <a:cs typeface="Arial"/>
              </a:rPr>
              <a:t>consolidate</a:t>
            </a:r>
            <a:r>
              <a:rPr sz="1250" b="1" spc="-4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b="1" dirty="0">
                <a:solidFill>
                  <a:srgbClr val="4D4D4F"/>
                </a:solidFill>
                <a:latin typeface="Arial"/>
                <a:cs typeface="Arial"/>
              </a:rPr>
              <a:t>–</a:t>
            </a:r>
            <a:r>
              <a:rPr sz="1250" b="1" spc="-4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improve</a:t>
            </a:r>
            <a:r>
              <a:rPr sz="1250" spc="-4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how</a:t>
            </a:r>
            <a:r>
              <a:rPr sz="1250" spc="-4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data</a:t>
            </a:r>
            <a:r>
              <a:rPr sz="1250" spc="-4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and</a:t>
            </a:r>
            <a:r>
              <a:rPr sz="1250" spc="-4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reporting</a:t>
            </a:r>
            <a:r>
              <a:rPr sz="1250" spc="-4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are</a:t>
            </a:r>
            <a:r>
              <a:rPr sz="1250" spc="-4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4D4D4F"/>
                </a:solidFill>
                <a:latin typeface="Arial"/>
                <a:cs typeface="Arial"/>
              </a:rPr>
              <a:t>delivered</a:t>
            </a:r>
            <a:r>
              <a:rPr sz="1250" spc="-4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and</a:t>
            </a:r>
            <a:r>
              <a:rPr sz="1250" spc="-4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remove</a:t>
            </a:r>
            <a:r>
              <a:rPr sz="1250" spc="-4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duplicate</a:t>
            </a:r>
            <a:r>
              <a:rPr sz="1250" spc="-4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4D4D4F"/>
                </a:solidFill>
                <a:latin typeface="Arial"/>
                <a:cs typeface="Arial"/>
              </a:rPr>
              <a:t>tools.</a:t>
            </a:r>
            <a:endParaRPr sz="1250">
              <a:latin typeface="Arial"/>
              <a:cs typeface="Arial"/>
            </a:endParaRPr>
          </a:p>
          <a:p>
            <a:pPr marL="423545" indent="-182245">
              <a:lnSpc>
                <a:spcPct val="100000"/>
              </a:lnSpc>
              <a:spcBef>
                <a:spcPts val="600"/>
              </a:spcBef>
              <a:buClr>
                <a:srgbClr val="00778A"/>
              </a:buClr>
              <a:buFont typeface="Arial"/>
              <a:buChar char="•"/>
              <a:tabLst>
                <a:tab pos="423545" algn="l"/>
              </a:tabLst>
            </a:pPr>
            <a:r>
              <a:rPr sz="1250" b="1" dirty="0">
                <a:solidFill>
                  <a:srgbClr val="4D4D4F"/>
                </a:solidFill>
                <a:latin typeface="Arial"/>
                <a:cs typeface="Arial"/>
              </a:rPr>
              <a:t>Lower</a:t>
            </a:r>
            <a:r>
              <a:rPr sz="1250" b="1" spc="-4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b="1" dirty="0">
                <a:solidFill>
                  <a:srgbClr val="4D4D4F"/>
                </a:solidFill>
                <a:latin typeface="Arial"/>
                <a:cs typeface="Arial"/>
              </a:rPr>
              <a:t>costs</a:t>
            </a:r>
            <a:r>
              <a:rPr sz="1250" b="1" spc="-4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b="1" dirty="0">
                <a:solidFill>
                  <a:srgbClr val="4D4D4F"/>
                </a:solidFill>
                <a:latin typeface="Arial"/>
                <a:cs typeface="Arial"/>
              </a:rPr>
              <a:t>–</a:t>
            </a:r>
            <a:r>
              <a:rPr sz="1250" b="1" spc="-4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reduce</a:t>
            </a:r>
            <a:r>
              <a:rPr sz="1250" spc="-4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technology</a:t>
            </a:r>
            <a:r>
              <a:rPr sz="1250" spc="-4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and</a:t>
            </a:r>
            <a:r>
              <a:rPr sz="1250" spc="-4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support</a:t>
            </a:r>
            <a:r>
              <a:rPr sz="1250" spc="-4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costs</a:t>
            </a:r>
            <a:r>
              <a:rPr sz="1250" spc="-4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while</a:t>
            </a:r>
            <a:r>
              <a:rPr sz="1250" spc="-4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4D4D4F"/>
                </a:solidFill>
                <a:latin typeface="Arial"/>
                <a:cs typeface="Arial"/>
              </a:rPr>
              <a:t>maintaining</a:t>
            </a:r>
            <a:r>
              <a:rPr sz="1250" spc="-4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service</a:t>
            </a:r>
            <a:r>
              <a:rPr sz="1250" spc="-4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4D4D4F"/>
                </a:solidFill>
                <a:latin typeface="Arial"/>
                <a:cs typeface="Arial"/>
              </a:rPr>
              <a:t>levels.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409" dirty="0">
                <a:solidFill>
                  <a:srgbClr val="00778A"/>
                </a:solidFill>
                <a:latin typeface="Segoe UI Symbol"/>
                <a:cs typeface="Segoe UI Symbol"/>
              </a:rPr>
              <a:t>❯</a:t>
            </a:r>
            <a:r>
              <a:rPr sz="1250" spc="25" dirty="0">
                <a:solidFill>
                  <a:srgbClr val="00778A"/>
                </a:solidFill>
                <a:latin typeface="Segoe UI Symbol"/>
                <a:cs typeface="Segoe UI Symbo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How</a:t>
            </a:r>
            <a:r>
              <a:rPr sz="1400" b="1" spc="-1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we’ll</a:t>
            </a:r>
            <a:r>
              <a:rPr sz="1400" b="1" spc="-1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measure</a:t>
            </a:r>
            <a:r>
              <a:rPr sz="1400" b="1" spc="-10" dirty="0">
                <a:solidFill>
                  <a:srgbClr val="4D4D4F"/>
                </a:solidFill>
                <a:latin typeface="Arial"/>
                <a:cs typeface="Arial"/>
              </a:rPr>
              <a:t> success</a:t>
            </a:r>
            <a:endParaRPr sz="1400">
              <a:latin typeface="Arial"/>
              <a:cs typeface="Arial"/>
            </a:endParaRPr>
          </a:p>
          <a:p>
            <a:pPr marL="423545" indent="-182245">
              <a:lnSpc>
                <a:spcPct val="100000"/>
              </a:lnSpc>
              <a:spcBef>
                <a:spcPts val="600"/>
              </a:spcBef>
              <a:buClr>
                <a:srgbClr val="00778A"/>
              </a:buClr>
              <a:buChar char="•"/>
              <a:tabLst>
                <a:tab pos="423545" algn="l"/>
              </a:tabLst>
            </a:pP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A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working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trial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of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the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new</a:t>
            </a:r>
            <a:r>
              <a:rPr sz="125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platform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with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the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right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security</a:t>
            </a:r>
            <a:r>
              <a:rPr sz="125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and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4D4D4F"/>
                </a:solidFill>
                <a:latin typeface="Arial"/>
                <a:cs typeface="Arial"/>
              </a:rPr>
              <a:t>governance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in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place,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ending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in</a:t>
            </a:r>
            <a:r>
              <a:rPr sz="125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a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clear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4D4D4F"/>
                </a:solidFill>
                <a:latin typeface="Arial"/>
                <a:cs typeface="Arial"/>
              </a:rPr>
              <a:t>recommendation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to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4D4D4F"/>
                </a:solidFill>
                <a:latin typeface="Arial"/>
                <a:cs typeface="Arial"/>
              </a:rPr>
              <a:t>leadership.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409" dirty="0">
                <a:solidFill>
                  <a:srgbClr val="00778A"/>
                </a:solidFill>
                <a:latin typeface="Segoe UI Symbol"/>
                <a:cs typeface="Segoe UI Symbol"/>
              </a:rPr>
              <a:t>❯</a:t>
            </a:r>
            <a:r>
              <a:rPr sz="1250" spc="20" dirty="0">
                <a:solidFill>
                  <a:srgbClr val="00778A"/>
                </a:solidFill>
                <a:latin typeface="Segoe UI Symbol"/>
                <a:cs typeface="Segoe UI Symbo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Program</a:t>
            </a:r>
            <a:r>
              <a:rPr sz="1400" b="1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area</a:t>
            </a:r>
            <a:r>
              <a:rPr sz="1400" b="1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and</a:t>
            </a:r>
            <a:r>
              <a:rPr sz="14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4D4D4F"/>
                </a:solidFill>
                <a:latin typeface="Arial"/>
                <a:cs typeface="Arial"/>
              </a:rPr>
              <a:t>funding</a:t>
            </a:r>
            <a:endParaRPr sz="1400">
              <a:latin typeface="Arial"/>
              <a:cs typeface="Arial"/>
            </a:endParaRPr>
          </a:p>
          <a:p>
            <a:pPr marL="423545" indent="-182245">
              <a:lnSpc>
                <a:spcPct val="100000"/>
              </a:lnSpc>
              <a:spcBef>
                <a:spcPts val="600"/>
              </a:spcBef>
              <a:buClr>
                <a:srgbClr val="00778A"/>
              </a:buClr>
              <a:buChar char="•"/>
              <a:tabLst>
                <a:tab pos="423545" algn="l"/>
              </a:tabLst>
            </a:pPr>
            <a:r>
              <a:rPr sz="1250" spc="-10" dirty="0">
                <a:solidFill>
                  <a:srgbClr val="4D4D4F"/>
                </a:solidFill>
                <a:latin typeface="Arial"/>
                <a:cs typeface="Arial"/>
              </a:rPr>
              <a:t>Delivered</a:t>
            </a:r>
            <a:r>
              <a:rPr sz="1250" spc="-3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and</a:t>
            </a:r>
            <a:r>
              <a:rPr sz="1250" spc="-3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funded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under</a:t>
            </a:r>
            <a:r>
              <a:rPr sz="1250" spc="-3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project</a:t>
            </a:r>
            <a:r>
              <a:rPr sz="1250" spc="-3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P0905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(IT</a:t>
            </a:r>
            <a:r>
              <a:rPr sz="1250" spc="-3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4D4D4F"/>
                </a:solidFill>
                <a:latin typeface="Arial"/>
                <a:cs typeface="Arial"/>
              </a:rPr>
              <a:t>Engineering),</a:t>
            </a:r>
            <a:r>
              <a:rPr sz="1250" spc="-3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within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the</a:t>
            </a:r>
            <a:r>
              <a:rPr sz="1250" spc="-3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approved</a:t>
            </a:r>
            <a:r>
              <a:rPr sz="1250" spc="-3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Wave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2</a:t>
            </a:r>
            <a:r>
              <a:rPr sz="1250" spc="-3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4D4D4F"/>
                </a:solidFill>
                <a:latin typeface="Arial"/>
                <a:cs typeface="Arial"/>
              </a:rPr>
              <a:t>budget.</a:t>
            </a:r>
            <a:endParaRPr sz="1250">
              <a:latin typeface="Arial"/>
              <a:cs typeface="Arial"/>
            </a:endParaRPr>
          </a:p>
        </p:txBody>
      </p:sp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54892" y="6316636"/>
            <a:ext cx="633620" cy="304787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90"/>
              </a:spcBef>
            </a:pPr>
            <a:r>
              <a:rPr dirty="0"/>
              <a:t>Options</a:t>
            </a:r>
            <a:r>
              <a:rPr spc="-45" dirty="0"/>
              <a:t> </a:t>
            </a:r>
            <a:r>
              <a:rPr dirty="0"/>
              <a:t>&amp;</a:t>
            </a:r>
            <a:r>
              <a:rPr spc="-40" dirty="0"/>
              <a:t> </a:t>
            </a:r>
            <a:r>
              <a:rPr spc="-10" dirty="0"/>
              <a:t>Analysis</a:t>
            </a: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900" dirty="0">
                <a:solidFill>
                  <a:srgbClr val="00778A"/>
                </a:solidFill>
              </a:rPr>
              <a:t>S</a:t>
            </a:r>
            <a:r>
              <a:rPr sz="1900" spc="-229" dirty="0">
                <a:solidFill>
                  <a:srgbClr val="00778A"/>
                </a:solidFill>
              </a:rPr>
              <a:t> </a:t>
            </a:r>
            <a:r>
              <a:rPr sz="1900" dirty="0">
                <a:solidFill>
                  <a:srgbClr val="00778A"/>
                </a:solidFill>
              </a:rPr>
              <a:t>O</a:t>
            </a:r>
            <a:r>
              <a:rPr sz="1900" spc="-229" dirty="0">
                <a:solidFill>
                  <a:srgbClr val="00778A"/>
                </a:solidFill>
              </a:rPr>
              <a:t> </a:t>
            </a:r>
            <a:r>
              <a:rPr sz="1900" spc="-20" dirty="0">
                <a:solidFill>
                  <a:srgbClr val="00778A"/>
                </a:solidFill>
              </a:rPr>
              <a:t>L</a:t>
            </a:r>
            <a:r>
              <a:rPr sz="1900" spc="-225" dirty="0">
                <a:solidFill>
                  <a:srgbClr val="00778A"/>
                </a:solidFill>
              </a:rPr>
              <a:t> </a:t>
            </a:r>
            <a:r>
              <a:rPr sz="1900" spc="-20" dirty="0">
                <a:solidFill>
                  <a:srgbClr val="00778A"/>
                </a:solidFill>
              </a:rPr>
              <a:t>U</a:t>
            </a:r>
            <a:r>
              <a:rPr sz="1900" spc="-229" dirty="0">
                <a:solidFill>
                  <a:srgbClr val="00778A"/>
                </a:solidFill>
              </a:rPr>
              <a:t> </a:t>
            </a:r>
            <a:r>
              <a:rPr sz="1900" spc="-20" dirty="0">
                <a:solidFill>
                  <a:srgbClr val="00778A"/>
                </a:solidFill>
              </a:rPr>
              <a:t>T</a:t>
            </a:r>
            <a:r>
              <a:rPr sz="1900" spc="-225" dirty="0">
                <a:solidFill>
                  <a:srgbClr val="00778A"/>
                </a:solidFill>
              </a:rPr>
              <a:t> </a:t>
            </a:r>
            <a:r>
              <a:rPr sz="1900" dirty="0">
                <a:solidFill>
                  <a:srgbClr val="00778A"/>
                </a:solidFill>
              </a:rPr>
              <a:t>I</a:t>
            </a:r>
            <a:r>
              <a:rPr sz="1900" spc="-229" dirty="0">
                <a:solidFill>
                  <a:srgbClr val="00778A"/>
                </a:solidFill>
              </a:rPr>
              <a:t> </a:t>
            </a:r>
            <a:r>
              <a:rPr sz="1900" dirty="0">
                <a:solidFill>
                  <a:srgbClr val="00778A"/>
                </a:solidFill>
              </a:rPr>
              <a:t>O</a:t>
            </a:r>
            <a:r>
              <a:rPr sz="1900" spc="-225" dirty="0">
                <a:solidFill>
                  <a:srgbClr val="00778A"/>
                </a:solidFill>
              </a:rPr>
              <a:t> </a:t>
            </a:r>
            <a:r>
              <a:rPr sz="1900" spc="-20" dirty="0">
                <a:solidFill>
                  <a:srgbClr val="00778A"/>
                </a:solidFill>
              </a:rPr>
              <a:t>N</a:t>
            </a:r>
            <a:r>
              <a:rPr sz="1900" spc="-229" dirty="0">
                <a:solidFill>
                  <a:srgbClr val="00778A"/>
                </a:solidFill>
              </a:rPr>
              <a:t> </a:t>
            </a:r>
            <a:r>
              <a:rPr sz="1900" dirty="0">
                <a:solidFill>
                  <a:srgbClr val="00778A"/>
                </a:solidFill>
              </a:rPr>
              <a:t>S</a:t>
            </a:r>
            <a:r>
              <a:rPr sz="1900" spc="40" dirty="0">
                <a:solidFill>
                  <a:srgbClr val="00778A"/>
                </a:solidFill>
              </a:rPr>
              <a:t>  </a:t>
            </a:r>
            <a:r>
              <a:rPr sz="1900" spc="-20" dirty="0">
                <a:solidFill>
                  <a:srgbClr val="00778A"/>
                </a:solidFill>
              </a:rPr>
              <a:t>T</a:t>
            </a:r>
            <a:r>
              <a:rPr sz="1900" spc="-225" dirty="0">
                <a:solidFill>
                  <a:srgbClr val="00778A"/>
                </a:solidFill>
              </a:rPr>
              <a:t> </a:t>
            </a:r>
            <a:r>
              <a:rPr sz="1900" dirty="0">
                <a:solidFill>
                  <a:srgbClr val="00778A"/>
                </a:solidFill>
              </a:rPr>
              <a:t>O</a:t>
            </a:r>
            <a:r>
              <a:rPr sz="1900" spc="35" dirty="0">
                <a:solidFill>
                  <a:srgbClr val="00778A"/>
                </a:solidFill>
              </a:rPr>
              <a:t>  </a:t>
            </a:r>
            <a:r>
              <a:rPr sz="1900" spc="-20" dirty="0">
                <a:solidFill>
                  <a:srgbClr val="00778A"/>
                </a:solidFill>
              </a:rPr>
              <a:t>A</a:t>
            </a:r>
            <a:r>
              <a:rPr sz="1900" spc="-220" dirty="0">
                <a:solidFill>
                  <a:srgbClr val="00778A"/>
                </a:solidFill>
              </a:rPr>
              <a:t> </a:t>
            </a:r>
            <a:r>
              <a:rPr sz="1900" spc="-20" dirty="0">
                <a:solidFill>
                  <a:srgbClr val="00778A"/>
                </a:solidFill>
              </a:rPr>
              <a:t>D</a:t>
            </a:r>
            <a:r>
              <a:rPr sz="1900" spc="-229" dirty="0">
                <a:solidFill>
                  <a:srgbClr val="00778A"/>
                </a:solidFill>
              </a:rPr>
              <a:t> </a:t>
            </a:r>
            <a:r>
              <a:rPr sz="1900" spc="-20" dirty="0">
                <a:solidFill>
                  <a:srgbClr val="00778A"/>
                </a:solidFill>
              </a:rPr>
              <a:t>D</a:t>
            </a:r>
            <a:r>
              <a:rPr sz="1900" spc="-225" dirty="0">
                <a:solidFill>
                  <a:srgbClr val="00778A"/>
                </a:solidFill>
              </a:rPr>
              <a:t> </a:t>
            </a:r>
            <a:r>
              <a:rPr sz="1900" spc="-20" dirty="0">
                <a:solidFill>
                  <a:srgbClr val="00778A"/>
                </a:solidFill>
              </a:rPr>
              <a:t>R</a:t>
            </a:r>
            <a:r>
              <a:rPr sz="1900" spc="-229" dirty="0">
                <a:solidFill>
                  <a:srgbClr val="00778A"/>
                </a:solidFill>
              </a:rPr>
              <a:t> </a:t>
            </a:r>
            <a:r>
              <a:rPr sz="1900" dirty="0">
                <a:solidFill>
                  <a:srgbClr val="00778A"/>
                </a:solidFill>
              </a:rPr>
              <a:t>E</a:t>
            </a:r>
            <a:r>
              <a:rPr sz="1900" spc="-225" dirty="0">
                <a:solidFill>
                  <a:srgbClr val="00778A"/>
                </a:solidFill>
              </a:rPr>
              <a:t> </a:t>
            </a:r>
            <a:r>
              <a:rPr sz="1900" dirty="0">
                <a:solidFill>
                  <a:srgbClr val="00778A"/>
                </a:solidFill>
              </a:rPr>
              <a:t>S</a:t>
            </a:r>
            <a:r>
              <a:rPr sz="1900" spc="-229" dirty="0">
                <a:solidFill>
                  <a:srgbClr val="00778A"/>
                </a:solidFill>
              </a:rPr>
              <a:t> </a:t>
            </a:r>
            <a:r>
              <a:rPr sz="1900" dirty="0">
                <a:solidFill>
                  <a:srgbClr val="00778A"/>
                </a:solidFill>
              </a:rPr>
              <a:t>S</a:t>
            </a:r>
            <a:r>
              <a:rPr sz="1900" spc="40" dirty="0">
                <a:solidFill>
                  <a:srgbClr val="00778A"/>
                </a:solidFill>
              </a:rPr>
              <a:t>  </a:t>
            </a:r>
            <a:r>
              <a:rPr sz="1900" spc="-20" dirty="0">
                <a:solidFill>
                  <a:srgbClr val="00778A"/>
                </a:solidFill>
              </a:rPr>
              <a:t>B</a:t>
            </a:r>
            <a:r>
              <a:rPr sz="1900" spc="-229" dirty="0">
                <a:solidFill>
                  <a:srgbClr val="00778A"/>
                </a:solidFill>
              </a:rPr>
              <a:t> </a:t>
            </a:r>
            <a:r>
              <a:rPr sz="1900" spc="-20" dirty="0">
                <a:solidFill>
                  <a:srgbClr val="00778A"/>
                </a:solidFill>
              </a:rPr>
              <a:t>U</a:t>
            </a:r>
            <a:r>
              <a:rPr sz="1900" spc="-225" dirty="0">
                <a:solidFill>
                  <a:srgbClr val="00778A"/>
                </a:solidFill>
              </a:rPr>
              <a:t> </a:t>
            </a:r>
            <a:r>
              <a:rPr sz="1900" dirty="0">
                <a:solidFill>
                  <a:srgbClr val="00778A"/>
                </a:solidFill>
              </a:rPr>
              <a:t>S</a:t>
            </a:r>
            <a:r>
              <a:rPr sz="1900" spc="-229" dirty="0">
                <a:solidFill>
                  <a:srgbClr val="00778A"/>
                </a:solidFill>
              </a:rPr>
              <a:t> </a:t>
            </a:r>
            <a:r>
              <a:rPr sz="1900" dirty="0">
                <a:solidFill>
                  <a:srgbClr val="00778A"/>
                </a:solidFill>
              </a:rPr>
              <a:t>I</a:t>
            </a:r>
            <a:r>
              <a:rPr sz="1900" spc="-225" dirty="0">
                <a:solidFill>
                  <a:srgbClr val="00778A"/>
                </a:solidFill>
              </a:rPr>
              <a:t> </a:t>
            </a:r>
            <a:r>
              <a:rPr sz="1900" spc="-20" dirty="0">
                <a:solidFill>
                  <a:srgbClr val="00778A"/>
                </a:solidFill>
              </a:rPr>
              <a:t>N</a:t>
            </a:r>
            <a:r>
              <a:rPr sz="1900" spc="-229" dirty="0">
                <a:solidFill>
                  <a:srgbClr val="00778A"/>
                </a:solidFill>
              </a:rPr>
              <a:t> </a:t>
            </a:r>
            <a:r>
              <a:rPr sz="1900" dirty="0">
                <a:solidFill>
                  <a:srgbClr val="00778A"/>
                </a:solidFill>
              </a:rPr>
              <a:t>E</a:t>
            </a:r>
            <a:r>
              <a:rPr sz="1900" spc="-225" dirty="0">
                <a:solidFill>
                  <a:srgbClr val="00778A"/>
                </a:solidFill>
              </a:rPr>
              <a:t> </a:t>
            </a:r>
            <a:r>
              <a:rPr sz="1900" dirty="0">
                <a:solidFill>
                  <a:srgbClr val="00778A"/>
                </a:solidFill>
              </a:rPr>
              <a:t>S</a:t>
            </a:r>
            <a:r>
              <a:rPr sz="1900" spc="-229" dirty="0">
                <a:solidFill>
                  <a:srgbClr val="00778A"/>
                </a:solidFill>
              </a:rPr>
              <a:t> </a:t>
            </a:r>
            <a:r>
              <a:rPr sz="1900" dirty="0">
                <a:solidFill>
                  <a:srgbClr val="00778A"/>
                </a:solidFill>
              </a:rPr>
              <a:t>S</a:t>
            </a:r>
            <a:r>
              <a:rPr sz="1900" spc="40" dirty="0">
                <a:solidFill>
                  <a:srgbClr val="00778A"/>
                </a:solidFill>
              </a:rPr>
              <a:t>  </a:t>
            </a:r>
            <a:r>
              <a:rPr sz="1900" dirty="0">
                <a:solidFill>
                  <a:srgbClr val="00778A"/>
                </a:solidFill>
              </a:rPr>
              <a:t>P</a:t>
            </a:r>
            <a:r>
              <a:rPr sz="1900" spc="-225" dirty="0">
                <a:solidFill>
                  <a:srgbClr val="00778A"/>
                </a:solidFill>
              </a:rPr>
              <a:t> </a:t>
            </a:r>
            <a:r>
              <a:rPr sz="1900" spc="-20" dirty="0">
                <a:solidFill>
                  <a:srgbClr val="00778A"/>
                </a:solidFill>
              </a:rPr>
              <a:t>R</a:t>
            </a:r>
            <a:r>
              <a:rPr sz="1900" spc="-229" dirty="0">
                <a:solidFill>
                  <a:srgbClr val="00778A"/>
                </a:solidFill>
              </a:rPr>
              <a:t> </a:t>
            </a:r>
            <a:r>
              <a:rPr sz="1900" dirty="0">
                <a:solidFill>
                  <a:srgbClr val="00778A"/>
                </a:solidFill>
              </a:rPr>
              <a:t>O</a:t>
            </a:r>
            <a:r>
              <a:rPr sz="1900" spc="-225" dirty="0">
                <a:solidFill>
                  <a:srgbClr val="00778A"/>
                </a:solidFill>
              </a:rPr>
              <a:t> </a:t>
            </a:r>
            <a:r>
              <a:rPr sz="1900" spc="-20" dirty="0">
                <a:solidFill>
                  <a:srgbClr val="00778A"/>
                </a:solidFill>
              </a:rPr>
              <a:t>B</a:t>
            </a:r>
            <a:r>
              <a:rPr sz="1900" spc="-229" dirty="0">
                <a:solidFill>
                  <a:srgbClr val="00778A"/>
                </a:solidFill>
              </a:rPr>
              <a:t> </a:t>
            </a:r>
            <a:r>
              <a:rPr sz="1900" spc="-20" dirty="0">
                <a:solidFill>
                  <a:srgbClr val="00778A"/>
                </a:solidFill>
              </a:rPr>
              <a:t>L</a:t>
            </a:r>
            <a:r>
              <a:rPr sz="1900" spc="-229" dirty="0">
                <a:solidFill>
                  <a:srgbClr val="00778A"/>
                </a:solidFill>
              </a:rPr>
              <a:t> </a:t>
            </a:r>
            <a:r>
              <a:rPr sz="1900" dirty="0">
                <a:solidFill>
                  <a:srgbClr val="00778A"/>
                </a:solidFill>
              </a:rPr>
              <a:t>E</a:t>
            </a:r>
            <a:r>
              <a:rPr sz="1900" spc="-225" dirty="0">
                <a:solidFill>
                  <a:srgbClr val="00778A"/>
                </a:solidFill>
              </a:rPr>
              <a:t> </a:t>
            </a:r>
            <a:r>
              <a:rPr sz="1900" spc="-50" dirty="0">
                <a:solidFill>
                  <a:srgbClr val="00778A"/>
                </a:solidFill>
              </a:rPr>
              <a:t>M</a:t>
            </a:r>
            <a:endParaRPr sz="19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8712" y="0"/>
            <a:ext cx="3324859" cy="2423363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20079" y="1542199"/>
          <a:ext cx="11149329" cy="4702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0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7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&lt;1</a:t>
                      </a:r>
                      <a:r>
                        <a:rPr sz="1575" baseline="29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</a:t>
                      </a:r>
                      <a:r>
                        <a:rPr sz="1575" spc="172" baseline="29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Option</a:t>
                      </a:r>
                      <a:r>
                        <a:rPr sz="1600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&gt;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solidFill>
                      <a:srgbClr val="4D4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&lt;2</a:t>
                      </a:r>
                      <a:r>
                        <a:rPr sz="1575" baseline="29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nd</a:t>
                      </a:r>
                      <a:r>
                        <a:rPr sz="1575" spc="172" baseline="29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Option&gt;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solidFill>
                      <a:srgbClr val="4D4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&lt;3</a:t>
                      </a:r>
                      <a:r>
                        <a:rPr sz="1575" baseline="29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rd</a:t>
                      </a:r>
                      <a:r>
                        <a:rPr sz="1575" spc="179" baseline="29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Option&gt;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solidFill>
                      <a:srgbClr val="4D4D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9940">
                <a:tc>
                  <a:txBody>
                    <a:bodyPr/>
                    <a:lstStyle/>
                    <a:p>
                      <a:pPr marL="259715" indent="-168910">
                        <a:lnSpc>
                          <a:spcPct val="100000"/>
                        </a:lnSpc>
                        <a:spcBef>
                          <a:spcPts val="285"/>
                        </a:spcBef>
                        <a:buChar char="•"/>
                        <a:tabLst>
                          <a:tab pos="259715" algn="l"/>
                        </a:tabLst>
                      </a:pPr>
                      <a:r>
                        <a:rPr sz="1100" spc="-1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&lt;Describe</a:t>
                      </a:r>
                      <a:r>
                        <a:rPr sz="1100" spc="-25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high</a:t>
                      </a:r>
                      <a:r>
                        <a:rPr sz="1100" spc="-2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level</a:t>
                      </a:r>
                      <a:r>
                        <a:rPr sz="1100" spc="-25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features&gt;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B w="12700">
                      <a:solidFill>
                        <a:srgbClr val="4D4D4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9715" indent="-168910">
                        <a:lnSpc>
                          <a:spcPct val="100000"/>
                        </a:lnSpc>
                        <a:spcBef>
                          <a:spcPts val="285"/>
                        </a:spcBef>
                        <a:buChar char="•"/>
                        <a:tabLst>
                          <a:tab pos="259715" algn="l"/>
                        </a:tabLst>
                      </a:pPr>
                      <a:r>
                        <a:rPr sz="1100" spc="-1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&lt;Describe</a:t>
                      </a:r>
                      <a:r>
                        <a:rPr sz="1100" spc="-25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high</a:t>
                      </a:r>
                      <a:r>
                        <a:rPr sz="1100" spc="-2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level</a:t>
                      </a:r>
                      <a:r>
                        <a:rPr sz="1100" spc="-25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features&gt;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B w="12700">
                      <a:solidFill>
                        <a:srgbClr val="4D4D4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50" indent="-168910">
                        <a:lnSpc>
                          <a:spcPct val="100000"/>
                        </a:lnSpc>
                        <a:spcBef>
                          <a:spcPts val="285"/>
                        </a:spcBef>
                        <a:buChar char="•"/>
                        <a:tabLst>
                          <a:tab pos="260350" algn="l"/>
                        </a:tabLst>
                      </a:pPr>
                      <a:r>
                        <a:rPr sz="1100" spc="-1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&lt;Describe</a:t>
                      </a:r>
                      <a:r>
                        <a:rPr sz="1100" spc="-25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high</a:t>
                      </a:r>
                      <a:r>
                        <a:rPr sz="1100" spc="-2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level</a:t>
                      </a:r>
                      <a:r>
                        <a:rPr sz="1100" spc="-25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features&gt;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B w="12700">
                      <a:solidFill>
                        <a:srgbClr val="4D4D4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8360">
                <a:tc>
                  <a:txBody>
                    <a:bodyPr/>
                    <a:lstStyle/>
                    <a:p>
                      <a:pPr marL="259715" indent="-168910">
                        <a:lnSpc>
                          <a:spcPct val="100000"/>
                        </a:lnSpc>
                        <a:spcBef>
                          <a:spcPts val="335"/>
                        </a:spcBef>
                        <a:buChar char="•"/>
                        <a:tabLst>
                          <a:tab pos="259715" algn="l"/>
                        </a:tabLst>
                      </a:pPr>
                      <a:r>
                        <a:rPr sz="1100" spc="-1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&lt;Describe</a:t>
                      </a:r>
                      <a:r>
                        <a:rPr sz="1100" spc="-2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business</a:t>
                      </a:r>
                      <a:r>
                        <a:rPr sz="1100" spc="-15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impacts&gt;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  <a:buClr>
                          <a:srgbClr val="1B8196"/>
                        </a:buClr>
                        <a:buFont typeface="Arial"/>
                        <a:buChar char="•"/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59715" marR="412115" indent="-168910">
                        <a:lnSpc>
                          <a:spcPct val="100000"/>
                        </a:lnSpc>
                        <a:buChar char="•"/>
                        <a:tabLst>
                          <a:tab pos="262255" algn="l"/>
                        </a:tabLst>
                      </a:pPr>
                      <a:r>
                        <a:rPr sz="1100" spc="-1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&lt;Describe</a:t>
                      </a:r>
                      <a:r>
                        <a:rPr sz="1100" spc="-15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technology</a:t>
                      </a:r>
                      <a:r>
                        <a:rPr sz="1100" spc="-15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100" spc="-1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operational</a:t>
                      </a:r>
                      <a:r>
                        <a:rPr sz="1100" spc="-15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impacts</a:t>
                      </a:r>
                      <a:r>
                        <a:rPr sz="1100" spc="-1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like 	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cost,</a:t>
                      </a:r>
                      <a:r>
                        <a:rPr sz="1100" spc="-2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staff</a:t>
                      </a:r>
                      <a:r>
                        <a:rPr sz="1100" spc="-2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training,</a:t>
                      </a:r>
                      <a:r>
                        <a:rPr sz="1100" spc="-2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technical</a:t>
                      </a:r>
                      <a:r>
                        <a:rPr sz="1100" spc="-15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support&gt;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9715" indent="-168910">
                        <a:lnSpc>
                          <a:spcPct val="100000"/>
                        </a:lnSpc>
                        <a:spcBef>
                          <a:spcPts val="335"/>
                        </a:spcBef>
                        <a:buChar char="•"/>
                        <a:tabLst>
                          <a:tab pos="259715" algn="l"/>
                        </a:tabLst>
                      </a:pPr>
                      <a:r>
                        <a:rPr sz="1100" spc="-1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&lt;Describe</a:t>
                      </a:r>
                      <a:r>
                        <a:rPr sz="1100" spc="-2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business</a:t>
                      </a:r>
                      <a:r>
                        <a:rPr sz="1100" spc="-15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impacts&gt;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  <a:buClr>
                          <a:srgbClr val="1B8196"/>
                        </a:buClr>
                        <a:buFont typeface="Arial"/>
                        <a:buChar char="•"/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59715" marR="116205" indent="-168910">
                        <a:lnSpc>
                          <a:spcPct val="100000"/>
                        </a:lnSpc>
                        <a:buChar char="•"/>
                        <a:tabLst>
                          <a:tab pos="262255" algn="l"/>
                        </a:tabLst>
                      </a:pPr>
                      <a:r>
                        <a:rPr sz="1100" spc="-1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&lt;Describe</a:t>
                      </a:r>
                      <a:r>
                        <a:rPr sz="1100" spc="-2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technology</a:t>
                      </a:r>
                      <a:r>
                        <a:rPr sz="1100" spc="-15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100" spc="-15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operational</a:t>
                      </a:r>
                      <a:r>
                        <a:rPr sz="1100" spc="-15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impacts</a:t>
                      </a:r>
                      <a:r>
                        <a:rPr sz="1100" spc="-2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like</a:t>
                      </a:r>
                      <a:r>
                        <a:rPr sz="1100" spc="-15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cost, 	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staff</a:t>
                      </a:r>
                      <a:r>
                        <a:rPr sz="1100" spc="-2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training,</a:t>
                      </a:r>
                      <a:r>
                        <a:rPr sz="1100" spc="-2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technical</a:t>
                      </a:r>
                      <a:r>
                        <a:rPr sz="1100" spc="-15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support&gt;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50" indent="-168910">
                        <a:lnSpc>
                          <a:spcPct val="100000"/>
                        </a:lnSpc>
                        <a:spcBef>
                          <a:spcPts val="335"/>
                        </a:spcBef>
                        <a:buChar char="•"/>
                        <a:tabLst>
                          <a:tab pos="260350" algn="l"/>
                        </a:tabLst>
                      </a:pPr>
                      <a:r>
                        <a:rPr sz="1100" spc="-1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&lt;Describe</a:t>
                      </a:r>
                      <a:r>
                        <a:rPr sz="1100" spc="-2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business</a:t>
                      </a:r>
                      <a:r>
                        <a:rPr sz="1100" spc="-15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impacts&gt;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  <a:buClr>
                          <a:srgbClr val="1B8196"/>
                        </a:buClr>
                        <a:buFont typeface="Arial"/>
                        <a:buChar char="•"/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60350" marR="123825" indent="-168910">
                        <a:lnSpc>
                          <a:spcPct val="100000"/>
                        </a:lnSpc>
                        <a:buChar char="•"/>
                        <a:tabLst>
                          <a:tab pos="262890" algn="l"/>
                        </a:tabLst>
                      </a:pPr>
                      <a:r>
                        <a:rPr sz="1100" spc="-1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&lt;Describe</a:t>
                      </a:r>
                      <a:r>
                        <a:rPr sz="1100" spc="-15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technology</a:t>
                      </a:r>
                      <a:r>
                        <a:rPr sz="1100" spc="-15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100" spc="-1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operational</a:t>
                      </a:r>
                      <a:r>
                        <a:rPr sz="1100" spc="-15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impacts</a:t>
                      </a:r>
                      <a:r>
                        <a:rPr sz="1100" spc="-1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like 	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cost,</a:t>
                      </a:r>
                      <a:r>
                        <a:rPr sz="1100" spc="-2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staff</a:t>
                      </a:r>
                      <a:r>
                        <a:rPr sz="1100" spc="-2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training,</a:t>
                      </a:r>
                      <a:r>
                        <a:rPr sz="1100" spc="-2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technical</a:t>
                      </a:r>
                      <a:r>
                        <a:rPr sz="1100" spc="-15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support&gt;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815">
                <a:tc>
                  <a:txBody>
                    <a:bodyPr/>
                    <a:lstStyle/>
                    <a:p>
                      <a:pPr marL="259715" indent="-168910">
                        <a:lnSpc>
                          <a:spcPct val="100000"/>
                        </a:lnSpc>
                        <a:spcBef>
                          <a:spcPts val="335"/>
                        </a:spcBef>
                        <a:buChar char="•"/>
                        <a:tabLst>
                          <a:tab pos="259715" algn="l"/>
                        </a:tabLst>
                      </a:pPr>
                      <a:r>
                        <a:rPr sz="1100" spc="-1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&lt;Describe</a:t>
                      </a:r>
                      <a:r>
                        <a:rPr sz="1100" spc="-15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any</a:t>
                      </a:r>
                      <a:r>
                        <a:rPr sz="1100" spc="-1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other</a:t>
                      </a:r>
                      <a:r>
                        <a:rPr sz="1100" spc="-1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relevant</a:t>
                      </a:r>
                      <a:r>
                        <a:rPr sz="1100" spc="-1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details&gt;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9715" indent="-168910">
                        <a:lnSpc>
                          <a:spcPct val="100000"/>
                        </a:lnSpc>
                        <a:spcBef>
                          <a:spcPts val="335"/>
                        </a:spcBef>
                        <a:buChar char="•"/>
                        <a:tabLst>
                          <a:tab pos="259715" algn="l"/>
                        </a:tabLst>
                      </a:pPr>
                      <a:r>
                        <a:rPr sz="1100" spc="-1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&lt;Describe</a:t>
                      </a:r>
                      <a:r>
                        <a:rPr sz="1100" spc="-15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any</a:t>
                      </a:r>
                      <a:r>
                        <a:rPr sz="1100" spc="-1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other</a:t>
                      </a:r>
                      <a:r>
                        <a:rPr sz="1100" spc="-1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relevant</a:t>
                      </a:r>
                      <a:r>
                        <a:rPr sz="1100" spc="-1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details&gt;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50" indent="-168910">
                        <a:lnSpc>
                          <a:spcPct val="100000"/>
                        </a:lnSpc>
                        <a:spcBef>
                          <a:spcPts val="335"/>
                        </a:spcBef>
                        <a:buChar char="•"/>
                        <a:tabLst>
                          <a:tab pos="260350" algn="l"/>
                        </a:tabLst>
                      </a:pPr>
                      <a:r>
                        <a:rPr sz="1100" spc="-1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&lt;Describe</a:t>
                      </a:r>
                      <a:r>
                        <a:rPr sz="1100" spc="-15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any</a:t>
                      </a:r>
                      <a:r>
                        <a:rPr sz="1100" spc="-1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other</a:t>
                      </a:r>
                      <a:r>
                        <a:rPr sz="1100" spc="-1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relevant</a:t>
                      </a:r>
                      <a:r>
                        <a:rPr sz="1100" spc="-1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details&gt;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3435">
                <a:tc gridSpan="3"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100" b="1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Market</a:t>
                      </a:r>
                      <a:r>
                        <a:rPr sz="1100" b="1" spc="-2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Scan</a:t>
                      </a:r>
                      <a:r>
                        <a:rPr sz="1100" b="1" spc="-2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sz="1100" b="1" spc="-2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Research</a:t>
                      </a:r>
                      <a:r>
                        <a:rPr sz="1100" spc="-1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1100" spc="-2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&lt;Describe</a:t>
                      </a:r>
                      <a:r>
                        <a:rPr sz="1100" spc="-2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supporting</a:t>
                      </a:r>
                      <a:r>
                        <a:rPr sz="1100" spc="-2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material</a:t>
                      </a:r>
                      <a:r>
                        <a:rPr sz="1100" spc="-2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like</a:t>
                      </a:r>
                      <a:r>
                        <a:rPr sz="1100" spc="-2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relevant</a:t>
                      </a:r>
                      <a:r>
                        <a:rPr sz="1100" spc="-2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industry</a:t>
                      </a:r>
                      <a:r>
                        <a:rPr sz="1100" spc="-2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100" spc="-2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market</a:t>
                      </a:r>
                      <a:r>
                        <a:rPr sz="1100" spc="-2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trends</a:t>
                      </a:r>
                      <a:r>
                        <a:rPr sz="1100" spc="-2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100" spc="-2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any</a:t>
                      </a:r>
                      <a:r>
                        <a:rPr sz="1100" spc="-2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firsthand</a:t>
                      </a:r>
                      <a:r>
                        <a:rPr sz="1100" spc="-2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research</a:t>
                      </a:r>
                      <a:r>
                        <a:rPr sz="1100" spc="-2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on</a:t>
                      </a:r>
                      <a:r>
                        <a:rPr sz="1100" spc="-2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tools/</a:t>
                      </a:r>
                      <a:r>
                        <a:rPr sz="1100" spc="-2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technologies</a:t>
                      </a:r>
                      <a:r>
                        <a:rPr sz="1100" spc="-2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50" dirty="0">
                          <a:solidFill>
                            <a:srgbClr val="1B8196"/>
                          </a:solidFill>
                          <a:latin typeface="Arial"/>
                          <a:cs typeface="Arial"/>
                        </a:rPr>
                        <a:t>&gt;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47577" y="6316636"/>
            <a:ext cx="633620" cy="30478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90"/>
              </a:spcBef>
            </a:pPr>
            <a:r>
              <a:rPr dirty="0"/>
              <a:t>High</a:t>
            </a:r>
            <a:r>
              <a:rPr spc="-95" dirty="0"/>
              <a:t> </a:t>
            </a:r>
            <a:r>
              <a:rPr dirty="0"/>
              <a:t>Level</a:t>
            </a:r>
            <a:r>
              <a:rPr spc="-95" dirty="0"/>
              <a:t> </a:t>
            </a:r>
            <a:r>
              <a:rPr dirty="0"/>
              <a:t>Architecture</a:t>
            </a:r>
            <a:r>
              <a:rPr spc="-95" dirty="0"/>
              <a:t> </a:t>
            </a:r>
            <a:r>
              <a:rPr spc="-10" dirty="0"/>
              <a:t>Diagram</a:t>
            </a: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900" spc="-20" dirty="0">
                <a:solidFill>
                  <a:srgbClr val="00778A"/>
                </a:solidFill>
              </a:rPr>
              <a:t>L</a:t>
            </a:r>
            <a:r>
              <a:rPr sz="1900" spc="-229" dirty="0">
                <a:solidFill>
                  <a:srgbClr val="00778A"/>
                </a:solidFill>
              </a:rPr>
              <a:t> </a:t>
            </a:r>
            <a:r>
              <a:rPr sz="1900" dirty="0">
                <a:solidFill>
                  <a:srgbClr val="00778A"/>
                </a:solidFill>
              </a:rPr>
              <a:t>O</a:t>
            </a:r>
            <a:r>
              <a:rPr sz="1900" spc="-225" dirty="0">
                <a:solidFill>
                  <a:srgbClr val="00778A"/>
                </a:solidFill>
              </a:rPr>
              <a:t> </a:t>
            </a:r>
            <a:r>
              <a:rPr sz="1900" dirty="0">
                <a:solidFill>
                  <a:srgbClr val="00778A"/>
                </a:solidFill>
              </a:rPr>
              <a:t>G</a:t>
            </a:r>
            <a:r>
              <a:rPr sz="1900" spc="-225" dirty="0">
                <a:solidFill>
                  <a:srgbClr val="00778A"/>
                </a:solidFill>
              </a:rPr>
              <a:t> </a:t>
            </a:r>
            <a:r>
              <a:rPr sz="1900" dirty="0">
                <a:solidFill>
                  <a:srgbClr val="00778A"/>
                </a:solidFill>
              </a:rPr>
              <a:t>I</a:t>
            </a:r>
            <a:r>
              <a:rPr sz="1900" spc="-229" dirty="0">
                <a:solidFill>
                  <a:srgbClr val="00778A"/>
                </a:solidFill>
              </a:rPr>
              <a:t> </a:t>
            </a:r>
            <a:r>
              <a:rPr sz="1900" spc="-20" dirty="0">
                <a:solidFill>
                  <a:srgbClr val="00778A"/>
                </a:solidFill>
              </a:rPr>
              <a:t>C</a:t>
            </a:r>
            <a:r>
              <a:rPr sz="1900" spc="-225" dirty="0">
                <a:solidFill>
                  <a:srgbClr val="00778A"/>
                </a:solidFill>
              </a:rPr>
              <a:t> </a:t>
            </a:r>
            <a:r>
              <a:rPr sz="1900" spc="-20" dirty="0">
                <a:solidFill>
                  <a:srgbClr val="00778A"/>
                </a:solidFill>
              </a:rPr>
              <a:t>A</a:t>
            </a:r>
            <a:r>
              <a:rPr sz="1900" spc="-225" dirty="0">
                <a:solidFill>
                  <a:srgbClr val="00778A"/>
                </a:solidFill>
              </a:rPr>
              <a:t> </a:t>
            </a:r>
            <a:r>
              <a:rPr sz="1900" dirty="0">
                <a:solidFill>
                  <a:srgbClr val="00778A"/>
                </a:solidFill>
              </a:rPr>
              <a:t>L</a:t>
            </a:r>
            <a:r>
              <a:rPr sz="1900" spc="40" dirty="0">
                <a:solidFill>
                  <a:srgbClr val="00778A"/>
                </a:solidFill>
              </a:rPr>
              <a:t>  </a:t>
            </a:r>
            <a:r>
              <a:rPr sz="1900" spc="-20" dirty="0">
                <a:solidFill>
                  <a:srgbClr val="00778A"/>
                </a:solidFill>
              </a:rPr>
              <a:t>A</a:t>
            </a:r>
            <a:r>
              <a:rPr sz="1900" spc="-225" dirty="0">
                <a:solidFill>
                  <a:srgbClr val="00778A"/>
                </a:solidFill>
              </a:rPr>
              <a:t> </a:t>
            </a:r>
            <a:r>
              <a:rPr sz="1900" spc="-20" dirty="0">
                <a:solidFill>
                  <a:srgbClr val="00778A"/>
                </a:solidFill>
              </a:rPr>
              <a:t>R</a:t>
            </a:r>
            <a:r>
              <a:rPr sz="1900" spc="-229" dirty="0">
                <a:solidFill>
                  <a:srgbClr val="00778A"/>
                </a:solidFill>
              </a:rPr>
              <a:t> </a:t>
            </a:r>
            <a:r>
              <a:rPr sz="1900" spc="-20" dirty="0">
                <a:solidFill>
                  <a:srgbClr val="00778A"/>
                </a:solidFill>
              </a:rPr>
              <a:t>C</a:t>
            </a:r>
            <a:r>
              <a:rPr sz="1900" spc="-225" dirty="0">
                <a:solidFill>
                  <a:srgbClr val="00778A"/>
                </a:solidFill>
              </a:rPr>
              <a:t> </a:t>
            </a:r>
            <a:r>
              <a:rPr sz="1900" spc="-20" dirty="0">
                <a:solidFill>
                  <a:srgbClr val="00778A"/>
                </a:solidFill>
              </a:rPr>
              <a:t>H</a:t>
            </a:r>
            <a:r>
              <a:rPr sz="1900" spc="-225" dirty="0">
                <a:solidFill>
                  <a:srgbClr val="00778A"/>
                </a:solidFill>
              </a:rPr>
              <a:t> </a:t>
            </a:r>
            <a:r>
              <a:rPr sz="1900" dirty="0">
                <a:solidFill>
                  <a:srgbClr val="00778A"/>
                </a:solidFill>
              </a:rPr>
              <a:t>I</a:t>
            </a:r>
            <a:r>
              <a:rPr sz="1900" spc="-229" dirty="0">
                <a:solidFill>
                  <a:srgbClr val="00778A"/>
                </a:solidFill>
              </a:rPr>
              <a:t> </a:t>
            </a:r>
            <a:r>
              <a:rPr sz="1900" spc="-20" dirty="0">
                <a:solidFill>
                  <a:srgbClr val="00778A"/>
                </a:solidFill>
              </a:rPr>
              <a:t>T</a:t>
            </a:r>
            <a:r>
              <a:rPr sz="1900" spc="-225" dirty="0">
                <a:solidFill>
                  <a:srgbClr val="00778A"/>
                </a:solidFill>
              </a:rPr>
              <a:t> </a:t>
            </a:r>
            <a:r>
              <a:rPr sz="1900" dirty="0">
                <a:solidFill>
                  <a:srgbClr val="00778A"/>
                </a:solidFill>
              </a:rPr>
              <a:t>E</a:t>
            </a:r>
            <a:r>
              <a:rPr sz="1900" spc="-225" dirty="0">
                <a:solidFill>
                  <a:srgbClr val="00778A"/>
                </a:solidFill>
              </a:rPr>
              <a:t> </a:t>
            </a:r>
            <a:r>
              <a:rPr sz="1900" spc="-20" dirty="0">
                <a:solidFill>
                  <a:srgbClr val="00778A"/>
                </a:solidFill>
              </a:rPr>
              <a:t>C</a:t>
            </a:r>
            <a:r>
              <a:rPr sz="1900" spc="-229" dirty="0">
                <a:solidFill>
                  <a:srgbClr val="00778A"/>
                </a:solidFill>
              </a:rPr>
              <a:t> </a:t>
            </a:r>
            <a:r>
              <a:rPr sz="1900" spc="-20" dirty="0">
                <a:solidFill>
                  <a:srgbClr val="00778A"/>
                </a:solidFill>
              </a:rPr>
              <a:t>T</a:t>
            </a:r>
            <a:r>
              <a:rPr sz="1900" spc="-225" dirty="0">
                <a:solidFill>
                  <a:srgbClr val="00778A"/>
                </a:solidFill>
              </a:rPr>
              <a:t> </a:t>
            </a:r>
            <a:r>
              <a:rPr sz="1900" spc="-20" dirty="0">
                <a:solidFill>
                  <a:srgbClr val="00778A"/>
                </a:solidFill>
              </a:rPr>
              <a:t>U</a:t>
            </a:r>
            <a:r>
              <a:rPr sz="1900" spc="-225" dirty="0">
                <a:solidFill>
                  <a:srgbClr val="00778A"/>
                </a:solidFill>
              </a:rPr>
              <a:t> </a:t>
            </a:r>
            <a:r>
              <a:rPr sz="1900" spc="-20" dirty="0">
                <a:solidFill>
                  <a:srgbClr val="00778A"/>
                </a:solidFill>
              </a:rPr>
              <a:t>R</a:t>
            </a:r>
            <a:r>
              <a:rPr sz="1900" spc="-229" dirty="0">
                <a:solidFill>
                  <a:srgbClr val="00778A"/>
                </a:solidFill>
              </a:rPr>
              <a:t> </a:t>
            </a:r>
            <a:r>
              <a:rPr sz="1900" spc="-50" dirty="0">
                <a:solidFill>
                  <a:srgbClr val="00778A"/>
                </a:solidFill>
              </a:rPr>
              <a:t>E</a:t>
            </a:r>
            <a:endParaRPr sz="190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05169" y="1047801"/>
            <a:ext cx="358076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20" dirty="0">
                <a:solidFill>
                  <a:srgbClr val="00778A"/>
                </a:solidFill>
                <a:latin typeface="Arial"/>
                <a:cs typeface="Arial"/>
              </a:rPr>
              <a:t>A</a:t>
            </a:r>
            <a:r>
              <a:rPr sz="1900" b="1" spc="-229" dirty="0">
                <a:solidFill>
                  <a:srgbClr val="00778A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00778A"/>
                </a:solidFill>
                <a:latin typeface="Arial"/>
                <a:cs typeface="Arial"/>
              </a:rPr>
              <a:t>S</a:t>
            </a:r>
            <a:r>
              <a:rPr sz="1900" b="1" spc="-229" dirty="0">
                <a:solidFill>
                  <a:srgbClr val="00778A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00778A"/>
                </a:solidFill>
                <a:latin typeface="Arial"/>
                <a:cs typeface="Arial"/>
              </a:rPr>
              <a:t>S</a:t>
            </a:r>
            <a:r>
              <a:rPr sz="1900" b="1" spc="-225" dirty="0">
                <a:solidFill>
                  <a:srgbClr val="00778A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00778A"/>
                </a:solidFill>
                <a:latin typeface="Arial"/>
                <a:cs typeface="Arial"/>
              </a:rPr>
              <a:t>E</a:t>
            </a:r>
            <a:r>
              <a:rPr sz="1900" b="1" spc="-229" dirty="0">
                <a:solidFill>
                  <a:srgbClr val="00778A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00778A"/>
                </a:solidFill>
                <a:latin typeface="Arial"/>
                <a:cs typeface="Arial"/>
              </a:rPr>
              <a:t>S</a:t>
            </a:r>
            <a:r>
              <a:rPr sz="1900" b="1" spc="-229" dirty="0">
                <a:solidFill>
                  <a:srgbClr val="00778A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00778A"/>
                </a:solidFill>
                <a:latin typeface="Arial"/>
                <a:cs typeface="Arial"/>
              </a:rPr>
              <a:t>S</a:t>
            </a:r>
            <a:r>
              <a:rPr sz="1900" b="1" spc="-225" dirty="0">
                <a:solidFill>
                  <a:srgbClr val="00778A"/>
                </a:solidFill>
                <a:latin typeface="Arial"/>
                <a:cs typeface="Arial"/>
              </a:rPr>
              <a:t> </a:t>
            </a:r>
            <a:r>
              <a:rPr sz="1900" b="1" spc="-25" dirty="0">
                <a:solidFill>
                  <a:srgbClr val="00778A"/>
                </a:solidFill>
                <a:latin typeface="Arial"/>
                <a:cs typeface="Arial"/>
              </a:rPr>
              <a:t>M</a:t>
            </a:r>
            <a:r>
              <a:rPr sz="1900" b="1" spc="-229" dirty="0">
                <a:solidFill>
                  <a:srgbClr val="00778A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00778A"/>
                </a:solidFill>
                <a:latin typeface="Arial"/>
                <a:cs typeface="Arial"/>
              </a:rPr>
              <a:t>E</a:t>
            </a:r>
            <a:r>
              <a:rPr sz="1900" b="1" spc="-225" dirty="0">
                <a:solidFill>
                  <a:srgbClr val="00778A"/>
                </a:solidFill>
                <a:latin typeface="Arial"/>
                <a:cs typeface="Arial"/>
              </a:rPr>
              <a:t> </a:t>
            </a:r>
            <a:r>
              <a:rPr sz="1900" b="1" spc="-20" dirty="0">
                <a:solidFill>
                  <a:srgbClr val="00778A"/>
                </a:solidFill>
                <a:latin typeface="Arial"/>
                <a:cs typeface="Arial"/>
              </a:rPr>
              <a:t>N</a:t>
            </a:r>
            <a:r>
              <a:rPr sz="1900" b="1" spc="-229" dirty="0">
                <a:solidFill>
                  <a:srgbClr val="00778A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00778A"/>
                </a:solidFill>
                <a:latin typeface="Arial"/>
                <a:cs typeface="Arial"/>
              </a:rPr>
              <a:t>T</a:t>
            </a:r>
            <a:r>
              <a:rPr sz="1900" b="1" spc="35" dirty="0">
                <a:solidFill>
                  <a:srgbClr val="00778A"/>
                </a:solidFill>
                <a:latin typeface="Arial"/>
                <a:cs typeface="Arial"/>
              </a:rPr>
              <a:t>  </a:t>
            </a:r>
            <a:r>
              <a:rPr sz="1900" b="1" spc="-20" dirty="0">
                <a:solidFill>
                  <a:srgbClr val="00778A"/>
                </a:solidFill>
                <a:latin typeface="Arial"/>
                <a:cs typeface="Arial"/>
              </a:rPr>
              <a:t>C</a:t>
            </a:r>
            <a:r>
              <a:rPr sz="1900" b="1" spc="-220" dirty="0">
                <a:solidFill>
                  <a:srgbClr val="00778A"/>
                </a:solidFill>
                <a:latin typeface="Arial"/>
                <a:cs typeface="Arial"/>
              </a:rPr>
              <a:t> </a:t>
            </a:r>
            <a:r>
              <a:rPr sz="1900" b="1" spc="-20" dirty="0">
                <a:solidFill>
                  <a:srgbClr val="00778A"/>
                </a:solidFill>
                <a:latin typeface="Arial"/>
                <a:cs typeface="Arial"/>
              </a:rPr>
              <a:t>R</a:t>
            </a:r>
            <a:r>
              <a:rPr sz="1900" b="1" spc="-229" dirty="0">
                <a:solidFill>
                  <a:srgbClr val="00778A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00778A"/>
                </a:solidFill>
                <a:latin typeface="Arial"/>
                <a:cs typeface="Arial"/>
              </a:rPr>
              <a:t>I</a:t>
            </a:r>
            <a:r>
              <a:rPr sz="1900" b="1" spc="-229" dirty="0">
                <a:solidFill>
                  <a:srgbClr val="00778A"/>
                </a:solidFill>
                <a:latin typeface="Arial"/>
                <a:cs typeface="Arial"/>
              </a:rPr>
              <a:t> </a:t>
            </a:r>
            <a:r>
              <a:rPr sz="1900" b="1" spc="-20" dirty="0">
                <a:solidFill>
                  <a:srgbClr val="00778A"/>
                </a:solidFill>
                <a:latin typeface="Arial"/>
                <a:cs typeface="Arial"/>
              </a:rPr>
              <a:t>T</a:t>
            </a:r>
            <a:r>
              <a:rPr sz="1900" b="1" spc="-225" dirty="0">
                <a:solidFill>
                  <a:srgbClr val="00778A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00778A"/>
                </a:solidFill>
                <a:latin typeface="Arial"/>
                <a:cs typeface="Arial"/>
              </a:rPr>
              <a:t>E</a:t>
            </a:r>
            <a:r>
              <a:rPr sz="1900" b="1" spc="-229" dirty="0">
                <a:solidFill>
                  <a:srgbClr val="00778A"/>
                </a:solidFill>
                <a:latin typeface="Arial"/>
                <a:cs typeface="Arial"/>
              </a:rPr>
              <a:t> </a:t>
            </a:r>
            <a:r>
              <a:rPr sz="1900" b="1" spc="-20" dirty="0">
                <a:solidFill>
                  <a:srgbClr val="00778A"/>
                </a:solidFill>
                <a:latin typeface="Arial"/>
                <a:cs typeface="Arial"/>
              </a:rPr>
              <a:t>R</a:t>
            </a:r>
            <a:r>
              <a:rPr sz="1900" b="1" spc="-225" dirty="0">
                <a:solidFill>
                  <a:srgbClr val="00778A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00778A"/>
                </a:solidFill>
                <a:latin typeface="Arial"/>
                <a:cs typeface="Arial"/>
              </a:rPr>
              <a:t>I</a:t>
            </a:r>
            <a:r>
              <a:rPr sz="1900" b="1" spc="-229" dirty="0">
                <a:solidFill>
                  <a:srgbClr val="00778A"/>
                </a:solidFill>
                <a:latin typeface="Arial"/>
                <a:cs typeface="Arial"/>
              </a:rPr>
              <a:t> </a:t>
            </a:r>
            <a:r>
              <a:rPr sz="1900" b="1" spc="-50" dirty="0">
                <a:solidFill>
                  <a:srgbClr val="00778A"/>
                </a:solidFill>
                <a:latin typeface="Arial"/>
                <a:cs typeface="Arial"/>
              </a:rPr>
              <a:t>A</a:t>
            </a:r>
            <a:endParaRPr sz="19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8712" y="0"/>
            <a:ext cx="3324859" cy="2423363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811340" y="506135"/>
            <a:ext cx="885444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Recommended</a:t>
            </a:r>
            <a:r>
              <a:rPr spc="-65" dirty="0"/>
              <a:t> </a:t>
            </a:r>
            <a:r>
              <a:rPr dirty="0"/>
              <a:t>Solution</a:t>
            </a:r>
            <a:r>
              <a:rPr spc="-65" dirty="0"/>
              <a:t> </a:t>
            </a:r>
            <a:r>
              <a:rPr dirty="0"/>
              <a:t>&amp;</a:t>
            </a:r>
            <a:r>
              <a:rPr spc="-65" dirty="0"/>
              <a:t> </a:t>
            </a:r>
            <a:r>
              <a:rPr spc="-10" dirty="0"/>
              <a:t>Approach</a:t>
            </a: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04774" y="1737398"/>
          <a:ext cx="11309985" cy="39427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68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2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84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687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Dimension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  <a:solidFill>
                      <a:srgbClr val="00778A"/>
                    </a:solidFill>
                  </a:tcPr>
                </a:tc>
                <a:tc>
                  <a:txBody>
                    <a:bodyPr/>
                    <a:lstStyle/>
                    <a:p>
                      <a:pPr marL="800735" marR="508634" indent="-28575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&lt;1</a:t>
                      </a:r>
                      <a:r>
                        <a:rPr sz="1950" b="1" baseline="29914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</a:t>
                      </a:r>
                      <a:r>
                        <a:rPr sz="1950" b="1" spc="247" baseline="29914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Service Name&gt;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57150">
                      <a:solidFill>
                        <a:srgbClr val="FF0000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  <a:solidFill>
                      <a:srgbClr val="00778A"/>
                    </a:solidFill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&lt;2</a:t>
                      </a:r>
                      <a:r>
                        <a:rPr sz="1950" b="1" baseline="29914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nd</a:t>
                      </a:r>
                      <a:r>
                        <a:rPr sz="1950" b="1" spc="217" baseline="29914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Service</a:t>
                      </a:r>
                      <a:r>
                        <a:rPr sz="2000" b="1" spc="-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Name&gt;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57150">
                      <a:solidFill>
                        <a:srgbClr val="FF0000"/>
                      </a:solidFill>
                      <a:prstDash val="solid"/>
                    </a:lnL>
                    <a:lnR w="57150">
                      <a:solidFill>
                        <a:srgbClr val="FF0000"/>
                      </a:solidFill>
                      <a:prstDash val="solid"/>
                    </a:lnR>
                    <a:lnB w="12700">
                      <a:solidFill>
                        <a:srgbClr val="4D4D4F"/>
                      </a:solidFill>
                      <a:prstDash val="solid"/>
                    </a:lnB>
                    <a:solidFill>
                      <a:srgbClr val="00778A"/>
                    </a:solidFill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&lt;3</a:t>
                      </a:r>
                      <a:r>
                        <a:rPr sz="1950" b="1" baseline="29914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rd</a:t>
                      </a:r>
                      <a:r>
                        <a:rPr sz="1950" b="1" spc="225" baseline="29914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Service</a:t>
                      </a:r>
                      <a:r>
                        <a:rPr sz="20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Name&gt;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57150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  <a:solidFill>
                      <a:srgbClr val="0077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9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b="1" dirty="0">
                          <a:solidFill>
                            <a:srgbClr val="361E07"/>
                          </a:solidFill>
                          <a:latin typeface="Arial"/>
                          <a:cs typeface="Arial"/>
                        </a:rPr>
                        <a:t>Strategic</a:t>
                      </a:r>
                      <a:r>
                        <a:rPr sz="2000" b="1" spc="-45" dirty="0">
                          <a:solidFill>
                            <a:srgbClr val="361E0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361E07"/>
                          </a:solidFill>
                          <a:latin typeface="Arial"/>
                          <a:cs typeface="Arial"/>
                        </a:rPr>
                        <a:t>Alignment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solidFill>
                            <a:srgbClr val="361E07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57150">
                      <a:solidFill>
                        <a:srgbClr val="FF0000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solidFill>
                            <a:srgbClr val="361E07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57150">
                      <a:solidFill>
                        <a:srgbClr val="FF0000"/>
                      </a:solidFill>
                      <a:prstDash val="solid"/>
                    </a:lnL>
                    <a:lnR w="57150">
                      <a:solidFill>
                        <a:srgbClr val="FF0000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solidFill>
                            <a:srgbClr val="361E07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57150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b="1" dirty="0">
                          <a:solidFill>
                            <a:srgbClr val="361E07"/>
                          </a:solidFill>
                          <a:latin typeface="Arial"/>
                          <a:cs typeface="Arial"/>
                        </a:rPr>
                        <a:t>Functional</a:t>
                      </a:r>
                      <a:r>
                        <a:rPr sz="2000" b="1" spc="-80" dirty="0">
                          <a:solidFill>
                            <a:srgbClr val="361E0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25" dirty="0">
                          <a:solidFill>
                            <a:srgbClr val="361E07"/>
                          </a:solidFill>
                          <a:latin typeface="Arial"/>
                          <a:cs typeface="Arial"/>
                        </a:rPr>
                        <a:t>Fit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solidFill>
                            <a:srgbClr val="361E07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57150">
                      <a:solidFill>
                        <a:srgbClr val="FF0000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solidFill>
                            <a:srgbClr val="361E07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57150">
                      <a:solidFill>
                        <a:srgbClr val="FF0000"/>
                      </a:solidFill>
                      <a:prstDash val="solid"/>
                    </a:lnL>
                    <a:lnR w="57150">
                      <a:solidFill>
                        <a:srgbClr val="FF0000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solidFill>
                            <a:srgbClr val="361E07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57150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27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b="1" dirty="0">
                          <a:solidFill>
                            <a:srgbClr val="361E07"/>
                          </a:solidFill>
                          <a:latin typeface="Arial"/>
                          <a:cs typeface="Arial"/>
                        </a:rPr>
                        <a:t>Technology</a:t>
                      </a:r>
                      <a:r>
                        <a:rPr sz="2000" b="1" spc="-114" dirty="0">
                          <a:solidFill>
                            <a:srgbClr val="361E0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361E07"/>
                          </a:solidFill>
                          <a:latin typeface="Arial"/>
                          <a:cs typeface="Arial"/>
                        </a:rPr>
                        <a:t>Alignment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solidFill>
                            <a:srgbClr val="361E07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57150">
                      <a:solidFill>
                        <a:srgbClr val="FF0000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solidFill>
                            <a:srgbClr val="361E07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57150">
                      <a:solidFill>
                        <a:srgbClr val="FF0000"/>
                      </a:solidFill>
                      <a:prstDash val="solid"/>
                    </a:lnL>
                    <a:lnR w="57150">
                      <a:solidFill>
                        <a:srgbClr val="FF0000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solidFill>
                            <a:srgbClr val="361E07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57150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3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b="1" dirty="0">
                          <a:solidFill>
                            <a:srgbClr val="361E07"/>
                          </a:solidFill>
                          <a:latin typeface="Arial"/>
                          <a:cs typeface="Arial"/>
                        </a:rPr>
                        <a:t>Total</a:t>
                      </a:r>
                      <a:r>
                        <a:rPr sz="2000" b="1" spc="-30" dirty="0">
                          <a:solidFill>
                            <a:srgbClr val="361E0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361E07"/>
                          </a:solidFill>
                          <a:latin typeface="Arial"/>
                          <a:cs typeface="Arial"/>
                        </a:rPr>
                        <a:t>Cost</a:t>
                      </a:r>
                      <a:r>
                        <a:rPr sz="2000" b="1" spc="-25" dirty="0">
                          <a:solidFill>
                            <a:srgbClr val="361E0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361E07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2000" b="1" spc="-25" dirty="0">
                          <a:solidFill>
                            <a:srgbClr val="361E0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361E07"/>
                          </a:solidFill>
                          <a:latin typeface="Arial"/>
                          <a:cs typeface="Arial"/>
                        </a:rPr>
                        <a:t>Ownership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solidFill>
                            <a:srgbClr val="361E07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57150">
                      <a:solidFill>
                        <a:srgbClr val="FF0000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solidFill>
                            <a:srgbClr val="361E07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57150">
                      <a:solidFill>
                        <a:srgbClr val="FF0000"/>
                      </a:solidFill>
                      <a:prstDash val="solid"/>
                    </a:lnL>
                    <a:lnR w="57150">
                      <a:solidFill>
                        <a:srgbClr val="FF0000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solidFill>
                            <a:srgbClr val="361E0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57150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Total</a:t>
                      </a:r>
                      <a:r>
                        <a:rPr sz="20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Score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  <a:solidFill>
                      <a:srgbClr val="007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57150">
                      <a:solidFill>
                        <a:srgbClr val="FF0000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  <a:solidFill>
                      <a:srgbClr val="007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57150">
                      <a:solidFill>
                        <a:srgbClr val="FF0000"/>
                      </a:solidFill>
                      <a:prstDash val="solid"/>
                    </a:lnL>
                    <a:lnR w="57150">
                      <a:solidFill>
                        <a:srgbClr val="FF0000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FF0000"/>
                      </a:solidFill>
                      <a:prstDash val="solid"/>
                    </a:lnB>
                    <a:solidFill>
                      <a:srgbClr val="0077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57150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  <a:solidFill>
                      <a:srgbClr val="0077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6018021" y="1204810"/>
            <a:ext cx="2816225" cy="598805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66040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520"/>
              </a:spcBef>
            </a:pP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Recommended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47577" y="6316636"/>
            <a:ext cx="633620" cy="30478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017588" y="6510797"/>
            <a:ext cx="96520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50" dirty="0">
                <a:solidFill>
                  <a:srgbClr val="B7B7B8"/>
                </a:solidFill>
                <a:latin typeface="Arial"/>
                <a:cs typeface="Arial"/>
              </a:rPr>
              <a:t>7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90"/>
              </a:spcBef>
            </a:pPr>
            <a:r>
              <a:rPr spc="-10" dirty="0"/>
              <a:t>Outcome</a:t>
            </a: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900" spc="-20" dirty="0">
                <a:solidFill>
                  <a:srgbClr val="00778A"/>
                </a:solidFill>
              </a:rPr>
              <a:t>T</a:t>
            </a:r>
            <a:r>
              <a:rPr sz="1900" spc="-229" dirty="0">
                <a:solidFill>
                  <a:srgbClr val="00778A"/>
                </a:solidFill>
              </a:rPr>
              <a:t> </a:t>
            </a:r>
            <a:r>
              <a:rPr sz="1900" spc="-20" dirty="0">
                <a:solidFill>
                  <a:srgbClr val="00778A"/>
                </a:solidFill>
              </a:rPr>
              <a:t>A</a:t>
            </a:r>
            <a:r>
              <a:rPr sz="1900" spc="-225" dirty="0">
                <a:solidFill>
                  <a:srgbClr val="00778A"/>
                </a:solidFill>
              </a:rPr>
              <a:t> </a:t>
            </a:r>
            <a:r>
              <a:rPr sz="1900" dirty="0">
                <a:solidFill>
                  <a:srgbClr val="00778A"/>
                </a:solidFill>
              </a:rPr>
              <a:t>G</a:t>
            </a:r>
            <a:r>
              <a:rPr sz="1900" spc="40" dirty="0">
                <a:solidFill>
                  <a:srgbClr val="00778A"/>
                </a:solidFill>
              </a:rPr>
              <a:t>  </a:t>
            </a:r>
            <a:r>
              <a:rPr sz="1900" spc="-20" dirty="0">
                <a:solidFill>
                  <a:srgbClr val="00778A"/>
                </a:solidFill>
              </a:rPr>
              <a:t>A</a:t>
            </a:r>
            <a:r>
              <a:rPr sz="1900" spc="-225" dirty="0">
                <a:solidFill>
                  <a:srgbClr val="00778A"/>
                </a:solidFill>
              </a:rPr>
              <a:t> </a:t>
            </a:r>
            <a:r>
              <a:rPr sz="1900" dirty="0">
                <a:solidFill>
                  <a:srgbClr val="00778A"/>
                </a:solidFill>
              </a:rPr>
              <a:t>P</a:t>
            </a:r>
            <a:r>
              <a:rPr sz="1900" spc="-229" dirty="0">
                <a:solidFill>
                  <a:srgbClr val="00778A"/>
                </a:solidFill>
              </a:rPr>
              <a:t> </a:t>
            </a:r>
            <a:r>
              <a:rPr sz="1900" dirty="0">
                <a:solidFill>
                  <a:srgbClr val="00778A"/>
                </a:solidFill>
              </a:rPr>
              <a:t>P</a:t>
            </a:r>
            <a:r>
              <a:rPr sz="1900" spc="-225" dirty="0">
                <a:solidFill>
                  <a:srgbClr val="00778A"/>
                </a:solidFill>
              </a:rPr>
              <a:t> </a:t>
            </a:r>
            <a:r>
              <a:rPr sz="1900" spc="-20" dirty="0">
                <a:solidFill>
                  <a:srgbClr val="00778A"/>
                </a:solidFill>
              </a:rPr>
              <a:t>R</a:t>
            </a:r>
            <a:r>
              <a:rPr sz="1900" spc="-229" dirty="0">
                <a:solidFill>
                  <a:srgbClr val="00778A"/>
                </a:solidFill>
              </a:rPr>
              <a:t> </a:t>
            </a:r>
            <a:r>
              <a:rPr sz="1900" dirty="0">
                <a:solidFill>
                  <a:srgbClr val="00778A"/>
                </a:solidFill>
              </a:rPr>
              <a:t>O</a:t>
            </a:r>
            <a:r>
              <a:rPr sz="1900" spc="-225" dirty="0">
                <a:solidFill>
                  <a:srgbClr val="00778A"/>
                </a:solidFill>
              </a:rPr>
              <a:t> </a:t>
            </a:r>
            <a:r>
              <a:rPr sz="1900" dirty="0">
                <a:solidFill>
                  <a:srgbClr val="00778A"/>
                </a:solidFill>
              </a:rPr>
              <a:t>V</a:t>
            </a:r>
            <a:r>
              <a:rPr sz="1900" spc="-225" dirty="0">
                <a:solidFill>
                  <a:srgbClr val="00778A"/>
                </a:solidFill>
              </a:rPr>
              <a:t> </a:t>
            </a:r>
            <a:r>
              <a:rPr sz="1900" spc="-20" dirty="0">
                <a:solidFill>
                  <a:srgbClr val="00778A"/>
                </a:solidFill>
              </a:rPr>
              <a:t>A</a:t>
            </a:r>
            <a:r>
              <a:rPr sz="1900" spc="-229" dirty="0">
                <a:solidFill>
                  <a:srgbClr val="00778A"/>
                </a:solidFill>
              </a:rPr>
              <a:t> </a:t>
            </a:r>
            <a:r>
              <a:rPr sz="1900" spc="-20" dirty="0">
                <a:solidFill>
                  <a:srgbClr val="00778A"/>
                </a:solidFill>
              </a:rPr>
              <a:t>L</a:t>
            </a:r>
            <a:r>
              <a:rPr sz="1900" spc="-225" dirty="0">
                <a:solidFill>
                  <a:srgbClr val="00778A"/>
                </a:solidFill>
              </a:rPr>
              <a:t> </a:t>
            </a:r>
            <a:r>
              <a:rPr sz="1900" spc="-50" dirty="0">
                <a:solidFill>
                  <a:srgbClr val="00778A"/>
                </a:solidFill>
              </a:rPr>
              <a:t>S</a:t>
            </a:r>
            <a:endParaRPr sz="19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8712" y="0"/>
            <a:ext cx="3324859" cy="2423363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20078" y="1577022"/>
          <a:ext cx="10800079" cy="46227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83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53340">
                        <a:lnSpc>
                          <a:spcPts val="2360"/>
                        </a:lnSpc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Presented</a:t>
                      </a:r>
                      <a:r>
                        <a:rPr sz="2000" b="1" spc="-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by: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  <a:solidFill>
                      <a:srgbClr val="00778A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2360"/>
                        </a:lnSpc>
                      </a:pPr>
                      <a:r>
                        <a:rPr sz="200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&lt;Name,</a:t>
                      </a:r>
                      <a:r>
                        <a:rPr sz="2000" spc="-5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Business</a:t>
                      </a:r>
                      <a:r>
                        <a:rPr sz="2000" spc="-5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Unit&gt;/</a:t>
                      </a:r>
                      <a:r>
                        <a:rPr sz="2000" spc="-5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&lt;Name,</a:t>
                      </a:r>
                      <a:r>
                        <a:rPr sz="2000" spc="-5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Business</a:t>
                      </a:r>
                      <a:r>
                        <a:rPr sz="2000" spc="-5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1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Unit&gt;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53340">
                        <a:lnSpc>
                          <a:spcPts val="2360"/>
                        </a:lnSpc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Date: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  <a:solidFill>
                      <a:srgbClr val="00778A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2360"/>
                        </a:lnSpc>
                      </a:pPr>
                      <a:r>
                        <a:rPr sz="200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Jan</a:t>
                      </a:r>
                      <a:r>
                        <a:rPr sz="2000" spc="-3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23,</a:t>
                      </a:r>
                      <a:r>
                        <a:rPr sz="2000" spc="-25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2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2025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53340">
                        <a:lnSpc>
                          <a:spcPts val="2360"/>
                        </a:lnSpc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Outcome: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  <a:solidFill>
                      <a:srgbClr val="00778A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2360"/>
                        </a:lnSpc>
                      </a:pPr>
                      <a:r>
                        <a:rPr sz="2000" b="1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Approved</a:t>
                      </a:r>
                      <a:r>
                        <a:rPr sz="2000" b="1" spc="-4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2000" b="1" spc="-3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Rejected</a:t>
                      </a:r>
                      <a:r>
                        <a:rPr sz="2000" b="1" spc="-25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2000" b="1" spc="-3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Follow</a:t>
                      </a:r>
                      <a:r>
                        <a:rPr sz="2000" b="1" spc="-3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Up</a:t>
                      </a:r>
                      <a:r>
                        <a:rPr sz="2000" b="1" spc="-25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Required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6889">
                <a:tc>
                  <a:txBody>
                    <a:bodyPr/>
                    <a:lstStyle/>
                    <a:p>
                      <a:pPr marL="53340">
                        <a:lnSpc>
                          <a:spcPts val="2360"/>
                        </a:lnSpc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Comments: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  <a:solidFill>
                      <a:srgbClr val="00778A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2360"/>
                        </a:lnSpc>
                      </a:pPr>
                      <a:r>
                        <a:rPr sz="2000" b="1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PIA</a:t>
                      </a:r>
                      <a:r>
                        <a:rPr sz="2000" b="1" spc="-35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Required</a:t>
                      </a:r>
                      <a:r>
                        <a:rPr sz="2000" b="1" spc="-4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–</a:t>
                      </a:r>
                      <a:r>
                        <a:rPr sz="2000" spc="-3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Yes</a:t>
                      </a:r>
                      <a:r>
                        <a:rPr sz="2000" b="1" spc="-35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or</a:t>
                      </a:r>
                      <a:r>
                        <a:rPr sz="2000" spc="-35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25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2000" b="1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STRA</a:t>
                      </a:r>
                      <a:r>
                        <a:rPr sz="2000" b="1" spc="-45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Required</a:t>
                      </a:r>
                      <a:r>
                        <a:rPr sz="2000" b="1" spc="-45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–</a:t>
                      </a:r>
                      <a:r>
                        <a:rPr sz="2000" spc="-4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Yes</a:t>
                      </a:r>
                      <a:r>
                        <a:rPr sz="2000" b="1" spc="-4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or</a:t>
                      </a:r>
                      <a:r>
                        <a:rPr sz="2000" spc="-4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25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2000" b="1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AI</a:t>
                      </a:r>
                      <a:r>
                        <a:rPr sz="2000" b="1" spc="-35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Assessment</a:t>
                      </a:r>
                      <a:r>
                        <a:rPr sz="2000" b="1" spc="-35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Required</a:t>
                      </a:r>
                      <a:r>
                        <a:rPr sz="2000" b="1" spc="-2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–</a:t>
                      </a:r>
                      <a:r>
                        <a:rPr sz="2000" spc="-35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Yes</a:t>
                      </a:r>
                      <a:r>
                        <a:rPr sz="2000" b="1" spc="-35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or</a:t>
                      </a:r>
                      <a:r>
                        <a:rPr sz="2000" spc="-3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25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53340">
                        <a:lnSpc>
                          <a:spcPts val="2360"/>
                        </a:lnSpc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AIMS</a:t>
                      </a:r>
                      <a:r>
                        <a:rPr sz="20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Representative</a:t>
                      </a:r>
                      <a:r>
                        <a:rPr sz="200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(Chair)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  <a:solidFill>
                      <a:srgbClr val="00778A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2360"/>
                        </a:lnSpc>
                      </a:pPr>
                      <a:r>
                        <a:rPr sz="200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Ramesh</a:t>
                      </a:r>
                      <a:r>
                        <a:rPr sz="2000" spc="-8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Dondapati/</a:t>
                      </a:r>
                      <a:r>
                        <a:rPr sz="2000" spc="-75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Mark</a:t>
                      </a:r>
                      <a:r>
                        <a:rPr sz="2000" spc="-75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1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O’Regan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53340">
                        <a:lnSpc>
                          <a:spcPts val="2360"/>
                        </a:lnSpc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ITE</a:t>
                      </a:r>
                      <a:r>
                        <a:rPr sz="20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Representative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  <a:solidFill>
                      <a:srgbClr val="00778A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2360"/>
                        </a:lnSpc>
                      </a:pPr>
                      <a:r>
                        <a:rPr sz="200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Cristina</a:t>
                      </a:r>
                      <a:r>
                        <a:rPr sz="2000" spc="-10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1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Stepanov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53340">
                        <a:lnSpc>
                          <a:spcPts val="2360"/>
                        </a:lnSpc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ITSO</a:t>
                      </a:r>
                      <a:r>
                        <a:rPr sz="20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Representative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  <a:solidFill>
                      <a:srgbClr val="00778A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2360"/>
                        </a:lnSpc>
                      </a:pPr>
                      <a:r>
                        <a:rPr sz="200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Calin</a:t>
                      </a:r>
                      <a:r>
                        <a:rPr sz="2000" spc="-7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1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Somosan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53340">
                        <a:lnSpc>
                          <a:spcPts val="2360"/>
                        </a:lnSpc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ITBS</a:t>
                      </a:r>
                      <a:r>
                        <a:rPr sz="2000" b="1" spc="-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Representative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  <a:solidFill>
                      <a:srgbClr val="00778A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2360"/>
                        </a:lnSpc>
                      </a:pPr>
                      <a:r>
                        <a:rPr sz="200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Cheryl</a:t>
                      </a:r>
                      <a:r>
                        <a:rPr sz="2000" spc="-85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1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Stewart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53340">
                        <a:lnSpc>
                          <a:spcPts val="2360"/>
                        </a:lnSpc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PPMO</a:t>
                      </a:r>
                      <a:r>
                        <a:rPr sz="20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Representative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  <a:solidFill>
                      <a:srgbClr val="00778A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2360"/>
                        </a:lnSpc>
                      </a:pPr>
                      <a:r>
                        <a:rPr sz="200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Rajkumar</a:t>
                      </a:r>
                      <a:r>
                        <a:rPr sz="2000" spc="-9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1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Easwaran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47577" y="6316636"/>
            <a:ext cx="633620" cy="30478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017588" y="6606505"/>
            <a:ext cx="96520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50" dirty="0">
                <a:solidFill>
                  <a:srgbClr val="B7B7B8"/>
                </a:solidFill>
                <a:latin typeface="Arial"/>
                <a:cs typeface="Arial"/>
              </a:rPr>
              <a:t>8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30093" y="1804073"/>
            <a:ext cx="23558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10" dirty="0">
                <a:solidFill>
                  <a:srgbClr val="FFFFFF"/>
                </a:solidFill>
                <a:latin typeface="Arial"/>
                <a:cs typeface="Arial"/>
              </a:rPr>
              <a:t>Appendix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0094" y="6051245"/>
            <a:ext cx="30079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FFFFFF"/>
                </a:solidFill>
                <a:latin typeface="Arial"/>
                <a:cs typeface="Arial"/>
              </a:rPr>
              <a:t>bcpensioncorp.ca</a:t>
            </a:r>
            <a:endParaRPr sz="3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32540" y="659249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4D4D4F"/>
                </a:solidFill>
                <a:latin typeface="Arial"/>
                <a:cs typeface="Arial"/>
              </a:rPr>
              <a:t>9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701</Words>
  <Application>Microsoft Office PowerPoint</Application>
  <PresentationFormat>Widescreen</PresentationFormat>
  <Paragraphs>117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Segoe UI Symbol</vt:lpstr>
      <vt:lpstr>Times New Roman</vt:lpstr>
      <vt:lpstr>Office Theme</vt:lpstr>
      <vt:lpstr>01</vt:lpstr>
      <vt:lpstr>Business Problem</vt:lpstr>
      <vt:lpstr>Business Goals</vt:lpstr>
      <vt:lpstr>Options &amp; Analysis S O L U T I O N S  T O  A D D R E S S  B U S I N E S S  P R O B L E M</vt:lpstr>
      <vt:lpstr>High Level Architecture Diagram L O G I C A L  A R C H I T E C T U R E</vt:lpstr>
      <vt:lpstr>Recommended Solution &amp; Approach</vt:lpstr>
      <vt:lpstr>Outcome T A G  A P P R O V A L S</vt:lpstr>
      <vt:lpstr>Appendix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Xu, Shuo (BC Pension)</cp:lastModifiedBy>
  <cp:revision>1</cp:revision>
  <dcterms:created xsi:type="dcterms:W3CDTF">2026-08-04T17:17:21Z</dcterms:created>
  <dcterms:modified xsi:type="dcterms:W3CDTF">2026-08-04T17:18:03Z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2026-08-04T00:00:00Z</vt:filetime>
  </property>
  <property fmtid="{D5CDD505-2E9C-101B-9397-08002B2CF9AE}" pid="4" name="LastSaved">
    <vt:filetime>2026-08-04T00:00:00Z</vt:filetime>
  </property>
  <property fmtid="{D5CDD505-2E9C-101B-9397-08002B2CF9AE}" pid="5" name="Producer">
    <vt:lpwstr>3-Heights(TM) PDF Security Shell 4.8.25.2 (http://www.pdf-tools.com)</vt:lpwstr>
  </property>
</Properties>
</file>